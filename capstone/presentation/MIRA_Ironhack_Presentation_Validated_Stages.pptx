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3be41d9b0b4f41" /><Relationship Type="http://schemas.openxmlformats.org/officeDocument/2006/relationships/extended-properties" Target="/docProps/app.xml" Id="R7e374f03eb7a4a36" /><Relationship Type="http://schemas.openxmlformats.org/officeDocument/2006/relationships/officeDocument" Target="/ppt/presentation.xml" Id="R4cfa482e6e37492e" /></Relationships>
</file>

<file path=ppt/presentation.xml><?xml version="1.0" encoding="utf-8"?>
<p:presentation xmlns:p="http://schemas.openxmlformats.org/presentationml/2006/main">
  <p:sldMasterIdLst>
    <p:sldMasterId xmlns:r="http://schemas.openxmlformats.org/officeDocument/2006/relationships" id="2147483648" r:id="Rfc9f4031c4824575"/>
  </p:sldMasterIdLst>
  <p:notesMasterIdLst>
    <p:notesMasterId xmlns:r="http://schemas.openxmlformats.org/officeDocument/2006/relationships" r:id="Re501a7aa68074f58"/>
  </p:notesMasterIdLst>
  <p:sldIdLst>
    <p:sldId xmlns:r="http://schemas.openxmlformats.org/officeDocument/2006/relationships" id="256" r:id="Reaecd2cfb23443e4"/>
    <p:sldId xmlns:r="http://schemas.openxmlformats.org/officeDocument/2006/relationships" id="257" r:id="R6ee7a5f6d21e438b"/>
    <p:sldId xmlns:r="http://schemas.openxmlformats.org/officeDocument/2006/relationships" id="258" r:id="R4b617a0f80f44bb1"/>
    <p:sldId xmlns:r="http://schemas.openxmlformats.org/officeDocument/2006/relationships" id="259" r:id="Rb3124b587732449b"/>
    <p:sldId xmlns:r="http://schemas.openxmlformats.org/officeDocument/2006/relationships" id="260" r:id="R233daa5994e24156"/>
    <p:sldId xmlns:r="http://schemas.openxmlformats.org/officeDocument/2006/relationships" id="261" r:id="R745b15a6f03f43b9"/>
    <p:sldId xmlns:r="http://schemas.openxmlformats.org/officeDocument/2006/relationships" id="262" r:id="R872eb9793fb54c57"/>
    <p:sldId xmlns:r="http://schemas.openxmlformats.org/officeDocument/2006/relationships" id="263" r:id="Rb632887100984e34"/>
    <p:sldId xmlns:r="http://schemas.openxmlformats.org/officeDocument/2006/relationships" id="264" r:id="R38955be7f5ff459d"/>
    <p:sldId xmlns:r="http://schemas.openxmlformats.org/officeDocument/2006/relationships" id="265" r:id="Rd1a8d94707784d52"/>
    <p:sldId xmlns:r="http://schemas.openxmlformats.org/officeDocument/2006/relationships" id="266" r:id="Raef88bd7020b49a2"/>
    <p:sldId xmlns:r="http://schemas.openxmlformats.org/officeDocument/2006/relationships" id="267" r:id="R25b926554e104b09"/>
    <p:sldId xmlns:r="http://schemas.openxmlformats.org/officeDocument/2006/relationships" id="268" r:id="Rd2f383261e2c4062"/>
    <p:sldId xmlns:r="http://schemas.openxmlformats.org/officeDocument/2006/relationships" id="269" r:id="R82e71568998b4b4d"/>
    <p:sldId xmlns:r="http://schemas.openxmlformats.org/officeDocument/2006/relationships" id="270" r:id="Rd150305d11744833"/>
    <p:sldId xmlns:r="http://schemas.openxmlformats.org/officeDocument/2006/relationships" id="271" r:id="R4e5a1d2db5774645"/>
    <p:sldId xmlns:r="http://schemas.openxmlformats.org/officeDocument/2006/relationships" id="272" r:id="R60b9497103434361"/>
    <p:sldId xmlns:r="http://schemas.openxmlformats.org/officeDocument/2006/relationships" id="273" r:id="R1af8da3132f14094"/>
    <p:sldId xmlns:r="http://schemas.openxmlformats.org/officeDocument/2006/relationships" id="274" r:id="R84c3603eeaaa49b4"/>
    <p:sldId xmlns:r="http://schemas.openxmlformats.org/officeDocument/2006/relationships" id="275" r:id="Rd7bbeb6d18244a20"/>
    <p:sldId xmlns:r="http://schemas.openxmlformats.org/officeDocument/2006/relationships" id="276" r:id="R223a1a553e9c42d6"/>
    <p:sldId xmlns:r="http://schemas.openxmlformats.org/officeDocument/2006/relationships" id="277" r:id="Re8a096e1e1c24f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d7cb52e3764576" /><Relationship Type="http://schemas.openxmlformats.org/officeDocument/2006/relationships/slideMaster" Target="/ppt/slideMasters/slideMaster1.xml" Id="Rfc9f4031c4824575" /><Relationship Type="http://schemas.openxmlformats.org/officeDocument/2006/relationships/notesMaster" Target="/ppt/notesMasters/notesMaster1.xml" Id="Re501a7aa68074f58" /><Relationship Type="http://schemas.openxmlformats.org/officeDocument/2006/relationships/presProps" Target="/ppt/presProps.xml" Id="R661a0d31135c40c6" /><Relationship Type="http://schemas.openxmlformats.org/officeDocument/2006/relationships/tableStyles" Target="/ppt/tableStyles.xml" Id="Ra859af7bb2de41ab" /><Relationship Type="http://schemas.openxmlformats.org/officeDocument/2006/relationships/slide" Target="/ppt/slides/slide1.xml" Id="Reaecd2cfb23443e4" /><Relationship Type="http://schemas.openxmlformats.org/officeDocument/2006/relationships/slide" Target="/ppt/slides/slide2.xml" Id="R6ee7a5f6d21e438b" /><Relationship Type="http://schemas.openxmlformats.org/officeDocument/2006/relationships/slide" Target="/ppt/slides/slide3.xml" Id="R4b617a0f80f44bb1" /><Relationship Type="http://schemas.openxmlformats.org/officeDocument/2006/relationships/slide" Target="/ppt/slides/slide4.xml" Id="Rb3124b587732449b" /><Relationship Type="http://schemas.openxmlformats.org/officeDocument/2006/relationships/slide" Target="/ppt/slides/slide5.xml" Id="R233daa5994e24156" /><Relationship Type="http://schemas.openxmlformats.org/officeDocument/2006/relationships/slide" Target="/ppt/slides/slide6.xml" Id="R745b15a6f03f43b9" /><Relationship Type="http://schemas.openxmlformats.org/officeDocument/2006/relationships/slide" Target="/ppt/slides/slide7.xml" Id="R872eb9793fb54c57" /><Relationship Type="http://schemas.openxmlformats.org/officeDocument/2006/relationships/slide" Target="/ppt/slides/slide8.xml" Id="Rb632887100984e34" /><Relationship Type="http://schemas.openxmlformats.org/officeDocument/2006/relationships/slide" Target="/ppt/slides/slide9.xml" Id="R38955be7f5ff459d" /><Relationship Type="http://schemas.openxmlformats.org/officeDocument/2006/relationships/slide" Target="/ppt/slides/slide10.xml" Id="Rd1a8d94707784d52" /><Relationship Type="http://schemas.openxmlformats.org/officeDocument/2006/relationships/slide" Target="/ppt/slides/slide11.xml" Id="Raef88bd7020b49a2" /><Relationship Type="http://schemas.openxmlformats.org/officeDocument/2006/relationships/slide" Target="/ppt/slides/slide12.xml" Id="R25b926554e104b09" /><Relationship Type="http://schemas.openxmlformats.org/officeDocument/2006/relationships/slide" Target="/ppt/slides/slide13.xml" Id="Rd2f383261e2c4062" /><Relationship Type="http://schemas.openxmlformats.org/officeDocument/2006/relationships/slide" Target="/ppt/slides/slide14.xml" Id="R82e71568998b4b4d" /><Relationship Type="http://schemas.openxmlformats.org/officeDocument/2006/relationships/slide" Target="/ppt/slides/slide15.xml" Id="Rd150305d11744833" /><Relationship Type="http://schemas.openxmlformats.org/officeDocument/2006/relationships/slide" Target="/ppt/slides/slide16.xml" Id="R4e5a1d2db5774645" /><Relationship Type="http://schemas.openxmlformats.org/officeDocument/2006/relationships/slide" Target="/ppt/slides/slide17.xml" Id="R60b9497103434361" /><Relationship Type="http://schemas.openxmlformats.org/officeDocument/2006/relationships/slide" Target="/ppt/slides/slide18.xml" Id="R1af8da3132f14094" /><Relationship Type="http://schemas.openxmlformats.org/officeDocument/2006/relationships/slide" Target="/ppt/slides/slide19.xml" Id="R84c3603eeaaa49b4" /><Relationship Type="http://schemas.openxmlformats.org/officeDocument/2006/relationships/slide" Target="/ppt/slides/slide20.xml" Id="Rd7bbeb6d18244a20" /><Relationship Type="http://schemas.openxmlformats.org/officeDocument/2006/relationships/slide" Target="/ppt/slides/slide21.xml" Id="R223a1a553e9c42d6" /><Relationship Type="http://schemas.openxmlformats.org/officeDocument/2006/relationships/slide" Target="/ppt/slides/slide22.xml" Id="Re8a096e1e1c24f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5e199e8bd249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aa36ff6c384fdc" /><Relationship Type="http://schemas.openxmlformats.org/officeDocument/2006/relationships/notesMaster" Target="/ppt/notesMasters/notesMaster1.xml" Id="R19ff39b270a24d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725f1cb7874bf7" /><Relationship Type="http://schemas.openxmlformats.org/officeDocument/2006/relationships/notesMaster" Target="/ppt/notesMasters/notesMaster1.xml" Id="R13d56b44af8341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fd33c995cc434f" /><Relationship Type="http://schemas.openxmlformats.org/officeDocument/2006/relationships/notesMaster" Target="/ppt/notesMasters/notesMaster1.xml" Id="R70bb1e1a5e1b4c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38153738724e93" /><Relationship Type="http://schemas.openxmlformats.org/officeDocument/2006/relationships/notesMaster" Target="/ppt/notesMasters/notesMaster1.xml" Id="R39f521c2a5e848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06a3e5af644d69" /><Relationship Type="http://schemas.openxmlformats.org/officeDocument/2006/relationships/notesMaster" Target="/ppt/notesMasters/notesMaster1.xml" Id="Rfa33b21c6d9546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07787fead14371" /><Relationship Type="http://schemas.openxmlformats.org/officeDocument/2006/relationships/notesMaster" Target="/ppt/notesMasters/notesMaster1.xml" Id="R9da72923267747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1b20fc5e114e86" /><Relationship Type="http://schemas.openxmlformats.org/officeDocument/2006/relationships/notesMaster" Target="/ppt/notesMasters/notesMaster1.xml" Id="Rf128bef24f7141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77182cfb7943cc" /><Relationship Type="http://schemas.openxmlformats.org/officeDocument/2006/relationships/notesMaster" Target="/ppt/notesMasters/notesMaster1.xml" Id="R3a95d7e3fe604b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1e9611c5494453" /><Relationship Type="http://schemas.openxmlformats.org/officeDocument/2006/relationships/notesMaster" Target="/ppt/notesMasters/notesMaster1.xml" Id="Re02bb5cbc18f46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e28e1dbe994380" /><Relationship Type="http://schemas.openxmlformats.org/officeDocument/2006/relationships/notesMaster" Target="/ppt/notesMasters/notesMaster1.xml" Id="Re9e69dc0173747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23f8d92da14da6" /><Relationship Type="http://schemas.openxmlformats.org/officeDocument/2006/relationships/notesMaster" Target="/ppt/notesMasters/notesMaster1.xml" Id="Rea0c37c32b1b4e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233f2b33b24dd0" /><Relationship Type="http://schemas.openxmlformats.org/officeDocument/2006/relationships/notesMaster" Target="/ppt/notesMasters/notesMaster1.xml" Id="Rc71e48229e7e46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9a2f5c45284b5f" /><Relationship Type="http://schemas.openxmlformats.org/officeDocument/2006/relationships/notesMaster" Target="/ppt/notesMasters/notesMaster1.xml" Id="R6aba9a11791d43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cdc4a971cc4d05" /><Relationship Type="http://schemas.openxmlformats.org/officeDocument/2006/relationships/notesMaster" Target="/ppt/notesMasters/notesMaster1.xml" Id="R6079eee2a68c49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a3bbb0d32b4224" /><Relationship Type="http://schemas.openxmlformats.org/officeDocument/2006/relationships/notesMaster" Target="/ppt/notesMasters/notesMaster1.xml" Id="R0b482607151d4d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b9d5b738194513" /><Relationship Type="http://schemas.openxmlformats.org/officeDocument/2006/relationships/notesMaster" Target="/ppt/notesMasters/notesMaster1.xml" Id="Rba8432a8585542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f9fe4110394318" /><Relationship Type="http://schemas.openxmlformats.org/officeDocument/2006/relationships/notesMaster" Target="/ppt/notesMasters/notesMaster1.xml" Id="Ra9161c7c4cd242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bdcae72c9a4ea0" /><Relationship Type="http://schemas.openxmlformats.org/officeDocument/2006/relationships/notesMaster" Target="/ppt/notesMasters/notesMaster1.xml" Id="R1e6f7265f89240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77b86a2a1c4095" /><Relationship Type="http://schemas.openxmlformats.org/officeDocument/2006/relationships/notesMaster" Target="/ppt/notesMasters/notesMaster1.xml" Id="Rf10d726f110a44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16fb6858e5497b" /><Relationship Type="http://schemas.openxmlformats.org/officeDocument/2006/relationships/notesMaster" Target="/ppt/notesMasters/notesMaster1.xml" Id="R348c61de109e49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57ef861d4934de8" /><Relationship Type="http://schemas.openxmlformats.org/officeDocument/2006/relationships/notesMaster" Target="/ppt/notesMasters/notesMaster1.xml" Id="Rfc79dbe494024fd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38022bcd804eb1" /><Relationship Type="http://schemas.openxmlformats.org/officeDocument/2006/relationships/notesMaster" Target="/ppt/notesMasters/notesMaster1.xml" Id="R37b83cb5309b4a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Open with the problem MIRA solves: remote photographers need the client prepared before the camera turns on. This deck distinguishes what works now from what is still being implemented.</a:t>
            </a:r>
          </a:p>
          <a:p xmlns:a="http://schemas.openxmlformats.org/drawingml/2006/main">
            <a:r>
              <a:t/>
            </a:r>
          </a:p>
          <a:p xmlns:a="http://schemas.openxmlformats.org/drawingml/2006/main">
            <a:r>
              <a:t>STATUS</a:t>
            </a:r>
          </a:p>
          <a:p xmlns:a="http://schemas.openxmlformats.org/drawingml/2006/main">
            <a:r>
              <a:t>Presentation starter ready; replace name/date only if needed.</a:t>
            </a:r>
          </a:p>
          <a:p xmlns:a="http://schemas.openxmlformats.org/drawingml/2006/main">
            <a:r>
              <a:t/>
            </a:r>
          </a:p>
          <a:p xmlns:a="http://schemas.openxmlformats.org/drawingml/2006/main">
            <a:r>
              <a:t>NEXT AGENT TODO</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Explain the business problem in plain language. Avoid inventing statistics. Position this as a synthesis of sector research and practical workflow observations.</a:t>
            </a:r>
          </a:p>
          <a:p xmlns:a="http://schemas.openxmlformats.org/drawingml/2006/main">
            <a:r>
              <a:t/>
            </a:r>
          </a:p>
          <a:p xmlns:a="http://schemas.openxmlformats.org/drawingml/2006/main">
            <a:r>
              <a:t>STATUS</a:t>
            </a:r>
          </a:p>
          <a:p xmlns:a="http://schemas.openxmlformats.org/drawingml/2006/main">
            <a:r>
              <a:t>Research narrative drafted; quantitative evidence still needs citations.</a:t>
            </a:r>
          </a:p>
          <a:p xmlns:a="http://schemas.openxmlformats.org/drawingml/2006/main">
            <a:r>
              <a:t/>
            </a:r>
          </a:p>
          <a:p xmlns:a="http://schemas.openxmlformats.org/drawingml/2006/main">
            <a:r>
              <a:t>NEXT AGENT TODO</a:t>
            </a:r>
          </a:p>
          <a:p xmlns:a="http://schemas.openxmlformats.org/drawingml/2006/main">
            <a:r>
              <a:t>Add 2–3 cited sector findings from research/sector_research.md.</a:t>
            </a:r>
          </a:p>
          <a:p xmlns:a="http://schemas.openxmlformats.org/drawingml/2006/main">
            <a:r>
              <a:t/>
            </a:r>
          </a:p>
          <a:p xmlns:a="http://schemas.openxmlformats.org/drawingml/2006/main">
            <a:r>
              <a:t>[Sources]</a:t>
            </a:r>
          </a:p>
          <a:p xmlns:a="http://schemas.openxmlformats.org/drawingml/2006/main">
            <a:r>
              <a:t>- User-supplied MIRA landing-page screenshot: Screenshot 2026-09-03 at 19.50.27.png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Use this slide to connect the user problem to operational cost. The current claims are qualitative; support them with the research pack before final submission.</a:t>
            </a:r>
          </a:p>
          <a:p xmlns:a="http://schemas.openxmlformats.org/drawingml/2006/main">
            <a:r>
              <a:t/>
            </a:r>
          </a:p>
          <a:p xmlns:a="http://schemas.openxmlformats.org/drawingml/2006/main">
            <a:r>
              <a:t>STATUS</a:t>
            </a:r>
          </a:p>
          <a:p xmlns:a="http://schemas.openxmlformats.org/drawingml/2006/main">
            <a:r>
              <a:t>Problem themes ready; evidence citations pending.</a:t>
            </a:r>
          </a:p>
          <a:p xmlns:a="http://schemas.openxmlformats.org/drawingml/2006/main">
            <a:r>
              <a:t/>
            </a:r>
          </a:p>
          <a:p xmlns:a="http://schemas.openxmlformats.org/drawingml/2006/main">
            <a:r>
              <a:t>NEXT AGENT TODO</a:t>
            </a:r>
          </a:p>
          <a:p xmlns:a="http://schemas.openxmlformats.org/drawingml/2006/main">
            <a:r>
              <a:t>Insert research citations and, if available, one interview quote with permission.</a:t>
            </a:r>
          </a:p>
          <a:p xmlns:a="http://schemas.openxmlformats.org/drawingml/2006/main">
            <a:r>
              <a:t/>
            </a:r>
          </a:p>
          <a:p xmlns:a="http://schemas.openxmlformats.org/drawingml/2006/main">
            <a:r>
              <a:t>[Sources]</a:t>
            </a:r>
          </a:p>
          <a:p xmlns:a="http://schemas.openxmlformats.org/drawingml/2006/main">
            <a:r>
              <a:t>- User-supplied MIRA problem screenshot: Screenshot 2026-09-03 at 19.50.33.png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Walk through the intended journey: photographer creates the shoot, invites the client, MIRA guides preparation, the photographer reviews direction, and both arrive ready.</a:t>
            </a:r>
          </a:p>
          <a:p xmlns:a="http://schemas.openxmlformats.org/drawingml/2006/main">
            <a:r>
              <a:t/>
            </a:r>
          </a:p>
          <a:p xmlns:a="http://schemas.openxmlformats.org/drawingml/2006/main">
            <a:r>
              <a:t>STATUS</a:t>
            </a:r>
          </a:p>
          <a:p xmlns:a="http://schemas.openxmlformats.org/drawingml/2006/main">
            <a:r>
              <a:t>Core journey is designed; later dashboard, AI conversation and moodboard steps require full end-to-end verification.</a:t>
            </a:r>
          </a:p>
          <a:p xmlns:a="http://schemas.openxmlformats.org/drawingml/2006/main">
            <a:r>
              <a:t/>
            </a:r>
          </a:p>
          <a:p xmlns:a="http://schemas.openxmlformats.org/drawingml/2006/main">
            <a:r>
              <a:t>NEXT AGENT TODO</a:t>
            </a:r>
          </a:p>
          <a:p xmlns:a="http://schemas.openxmlformats.org/drawingml/2006/main">
            <a:r>
              <a:t>Replace this overview with final dashboard screenshots when Segment 2 is complete.</a:t>
            </a:r>
          </a:p>
          <a:p xmlns:a="http://schemas.openxmlformats.org/drawingml/2006/main">
            <a:r>
              <a:t/>
            </a:r>
          </a:p>
          <a:p xmlns:a="http://schemas.openxmlformats.org/drawingml/2006/main">
            <a:r>
              <a:t>[Sources]</a:t>
            </a:r>
          </a:p>
          <a:p xmlns:a="http://schemas.openxmlformats.org/drawingml/2006/main">
            <a:r>
              <a:t>- User-supplied MIRA workflow screenshot: Screenshot 2026-09-03 at 19.50.39.png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separation is central to responsible design. AI handles ambiguity and synthesis. Ordinary software handles identity, money, permissions and records. The photographer remains accountable for the creative outcome.</a:t>
            </a:r>
          </a:p>
          <a:p xmlns:a="http://schemas.openxmlformats.org/drawingml/2006/main">
            <a:r>
              <a:t/>
            </a:r>
          </a:p>
          <a:p xmlns:a="http://schemas.openxmlformats.org/drawingml/2006/main">
            <a:r>
              <a:t>STATUS</a:t>
            </a:r>
          </a:p>
          <a:p xmlns:a="http://schemas.openxmlformats.org/drawingml/2006/main">
            <a:r>
              <a:t>Conceptual architecture; individual integrations are at different maturity levels.</a:t>
            </a:r>
          </a:p>
          <a:p xmlns:a="http://schemas.openxmlformats.org/drawingml/2006/main">
            <a:r>
              <a:t/>
            </a:r>
          </a:p>
          <a:p xmlns:a="http://schemas.openxmlformats.org/drawingml/2006/main">
            <a:r>
              <a:t>NEXT AGENT TODO</a:t>
            </a:r>
          </a:p>
          <a:p xmlns:a="http://schemas.openxmlformats.org/drawingml/2006/main">
            <a:r>
              <a:t>Confirm the exact model/provider used before naming it on the final slide.</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is the intended end-to-end preparation journey. The client always returns through the same private Shoot Room link, so visual references, the preference test, conversation memory, Creative DNA and generated direction stay attached to one shoot. Timing adapts to the remaining days rather than forcing every client through the same sequence.</a:t>
            </a:r>
          </a:p>
          <a:p xmlns:a="http://schemas.openxmlformats.org/drawingml/2006/main">
            <a:r>
              <a:t/>
            </a:r>
          </a:p>
          <a:p xmlns:a="http://schemas.openxmlformats.org/drawingml/2006/main">
            <a:r>
              <a:t>AI versus ordinary software</a:t>
            </a:r>
          </a:p>
          <a:p xmlns:a="http://schemas.openxmlformats.org/drawingml/2006/main">
            <a:r>
              <a:t>AI handles voice conversation, qualitative understanding, Creative DNA and creative direction. Ordinary software handles Stripe, authentication, permissions, shoot dates, Resend scheduling, storage and status tracking.</a:t>
            </a:r>
          </a:p>
          <a:p xmlns:a="http://schemas.openxmlformats.org/drawingml/2006/main">
            <a:r>
              <a:t/>
            </a:r>
          </a:p>
          <a:p xmlns:a="http://schemas.openxmlformats.org/drawingml/2006/main">
            <a:r>
              <a:t>STATUS</a:t>
            </a:r>
          </a:p>
          <a:p xmlns:a="http://schemas.openxmlformats.org/drawingml/2006/main">
            <a:r>
              <a:t>Stripe: WORKING.</a:t>
            </a:r>
          </a:p>
          <a:p xmlns:a="http://schemas.openxmlformats.org/drawingml/2006/main">
            <a:r>
              <a:t>Private client link: WORKING.</a:t>
            </a:r>
          </a:p>
          <a:p xmlns:a="http://schemas.openxmlformats.org/drawingml/2006/main">
            <a:r>
              <a:t>Voice: IN IMPLEMENTATION until verified.</a:t>
            </a:r>
          </a:p>
          <a:p xmlns:a="http://schemas.openxmlformats.org/drawingml/2006/main">
            <a:r>
              <a:t>Resend: IN IMPLEMENTATION until a real email is verified.</a:t>
            </a:r>
          </a:p>
          <a:p xmlns:a="http://schemas.openxmlformats.org/drawingml/2006/main">
            <a:r>
              <a:t>LangSmith: PLANNED / IN IMPLEMENTATION until a real MIRA trace is visible.</a:t>
            </a:r>
          </a:p>
          <a:p xmlns:a="http://schemas.openxmlformats.org/drawingml/2006/main">
            <a:r>
              <a:t>Moodboard automation: PARTIAL until five images are generated.</a:t>
            </a:r>
          </a:p>
          <a:p xmlns:a="http://schemas.openxmlformats.org/drawingml/2006/main">
            <a:r>
              <a:t>Photographer approval: PLANNED unless demonstrated.</a:t>
            </a:r>
          </a:p>
          <a:p xmlns:a="http://schemas.openxmlformats.org/drawingml/2006/main">
            <a:r>
              <a:t/>
            </a:r>
          </a:p>
          <a:p xmlns:a="http://schemas.openxmlformats.org/drawingml/2006/main">
            <a:r>
              <a:t>[Sources]</a:t>
            </a:r>
          </a:p>
          <a:p xmlns:a="http://schemas.openxmlformats.org/drawingml/2006/main">
            <a:r>
              <a:t>- User-provided MIRA workflow and implementation status, 3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Frame LangSmith as observability rather than decoration. It should show how you inspect traces and evaluate output quality. Only add a result after running a MIRA-specific sample.</a:t>
            </a:r>
          </a:p>
          <a:p xmlns:a="http://schemas.openxmlformats.org/drawingml/2006/main">
            <a:r>
              <a:t/>
            </a:r>
          </a:p>
          <a:p xmlns:a="http://schemas.openxmlformats.org/drawingml/2006/main">
            <a:r>
              <a:t>STATUS</a:t>
            </a:r>
          </a:p>
          <a:p xmlns:a="http://schemas.openxmlformats.org/drawingml/2006/main">
            <a:r>
              <a:t>Ironhack LangSmith work may exist, but MIRA-specific evidence is not verified.</a:t>
            </a:r>
          </a:p>
          <a:p xmlns:a="http://schemas.openxmlformats.org/drawingml/2006/main">
            <a:r>
              <a:t/>
            </a:r>
          </a:p>
          <a:p xmlns:a="http://schemas.openxmlformats.org/drawingml/2006/main">
            <a:r>
              <a:t>NEXT AGENT TODO</a:t>
            </a:r>
          </a:p>
          <a:p xmlns:a="http://schemas.openxmlformats.org/drawingml/2006/main">
            <a:r>
              <a:t>Add one dataset/experiment screenshot and define 3–4 evaluation criteria.</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I tested the commercial access path in the browser using Stripe and a 100% promotion code, so no real charge was made. The payment confirmation now leads the authenticated photographer into the existing onboarding flow.</a:t>
            </a:r>
          </a:p>
          <a:p xmlns:a="http://schemas.openxmlformats.org/drawingml/2006/main">
            <a:r>
              <a:t/>
            </a:r>
          </a:p>
          <a:p xmlns:a="http://schemas.openxmlformats.org/drawingml/2006/main">
            <a:r>
              <a:t>STATUS</a:t>
            </a:r>
          </a:p>
          <a:p xmlns:a="http://schemas.openxmlformats.org/drawingml/2006/main">
            <a:r>
              <a:t>Working in the current Manus private preview; browser-verified on 3 September 2026.</a:t>
            </a:r>
          </a:p>
          <a:p xmlns:a="http://schemas.openxmlformats.org/drawingml/2006/main">
            <a:r>
              <a:t/>
            </a:r>
          </a:p>
          <a:p xmlns:a="http://schemas.openxmlformats.org/drawingml/2006/main">
            <a:r>
              <a:t>[Sources]</a:t>
            </a:r>
          </a:p>
          <a:p xmlns:a="http://schemas.openxmlformats.org/drawingml/2006/main">
            <a:r>
              <a:t>- User-provided MIRA browser screenshot: Screenshot 2026-09-03 at 23.27.29.png</a:t>
            </a:r>
          </a:p>
          <a:p xmlns:a="http://schemas.openxmlformats.org/drawingml/2006/main">
            <a:r>
              <a:t>- User-provided implementation report, 3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 Stripe integration is now complete. The customer first creates or accesses a photographer account, and MIRA links that authenticated account to a Stripe Checkout Session. After payment, Stripe sends a signed checkout.session.completed webhook directly to the MIRA server.</a:t>
            </a:r>
          </a:p>
          <a:p xmlns:a="http://schemas.openxmlformats.org/drawingml/2006/main">
            <a:r>
              <a:t/>
            </a:r>
          </a:p>
          <a:p xmlns:a="http://schemas.openxmlformats.org/drawingml/2006/main">
            <a:r>
              <a:t>The browser success page alone cannot grant access. MIRA verifies the server-side webhook, connects it to the correct photographer account and only then activates the dashboard.</a:t>
            </a:r>
          </a:p>
          <a:p xmlns:a="http://schemas.openxmlformats.org/drawingml/2006/main">
            <a:r>
              <a:t/>
            </a:r>
          </a:p>
          <a:p xmlns:a="http://schemas.openxmlformats.org/drawingml/2006/main">
            <a:r>
              <a:t>The main difficulty was maintaining account continuity between MIRA and Stripe. Stripe could successfully complete checkout, but some events were initially rejected because the payment information did not match the validation expected by MIRA. We inspected the event deliveries and server response, corrected the validation mismatch and verified the complete journey.</a:t>
            </a:r>
          </a:p>
          <a:p xmlns:a="http://schemas.openxmlformats.org/drawingml/2006/main">
            <a:r>
              <a:t/>
            </a:r>
          </a:p>
          <a:p xmlns:a="http://schemas.openxmlformats.org/drawingml/2006/main">
            <a:r>
              <a:t>The final implementation passed 62 out of 62 payment and Stripe tests. The production build passed, the workspace had no uncommitted changes, and the verified code was saved to a dedicated GitHub branch without exposing credentials.</a:t>
            </a:r>
          </a:p>
          <a:p xmlns:a="http://schemas.openxmlformats.org/drawingml/2006/main">
            <a:r>
              <a:t/>
            </a:r>
          </a:p>
          <a:p xmlns:a="http://schemas.openxmlformats.org/drawingml/2006/main">
            <a:r>
              <a:t>[Sources]</a:t>
            </a:r>
          </a:p>
          <a:p xmlns:a="http://schemas.openxmlformats.org/drawingml/2006/main">
            <a:r>
              <a:t>- User-provided verified GitHub checkpoint: branch fix/mira-final-ux-runtime, commit e2e99e1f47c5d749d6ca91281e24c00a51f10931.</a:t>
            </a:r>
          </a:p>
          <a:p xmlns:a="http://schemas.openxmlformats.org/drawingml/2006/main">
            <a:r>
              <a:t>- User-provided verification report: 62/62 Stripe and payment tests passed; production build passed; 0 uncommitted changes.</a:t>
            </a:r>
          </a:p>
          <a:p xmlns:a="http://schemas.openxmlformats.org/drawingml/2006/main">
            <a:r>
              <a:t>- GitHub checkpoint screenshot was referenced by the user but was not available in the current working files, so no screenshot was fabricated.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was a deliberate delivery decision. Manus was valuable for the hosted Stripe and webhook verification, while continuing every development stage in the same cloud-agent environment would increase cost and dependency. I created a tested GitHub checkpoint and moved ongoing development into VS Code with Codex. This keeps the product portable, protects the verified payment flow and allows longer development and testing cycles with better cost control.</a:t>
            </a:r>
          </a:p>
          <a:p xmlns:a="http://schemas.openxmlformats.org/drawingml/2006/main">
            <a:r>
              <a:t/>
            </a:r>
          </a:p>
          <a:p xmlns:a="http://schemas.openxmlformats.org/drawingml/2006/main">
            <a:r>
              <a:t>[Sources]</a:t>
            </a:r>
          </a:p>
          <a:p xmlns:a="http://schemas.openxmlformats.org/drawingml/2006/main">
            <a:r>
              <a:t>- User-provided MIRA delivery strategy and verified implementation checkpoint.</a:t>
            </a:r>
          </a:p>
          <a:p xmlns:a="http://schemas.openxmlformats.org/drawingml/2006/main">
            <a:r>
              <a:t>- Repository: github.com/mariacavali/MIRA-asignment-</a:t>
            </a:r>
          </a:p>
          <a:p xmlns:a="http://schemas.openxmlformats.org/drawingml/2006/main">
            <a:r>
              <a:t>- Verified branch: fix/mira-final-ux-runtime</a:t>
            </a:r>
          </a:p>
          <a:p xmlns:a="http://schemas.openxmlformats.org/drawingml/2006/main">
            <a:r>
              <a:t>- Verified commit: e2e99e1f</a:t>
            </a:r>
          </a:p>
          <a:p xmlns:a="http://schemas.openxmlformats.org/drawingml/2006/main">
            <a:r>
              <a:t>- Verification evidence: Stripe payment flow working; 62/62 payment tests passed; production build passed.</a:t>
            </a:r>
          </a:p>
          <a:p xmlns:a="http://schemas.openxmlformats.org/drawingml/2006/main">
            <a:r>
              <a:t>- No screenshot was inserted because the referenced checkpoint image was not available in the supplied working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 photographer now has a dedicated workspace. The dashboard is intentionally part of the commercial product architecture: it connects account access, shoot creation and future client preparation records. The layout still needs visual refinement, but the workflow is functioning.</a:t>
            </a:r>
          </a:p>
          <a:p xmlns:a="http://schemas.openxmlformats.org/drawingml/2006/main">
            <a:r>
              <a:t/>
            </a:r>
          </a:p>
          <a:p xmlns:a="http://schemas.openxmlformats.org/drawingml/2006/main">
            <a:r>
              <a:t>STATUS</a:t>
            </a:r>
          </a:p>
          <a:p xmlns:a="http://schemas.openxmlformats.org/drawingml/2006/main">
            <a:r>
              <a:t>Core dashboard workflow working; interface polish in progress.</a:t>
            </a:r>
          </a:p>
          <a:p xmlns:a="http://schemas.openxmlformats.org/drawingml/2006/main">
            <a:r>
              <a:t/>
            </a:r>
          </a:p>
          <a:p xmlns:a="http://schemas.openxmlformats.org/drawingml/2006/main">
            <a:r>
              <a:t>[Sources]</a:t>
            </a:r>
          </a:p>
          <a:p xmlns:a="http://schemas.openxmlformats.org/drawingml/2006/main">
            <a:r>
              <a:t>- User-provided MIRA browser screenshot: Screenshot 2026-09-03 at 23.28.45.png.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is the bridge between the photographer and the model or client. The invitation is tied to one shoot and carries the shared details into the private preparation room. The client must actively accept before continuing.</a:t>
            </a:r>
          </a:p>
          <a:p xmlns:a="http://schemas.openxmlformats.org/drawingml/2006/main">
            <a:r>
              <a:t/>
            </a:r>
          </a:p>
          <a:p xmlns:a="http://schemas.openxmlformats.org/drawingml/2006/main">
            <a:r>
              <a:t>STATUS</a:t>
            </a:r>
          </a:p>
          <a:p xmlns:a="http://schemas.openxmlformats.org/drawingml/2006/main">
            <a:r>
              <a:t>Private link, shoot details and entry consent are working in the current preview.</a:t>
            </a:r>
          </a:p>
          <a:p xmlns:a="http://schemas.openxmlformats.org/drawingml/2006/main">
            <a:r>
              <a:t/>
            </a:r>
          </a:p>
          <a:p xmlns:a="http://schemas.openxmlformats.org/drawingml/2006/main">
            <a:r>
              <a:t>[Sources]</a:t>
            </a:r>
          </a:p>
          <a:p xmlns:a="http://schemas.openxmlformats.org/drawingml/2006/main">
            <a:r>
              <a:t>- User-provided MIRA browser screenshot: Screenshot 2026-09-03 at 23.32.51.png.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 implementation moved beyond the original payment boundary. In the current preview I can complete payment confirmation, onboarding, dashboard access, shoot creation and the private client invitation. The AI preparation layer is the remaining stabilization focus: realtime voice is unavailable, timed Resend delivery is not yet verified, and the final moodboard output still needs end-to-end proof.</a:t>
            </a:r>
          </a:p>
          <a:p xmlns:a="http://schemas.openxmlformats.org/drawingml/2006/main">
            <a:r>
              <a:t/>
            </a:r>
          </a:p>
          <a:p xmlns:a="http://schemas.openxmlformats.org/drawingml/2006/main">
            <a:r>
              <a:t>STATUS</a:t>
            </a:r>
          </a:p>
          <a:p xmlns:a="http://schemas.openxmlformats.org/drawingml/2006/main">
            <a:r>
              <a:t>Commercial access and invitation path browser-verified; AI completion path incomplete.</a:t>
            </a:r>
          </a:p>
          <a:p xmlns:a="http://schemas.openxmlformats.org/drawingml/2006/main">
            <a:r>
              <a:t/>
            </a:r>
          </a:p>
          <a:p xmlns:a="http://schemas.openxmlformats.org/drawingml/2006/main">
            <a:r>
              <a:t>[Sources]</a:t>
            </a:r>
          </a:p>
          <a:p xmlns:a="http://schemas.openxmlformats.org/drawingml/2006/main">
            <a:r>
              <a:t>- User-provided MIRA browser screenshots: Screenshot 2026-09-03 at 23.27.29.png and Screenshot 2026-09-03 at 23.32.51.png.</a:t>
            </a:r>
          </a:p>
          <a:p xmlns:a="http://schemas.openxmlformats.org/drawingml/2006/main">
            <a:r>
              <a:t>- User-provided implementation report, 3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approach lets you demonstrate Stripe as a real tool and still complete the classroom journey. Say clearly that the bypass is isolated to demo mode; production access remains webhook-controlled.</a:t>
            </a:r>
          </a:p>
          <a:p xmlns:a="http://schemas.openxmlformats.org/drawingml/2006/main">
            <a:r>
              <a:t/>
            </a:r>
          </a:p>
          <a:p xmlns:a="http://schemas.openxmlformats.org/drawingml/2006/main">
            <a:r>
              <a:t>STATUS</a:t>
            </a:r>
          </a:p>
          <a:p xmlns:a="http://schemas.openxmlformats.org/drawingml/2006/main">
            <a:r>
              <a:t>Fastest low-credit demo strategy; not yet confirmed implemented.</a:t>
            </a:r>
          </a:p>
          <a:p xmlns:a="http://schemas.openxmlformats.org/drawingml/2006/main">
            <a:r>
              <a:t/>
            </a:r>
          </a:p>
          <a:p xmlns:a="http://schemas.openxmlformats.org/drawingml/2006/main">
            <a:r>
              <a:t>NEXT AGENT TODO</a:t>
            </a:r>
          </a:p>
          <a:p xmlns:a="http://schemas.openxmlformats.org/drawingml/2006/main">
            <a:r>
              <a:t>Have the next developer add and browser-test the demo-only button, then capture one dashboard screenshot.</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Explain n8n as the automation layer for handing structured client inputs to the image-generation step and returning outputs to the project. Do not claim the export exists until it is attached.</a:t>
            </a:r>
          </a:p>
          <a:p xmlns:a="http://schemas.openxmlformats.org/drawingml/2006/main">
            <a:r>
              <a:t/>
            </a:r>
          </a:p>
          <a:p xmlns:a="http://schemas.openxmlformats.org/drawingml/2006/main">
            <a:r>
              <a:t>STATUS</a:t>
            </a:r>
          </a:p>
          <a:p xmlns:a="http://schemas.openxmlformats.org/drawingml/2006/main">
            <a:r>
              <a:t>User reports an n8n moodboard workflow; repository evidence not yet verified.</a:t>
            </a:r>
          </a:p>
          <a:p xmlns:a="http://schemas.openxmlformats.org/drawingml/2006/main">
            <a:r>
              <a:t/>
            </a:r>
          </a:p>
          <a:p xmlns:a="http://schemas.openxmlformats.org/drawingml/2006/main">
            <a:r>
              <a:t>NEXT AGENT TODO</a:t>
            </a:r>
          </a:p>
          <a:p xmlns:a="http://schemas.openxmlformats.org/drawingml/2006/main">
            <a:r>
              <a:t>Insert an exported .json or annotated workflow screenshot and list the exact nodes used.</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Frame LangSmith as observability rather than decoration. It should show how you inspect traces and evaluate output quality. Only add a result after running a MIRA-specific sample.</a:t>
            </a:r>
          </a:p>
          <a:p xmlns:a="http://schemas.openxmlformats.org/drawingml/2006/main">
            <a:r>
              <a:t/>
            </a:r>
          </a:p>
          <a:p xmlns:a="http://schemas.openxmlformats.org/drawingml/2006/main">
            <a:r>
              <a:t>STATUS</a:t>
            </a:r>
          </a:p>
          <a:p xmlns:a="http://schemas.openxmlformats.org/drawingml/2006/main">
            <a:r>
              <a:t>Ironhack LangSmith work may exist, but MIRA-specific evidence is not verified.</a:t>
            </a:r>
          </a:p>
          <a:p xmlns:a="http://schemas.openxmlformats.org/drawingml/2006/main">
            <a:r>
              <a:t/>
            </a:r>
          </a:p>
          <a:p xmlns:a="http://schemas.openxmlformats.org/drawingml/2006/main">
            <a:r>
              <a:t>NEXT AGENT TODO</a:t>
            </a:r>
          </a:p>
          <a:p xmlns:a="http://schemas.openxmlformats.org/drawingml/2006/main">
            <a:r>
              <a:t>Add one dataset/experiment screenshot and define 3–4 evaluation criteria.</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I separated deterministic operations from creative AI. Stripe and Resend handle reliable transactions and communication. OpenAI handles the adaptive conversation and synthesis. LangSmith gives observability into the AI stages, while my custom MIRA evaluation checks creative quality. The photographer remains responsible for final approval.</a:t>
            </a:r>
          </a:p>
          <a:p xmlns:a="http://schemas.openxmlformats.org/drawingml/2006/main">
            <a:r>
              <a:t/>
            </a:r>
          </a:p>
          <a:p xmlns:a="http://schemas.openxmlformats.org/drawingml/2006/main">
            <a:r>
              <a:t>The existing MIRA evaluation lab uses the OpenAI API with a custom LLM-as-judge rubric. Five test cases completed with zero execution failures and an average score of 4.2/5. Five-frame campaign consistency scored 5/5. Hallucination resistance scored 3/5, identifying the clearest improvement area.</a:t>
            </a:r>
          </a:p>
          <a:p xmlns:a="http://schemas.openxmlformats.org/drawingml/2006/main">
            <a:r>
              <a:t/>
            </a:r>
          </a:p>
          <a:p xmlns:a="http://schemas.openxmlformats.org/drawingml/2006/main">
            <a:r>
              <a:t>LangSmith does not generate the moodboard. Its role is to trace voice synthesis, Creative DNA and moodboard-direction stages; record prompt version, latency, errors and token usage; and support future prompt-version comparisons. A real MIRA trace must still be visible before LangSmith is labelled working.</a:t>
            </a:r>
          </a:p>
          <a:p xmlns:a="http://schemas.openxmlformats.org/drawingml/2006/main">
            <a:r>
              <a:t/>
            </a:r>
          </a:p>
          <a:p xmlns:a="http://schemas.openxmlformats.org/drawingml/2006/main">
            <a:r>
              <a:t>[Sources]</a:t>
            </a:r>
          </a:p>
          <a:p xmlns:a="http://schemas.openxmlformats.org/drawingml/2006/main">
            <a:r>
              <a:t>- https://github.com/mariacavali/lab-llms-grading-llms-mira</a:t>
            </a:r>
          </a:p>
          <a:p xmlns:a="http://schemas.openxmlformats.org/drawingml/2006/main">
            <a:r>
              <a:t>- https://github.com/mariacavali/lab-langsmith</a:t>
            </a:r>
          </a:p>
          <a:p xmlns:a="http://schemas.openxmlformats.org/drawingml/2006/main">
            <a:r>
              <a:t>- https://github.com/mariacavali/lab-langsmith-micromanage-agents</a:t>
            </a:r>
          </a:p>
          <a:p xmlns:a="http://schemas.openxmlformats.org/drawingml/2006/main">
            <a:r>
              <a:t>- User-provided verified evaluation results, 3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These metrics cover three stakeholder concerns: are clients ready, are AI outputs useful, and is the workflow reducing effort? The final dashboard needs a data source and metric rationale.</a:t>
            </a:r>
          </a:p>
          <a:p xmlns:a="http://schemas.openxmlformats.org/drawingml/2006/main">
            <a:r>
              <a:t/>
            </a:r>
          </a:p>
          <a:p xmlns:a="http://schemas.openxmlformats.org/drawingml/2006/main">
            <a:r>
              <a:t>STATUS</a:t>
            </a:r>
          </a:p>
          <a:p xmlns:a="http://schemas.openxmlformats.org/drawingml/2006/main">
            <a:r>
              <a:t>Metric set proposed; dashboard file and screenshots not yet verified.</a:t>
            </a:r>
          </a:p>
          <a:p xmlns:a="http://schemas.openxmlformats.org/drawingml/2006/main">
            <a:r>
              <a:t/>
            </a:r>
          </a:p>
          <a:p xmlns:a="http://schemas.openxmlformats.org/drawingml/2006/main">
            <a:r>
              <a:t>NEXT AGENT TODO</a:t>
            </a:r>
          </a:p>
          <a:p xmlns:a="http://schemas.openxmlformats.org/drawingml/2006/main">
            <a:r>
              <a:t>Build 5–7 metrics in Power BI or an agreed alternative and add dashboard_documentation.md.</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Connect this to GDPR and commercial trust. Consent, access controls, data minimisation and human oversight are product requirements, not just legal text.</a:t>
            </a:r>
          </a:p>
          <a:p xmlns:a="http://schemas.openxmlformats.org/drawingml/2006/main">
            <a:r>
              <a:t/>
            </a:r>
          </a:p>
          <a:p xmlns:a="http://schemas.openxmlformats.org/drawingml/2006/main">
            <a:r>
              <a:t>STATUS</a:t>
            </a:r>
          </a:p>
          <a:p xmlns:a="http://schemas.openxmlformats.org/drawingml/2006/main">
            <a:r>
              <a:t>Responsible design principles drafted; retention policy and production audit evidence pending.</a:t>
            </a:r>
          </a:p>
          <a:p xmlns:a="http://schemas.openxmlformats.org/drawingml/2006/main">
            <a:r>
              <a:t/>
            </a:r>
          </a:p>
          <a:p xmlns:a="http://schemas.openxmlformats.org/drawingml/2006/main">
            <a:r>
              <a:t>NEXT AGENT TODO</a:t>
            </a:r>
          </a:p>
          <a:p xmlns:a="http://schemas.openxmlformats.org/drawingml/2006/main">
            <a:r>
              <a:t>Add the project’s actual retention, deletion and access-control assumptions.</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Present this as a rough implementation estimate with assumptions, not a guarantee. Cost estimates still need hosting, AI, image generation, email and monitoring assumptions.</a:t>
            </a:r>
          </a:p>
          <a:p xmlns:a="http://schemas.openxmlformats.org/drawingml/2006/main">
            <a:r>
              <a:t/>
            </a:r>
          </a:p>
          <a:p xmlns:a="http://schemas.openxmlformats.org/drawingml/2006/main">
            <a:r>
              <a:t>STATUS</a:t>
            </a:r>
          </a:p>
          <a:p xmlns:a="http://schemas.openxmlformats.org/drawingml/2006/main">
            <a:r>
              <a:t>Timeline is a planning estimate; cost model pending.</a:t>
            </a:r>
          </a:p>
          <a:p xmlns:a="http://schemas.openxmlformats.org/drawingml/2006/main">
            <a:r>
              <a:t/>
            </a:r>
          </a:p>
          <a:p xmlns:a="http://schemas.openxmlformats.org/drawingml/2006/main">
            <a:r>
              <a:t>NEXT AGENT TODO</a:t>
            </a:r>
          </a:p>
          <a:p xmlns:a="http://schemas.openxmlformats.org/drawingml/2006/main">
            <a:r>
              <a:t>Add an explicit assumptions table and monthly usage scenarios to the cost document.</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State the decision clearly: keep the sector and use case. Round 2 narrows the MVP to one coherent photographer-to-client journey with honest commercial boundaries.</a:t>
            </a:r>
          </a:p>
          <a:p xmlns:a="http://schemas.openxmlformats.org/drawingml/2006/main">
            <a:r>
              <a:t/>
            </a:r>
          </a:p>
          <a:p xmlns:a="http://schemas.openxmlformats.org/drawingml/2006/main">
            <a:r>
              <a:t>STATUS</a:t>
            </a:r>
          </a:p>
          <a:p xmlns:a="http://schemas.openxmlformats.org/drawingml/2006/main">
            <a:r>
              <a:t>Draft decision based on current direction; teaching-staff feedback still needs adding.</a:t>
            </a:r>
          </a:p>
          <a:p xmlns:a="http://schemas.openxmlformats.org/drawingml/2006/main">
            <a:r>
              <a:t/>
            </a:r>
          </a:p>
          <a:p xmlns:a="http://schemas.openxmlformats.org/drawingml/2006/main">
            <a:r>
              <a:t>NEXT AGENT TODO</a:t>
            </a:r>
          </a:p>
          <a:p xmlns:a="http://schemas.openxmlformats.org/drawingml/2006/main">
            <a:r>
              <a:t>After presentation, record 3–5 feedback bullets in feedback/round1_decision.md.</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Close by resolving the opening problem. MIRA’s value is not more AI; it is a more prepared client and a photographer who keeps creative control.</a:t>
            </a:r>
          </a:p>
          <a:p xmlns:a="http://schemas.openxmlformats.org/drawingml/2006/main">
            <a:r>
              <a:t/>
            </a:r>
          </a:p>
          <a:p xmlns:a="http://schemas.openxmlformats.org/drawingml/2006/main">
            <a:r>
              <a:t>STATUS</a:t>
            </a:r>
          </a:p>
          <a:p xmlns:a="http://schemas.openxmlformats.org/drawingml/2006/main">
            <a:r>
              <a:t>Closing slide ready.</a:t>
            </a:r>
          </a:p>
          <a:p xmlns:a="http://schemas.openxmlformats.org/drawingml/2006/main">
            <a:r>
              <a:t/>
            </a:r>
          </a:p>
          <a:p xmlns:a="http://schemas.openxmlformats.org/drawingml/2006/main">
            <a:r>
              <a:t>NEXT AGENT TODO</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User-provided MIRA project context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186d6845c44f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5e53bba63e481a" /><Relationship Type="http://schemas.openxmlformats.org/officeDocument/2006/relationships/slideLayout" Target="/ppt/slideLayouts/slideLayout1.xml" Id="R45334920facb4a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334920facb4a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951777341b4a92" /><Relationship Type="http://schemas.openxmlformats.org/officeDocument/2006/relationships/notesSlide" Target="/ppt/notesSlides/notesSlide1.xml" Id="R5ad5a20bf5a94b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37c2cc11a8479f" /><Relationship Type="http://schemas.openxmlformats.org/officeDocument/2006/relationships/image" Target="/ppt/media/image.png" Id="R4b85fcfaf84842e5" /><Relationship Type="http://schemas.openxmlformats.org/officeDocument/2006/relationships/notesSlide" Target="/ppt/notesSlides/notesSlide2.xml" Id="R0d8d89f6a67449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e0d8a206dc4c49" /><Relationship Type="http://schemas.openxmlformats.org/officeDocument/2006/relationships/image" Target="/ppt/media/image2.png" Id="R0cf9ceb5e34d49eb" /><Relationship Type="http://schemas.openxmlformats.org/officeDocument/2006/relationships/notesSlide" Target="/ppt/notesSlides/notesSlide3.xml" Id="Rbb2e71f6d7cc46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8c659eaf0e4a29" /><Relationship Type="http://schemas.openxmlformats.org/officeDocument/2006/relationships/image" Target="/ppt/media/image3.png" Id="R41284ace4fbc48ed" /><Relationship Type="http://schemas.openxmlformats.org/officeDocument/2006/relationships/notesSlide" Target="/ppt/notesSlides/notesSlide4.xml" Id="R3e23f42a740841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406cc6561c4809" /><Relationship Type="http://schemas.openxmlformats.org/officeDocument/2006/relationships/notesSlide" Target="/ppt/notesSlides/notesSlide5.xml" Id="Rb6ba08eb45ca41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28a3d523d6451d" /><Relationship Type="http://schemas.openxmlformats.org/officeDocument/2006/relationships/notesSlide" Target="/ppt/notesSlides/notesSlide6.xml" Id="Rd696d92bc50c44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59581c90a744cf" /><Relationship Type="http://schemas.openxmlformats.org/officeDocument/2006/relationships/notesSlide" Target="/ppt/notesSlides/notesSlide7.xml" Id="Rb3049cbced4b4b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d1452f5e0d4fe6" /><Relationship Type="http://schemas.openxmlformats.org/officeDocument/2006/relationships/image" Target="/ppt/media/image4.png" Id="R1b8ae9289b7345e9" /><Relationship Type="http://schemas.openxmlformats.org/officeDocument/2006/relationships/notesSlide" Target="/ppt/notesSlides/notesSlide8.xml" Id="R9a684e4a706345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44ed86948549ef" /><Relationship Type="http://schemas.openxmlformats.org/officeDocument/2006/relationships/notesSlide" Target="/ppt/notesSlides/notesSlide9.xml" Id="Rbb99cb52e4cc4e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1369d6a55f4002" /><Relationship Type="http://schemas.openxmlformats.org/officeDocument/2006/relationships/notesSlide" Target="/ppt/notesSlides/notesSlide10.xml" Id="R575221912ea346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50be96b8254f72" /><Relationship Type="http://schemas.openxmlformats.org/officeDocument/2006/relationships/image" Target="/ppt/media/image5.png" Id="Rb664c9ca869440e1" /><Relationship Type="http://schemas.openxmlformats.org/officeDocument/2006/relationships/notesSlide" Target="/ppt/notesSlides/notesSlide11.xml" Id="Rd0167103a6c642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d7a08fb51d4a2c" /><Relationship Type="http://schemas.openxmlformats.org/officeDocument/2006/relationships/image" Target="/ppt/media/image6.png" Id="R97511ec572a94905" /><Relationship Type="http://schemas.openxmlformats.org/officeDocument/2006/relationships/notesSlide" Target="/ppt/notesSlides/notesSlide12.xml" Id="R7d0f7f7e6f5f44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8fe5b602cb4dee" /><Relationship Type="http://schemas.openxmlformats.org/officeDocument/2006/relationships/image" Target="/ppt/media/image7.png" Id="R8781cc2efc61479f" /><Relationship Type="http://schemas.openxmlformats.org/officeDocument/2006/relationships/image" Target="/ppt/media/image8.png" Id="Rae898edd0f5c4d98" /><Relationship Type="http://schemas.openxmlformats.org/officeDocument/2006/relationships/notesSlide" Target="/ppt/notesSlides/notesSlide13.xml" Id="R2a494ff8b57648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76268b94cb4bc5" /><Relationship Type="http://schemas.openxmlformats.org/officeDocument/2006/relationships/notesSlide" Target="/ppt/notesSlides/notesSlide14.xml" Id="R1a3ad561a3ef44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99d1db49c5346cb" /><Relationship Type="http://schemas.openxmlformats.org/officeDocument/2006/relationships/notesSlide" Target="/ppt/notesSlides/notesSlide15.xml" Id="R9402c3ef9b5b49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947451e93084d5d" /><Relationship Type="http://schemas.openxmlformats.org/officeDocument/2006/relationships/notesSlide" Target="/ppt/notesSlides/notesSlide16.xml" Id="R7c51af111d1841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c5c54ed68c84258" /><Relationship Type="http://schemas.openxmlformats.org/officeDocument/2006/relationships/notesSlide" Target="/ppt/notesSlides/notesSlide17.xml" Id="R9996c5ed757848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7b7aa5647749dd" /><Relationship Type="http://schemas.openxmlformats.org/officeDocument/2006/relationships/notesSlide" Target="/ppt/notesSlides/notesSlide18.xml" Id="Rf5dc336aa6bb4f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cce87f088244a41" /><Relationship Type="http://schemas.openxmlformats.org/officeDocument/2006/relationships/notesSlide" Target="/ppt/notesSlides/notesSlide19.xml" Id="R27441640fdf145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18e9920b28e4667" /><Relationship Type="http://schemas.openxmlformats.org/officeDocument/2006/relationships/notesSlide" Target="/ppt/notesSlides/notesSlide20.xml" Id="Rcdab0c3a772c41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7286c9e8a64a21" /><Relationship Type="http://schemas.openxmlformats.org/officeDocument/2006/relationships/notesSlide" Target="/ppt/notesSlides/notesSlide21.xml" Id="R843bb5e660f548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355f6f31fee4e34" /><Relationship Type="http://schemas.openxmlformats.org/officeDocument/2006/relationships/notesSlide" Target="/ppt/notesSlides/notesSlide22.xml" Id="R12ded0ae7abf4cbd" /></Relationships>
</file>

<file path=ppt/slides/slide1.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65B37A-93F7-478C-B9E4-65B240F9704F}"/>
              </a:ext>
            </a:extLst>
          </p:cNvPr>
          <p:cNvSpPr>
            <a:spLocks xmlns:a="http://schemas.openxmlformats.org/drawingml/2006/main" noGrp="1"/>
          </p:cNvSpPr>
          <p:nvPr/>
        </p:nvSpPr>
        <p:spPr>
          <a:xfrm xmlns:a="http://schemas.openxmlformats.org/drawingml/2006/main">
            <a:off x="666750" y="523875"/>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MIRA</a:t>
            </a:r>
          </a:p>
        </p:txBody>
      </p:sp>
      <p:sp>
        <p:nvSpPr>
          <p:cNvPr id="2" name="">
            <a:extLst xmlns:a="http://schemas.openxmlformats.org/drawingml/2006/main">
              <a:ext uri="{FF2B5EF4-FFF2-40B4-BE49-F238E27FC236}">
                <a16:creationId xmlns:a16="http://schemas.microsoft.com/office/drawing/2014/main" id="{5082F85B-7F90-4582-B2DA-D47F028600C6}"/>
              </a:ext>
            </a:extLst>
          </p:cNvPr>
          <p:cNvSpPr>
            <a:spLocks xmlns:a="http://schemas.openxmlformats.org/drawingml/2006/main" noGrp="1"/>
          </p:cNvSpPr>
          <p:nvPr/>
        </p:nvSpPr>
        <p:spPr>
          <a:xfrm xmlns:a="http://schemas.openxmlformats.org/drawingml/2006/main">
            <a:off x="666750" y="1952625"/>
            <a:ext cx="8001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4350" b="0" i="0">
                <a:solidFill>
                  <a:srgbClr val="F1E8DA"/>
                </a:solidFill>
              </a:defRPr>
            </a:pPr>
            <a:r>
              <a:rPr sz="4350" b="0" i="0">
                <a:solidFill>
                  <a:srgbClr val="F1E8DA"/>
                </a:solidFill>
              </a:rPr>
              <a:t>AI-assisted preparation</a:t>
            </a:r>
          </a:p>
          <a:p xmlns:a="http://schemas.openxmlformats.org/drawingml/2006/main">
            <a:pPr algn="l">
              <a:lnSpc>
                <a:spcPct val="108000"/>
              </a:lnSpc>
              <a:buNone/>
              <a:defRPr sz="4350" b="0" i="0">
                <a:solidFill>
                  <a:srgbClr val="F1E8DA"/>
                </a:solidFill>
              </a:defRPr>
            </a:pPr>
            <a:r>
              <a:rPr sz="4350" b="0" i="0">
                <a:solidFill>
                  <a:srgbClr val="F1E8DA"/>
                </a:solidFill>
              </a:rPr>
              <a:t>for remote photographers</a:t>
            </a:r>
          </a:p>
        </p:txBody>
      </p:sp>
      <p:sp>
        <p:nvSpPr>
          <p:cNvPr id="3" name="">
            <a:extLst xmlns:a="http://schemas.openxmlformats.org/drawingml/2006/main">
              <a:ext uri="{FF2B5EF4-FFF2-40B4-BE49-F238E27FC236}">
                <a16:creationId xmlns:a16="http://schemas.microsoft.com/office/drawing/2014/main" id="{3DA67E58-A12C-4E23-9150-9902524D8674}"/>
              </a:ext>
            </a:extLst>
          </p:cNvPr>
          <p:cNvSpPr>
            <a:spLocks xmlns:a="http://schemas.openxmlformats.org/drawingml/2006/main" noGrp="1"/>
          </p:cNvSpPr>
          <p:nvPr/>
        </p:nvSpPr>
        <p:spPr>
          <a:xfrm xmlns:a="http://schemas.openxmlformats.org/drawingml/2006/main">
            <a:off x="704850" y="36385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IRONHACK CAPSTONE · ROUND 1</a:t>
            </a:r>
          </a:p>
        </p:txBody>
      </p:sp>
      <p:sp>
        <p:nvSpPr>
          <p:cNvPr id="4" name="">
            <a:extLst xmlns:a="http://schemas.openxmlformats.org/drawingml/2006/main">
              <a:ext uri="{FF2B5EF4-FFF2-40B4-BE49-F238E27FC236}">
                <a16:creationId xmlns:a16="http://schemas.microsoft.com/office/drawing/2014/main" id="{A4751E2F-27C7-4F6B-B5C8-56D5CABE26A5}"/>
              </a:ext>
            </a:extLst>
          </p:cNvPr>
          <p:cNvSpPr>
            <a:spLocks xmlns:a="http://schemas.openxmlformats.org/drawingml/2006/main" noGrp="1"/>
          </p:cNvSpPr>
          <p:nvPr/>
        </p:nvSpPr>
        <p:spPr>
          <a:xfrm xmlns:a="http://schemas.openxmlformats.org/drawingml/2006/main">
            <a:off x="704850" y="4095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0" i="0">
                <a:solidFill>
                  <a:srgbClr val="BDB5AA"/>
                </a:solidFill>
              </a:defRPr>
            </a:pPr>
            <a:r>
              <a:rPr sz="1500" b="0" i="0">
                <a:solidFill>
                  <a:srgbClr val="BDB5AA"/>
                </a:solidFill>
              </a:rPr>
              <a:t>Marija Kavaliauskaite</a:t>
            </a:r>
          </a:p>
        </p:txBody>
      </p:sp>
      <p:sp>
        <p:nvSpPr>
          <p:cNvPr id="5" name="">
            <a:extLst xmlns:a="http://schemas.openxmlformats.org/drawingml/2006/main">
              <a:ext uri="{FF2B5EF4-FFF2-40B4-BE49-F238E27FC236}">
                <a16:creationId xmlns:a16="http://schemas.microsoft.com/office/drawing/2014/main" id="{3FEF22EC-7B68-4C6B-A24D-CE3EF414F8CE}"/>
              </a:ext>
            </a:extLst>
          </p:cNvPr>
          <p:cNvSpPr>
            <a:spLocks xmlns:a="http://schemas.openxmlformats.org/drawingml/2006/main" noGrp="1"/>
          </p:cNvSpPr>
          <p:nvPr/>
        </p:nvSpPr>
        <p:spPr>
          <a:xfrm xmlns:a="http://schemas.openxmlformats.org/drawingml/2006/main">
            <a:off x="666750" y="5810250"/>
            <a:ext cx="108585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6" name="">
            <a:extLst xmlns:a="http://schemas.openxmlformats.org/drawingml/2006/main">
              <a:ext uri="{FF2B5EF4-FFF2-40B4-BE49-F238E27FC236}">
                <a16:creationId xmlns:a16="http://schemas.microsoft.com/office/drawing/2014/main" id="{D4F8B597-8104-4C43-A358-155CCABCE6FF}"/>
              </a:ext>
            </a:extLst>
          </p:cNvPr>
          <p:cNvSpPr>
            <a:spLocks xmlns:a="http://schemas.openxmlformats.org/drawingml/2006/main" noGrp="1"/>
          </p:cNvSpPr>
          <p:nvPr/>
        </p:nvSpPr>
        <p:spPr>
          <a:xfrm xmlns:a="http://schemas.openxmlformats.org/drawingml/2006/main">
            <a:off x="704850" y="6048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0" i="0">
                <a:solidFill>
                  <a:srgbClr val="BDB5AA"/>
                </a:solidFill>
              </a:defRPr>
            </a:pPr>
            <a:r>
              <a:rPr sz="900" b="0" i="0">
                <a:solidFill>
                  <a:srgbClr val="BDB5AA"/>
                </a:solidFill>
              </a:rPr>
              <a:t>Working prototype · commercial journey in progress</a:t>
            </a:r>
          </a:p>
        </p:txBody>
      </p:sp>
    </p:spTree>
    <p:extLst>
      <p:ext uri="{BB962C8B-B14F-4D97-AF65-F5344CB8AC3E}">
        <p14:creationId xmlns:p14="http://schemas.microsoft.com/office/powerpoint/2010/main" val="1851139694"/>
      </p:ext>
    </p:extLst>
  </p:cSld>
</p:sld>
</file>

<file path=ppt/slides/slide2.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AC4E3B-5B0D-4B45-8BBF-40FC2E7CCCCC}"/>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F025A801-0F42-48FF-A077-2B086F80475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PROBLEM</a:t>
            </a:r>
          </a:p>
        </p:txBody>
      </p:sp>
      <p:sp>
        <p:nvSpPr>
          <p:cNvPr id="3" name="">
            <a:extLst xmlns:a="http://schemas.openxmlformats.org/drawingml/2006/main">
              <a:ext uri="{FF2B5EF4-FFF2-40B4-BE49-F238E27FC236}">
                <a16:creationId xmlns:a16="http://schemas.microsoft.com/office/drawing/2014/main" id="{C9175429-0BD9-44D0-8A46-AFA192B8EE76}"/>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BFDB03A5-7D58-4F69-926B-0A2EF4C2F0E9}"/>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Remote shoots fail before the camera turns on</a:t>
            </a:r>
          </a:p>
        </p:txBody>
      </p:sp>
      <p:sp>
        <p:nvSpPr>
          <p:cNvPr id="5" name="">
            <a:extLst xmlns:a="http://schemas.openxmlformats.org/drawingml/2006/main">
              <a:ext uri="{FF2B5EF4-FFF2-40B4-BE49-F238E27FC236}">
                <a16:creationId xmlns:a16="http://schemas.microsoft.com/office/drawing/2014/main" id="{85496CB3-7D28-4C64-BF26-C92316AD09EF}"/>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RESEARCH SYNTHESIS</a:t>
            </a:r>
          </a:p>
        </p:txBody>
      </p:sp>
      <p:sp>
        <p:nvSpPr>
          <p:cNvPr id="6" name="">
            <a:extLst xmlns:a="http://schemas.openxmlformats.org/drawingml/2006/main">
              <a:ext uri="{FF2B5EF4-FFF2-40B4-BE49-F238E27FC236}">
                <a16:creationId xmlns:a16="http://schemas.microsoft.com/office/drawing/2014/main" id="{1D312E91-5F4C-43C0-8287-F3EA61BB22D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8537290B-8A3B-472A-A203-A41DC1C23952}"/>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Sector research · Manus</a:t>
            </a:r>
          </a:p>
        </p:txBody>
      </p:sp>
      <p:sp>
        <p:nvSpPr>
          <p:cNvPr id="8" name="">
            <a:extLst xmlns:a="http://schemas.openxmlformats.org/drawingml/2006/main">
              <a:ext uri="{FF2B5EF4-FFF2-40B4-BE49-F238E27FC236}">
                <a16:creationId xmlns:a16="http://schemas.microsoft.com/office/drawing/2014/main" id="{DBF73467-D775-4A50-8C7A-7EA670CBBD64}"/>
              </a:ext>
            </a:extLst>
          </p:cNvPr>
          <p:cNvSpPr>
            <a:spLocks xmlns:a="http://schemas.openxmlformats.org/drawingml/2006/main" noGrp="1"/>
          </p:cNvSpPr>
          <p:nvPr/>
        </p:nvSpPr>
        <p:spPr>
          <a:xfrm xmlns:a="http://schemas.openxmlformats.org/drawingml/2006/main">
            <a:off x="552450" y="19050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75" b="0" i="0">
                <a:solidFill>
                  <a:srgbClr val="F1E8DA"/>
                </a:solidFill>
              </a:defRPr>
            </a:pPr>
            <a:r>
              <a:rPr sz="1875" b="0" i="0">
                <a:solidFill>
                  <a:srgbClr val="F1E8DA"/>
                </a:solidFill>
              </a:rPr>
              <a:t>Clients often arrive uncertain about the process, practical setup and creative direction. The photographer repeats the same preparation work in messages and calls.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b85fcfaf84842e5"/>
          <a:stretch xmlns:a="http://schemas.openxmlformats.org/drawingml/2006/main"/>
        </p:blipFill>
        <p:spPr>
          <a:xfrm xmlns:a="http://schemas.openxmlformats.org/drawingml/2006/main">
            <a:off x="5524500" y="2038350"/>
            <a:ext cx="6096000" cy="3333750"/>
          </a:xfrm>
          <a:prstGeom xmlns:a="http://schemas.openxmlformats.org/drawingml/2006/main" prst="roundRect">
            <a:avLst>
              <a:gd name="adj" fmla="val 1951"/>
            </a:avLst>
          </a:prstGeom>
        </p:spPr>
      </p:pic>
    </p:spTree>
    <p:extLst>
      <p:ext uri="{BB962C8B-B14F-4D97-AF65-F5344CB8AC3E}">
        <p14:creationId xmlns:p14="http://schemas.microsoft.com/office/powerpoint/2010/main" val="840494847"/>
      </p:ext>
    </p:extLst>
  </p:cSld>
</p:sld>
</file>

<file path=ppt/slides/slide3.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10C8FC9-6A69-436B-9024-EABD4CD85A9A}"/>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6686B19E-8A8A-4180-9722-FCABF7792145}"/>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RESEARCH INSIGHT</a:t>
            </a:r>
          </a:p>
        </p:txBody>
      </p:sp>
      <p:sp>
        <p:nvSpPr>
          <p:cNvPr id="3" name="">
            <a:extLst xmlns:a="http://schemas.openxmlformats.org/drawingml/2006/main">
              <a:ext uri="{FF2B5EF4-FFF2-40B4-BE49-F238E27FC236}">
                <a16:creationId xmlns:a16="http://schemas.microsoft.com/office/drawing/2014/main" id="{7C9CB490-32FF-48DF-938B-B3EA38633F40}"/>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C69F17E9-19B6-4FB2-857D-D1D6FFB99F44}"/>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The preparation gap becomes the photographer’s workload</a:t>
            </a:r>
          </a:p>
        </p:txBody>
      </p:sp>
      <p:sp>
        <p:nvSpPr>
          <p:cNvPr id="5" name="">
            <a:extLst xmlns:a="http://schemas.openxmlformats.org/drawingml/2006/main">
              <a:ext uri="{FF2B5EF4-FFF2-40B4-BE49-F238E27FC236}">
                <a16:creationId xmlns:a16="http://schemas.microsoft.com/office/drawing/2014/main" id="{AB57BF4C-A06D-486D-8D7B-ADA88B16976B}"/>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RESEARCH SYNTHESIS</a:t>
            </a:r>
          </a:p>
        </p:txBody>
      </p:sp>
      <p:sp>
        <p:nvSpPr>
          <p:cNvPr id="6" name="">
            <a:extLst xmlns:a="http://schemas.openxmlformats.org/drawingml/2006/main">
              <a:ext uri="{FF2B5EF4-FFF2-40B4-BE49-F238E27FC236}">
                <a16:creationId xmlns:a16="http://schemas.microsoft.com/office/drawing/2014/main" id="{50A29CE7-7F86-47E8-A701-C1AD773FF8F4}"/>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4C36CC36-CE8E-4A46-BF71-EB131166F913}"/>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Sector research · UX mapping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cf9ceb5e34d49eb"/>
          <a:stretch xmlns:a="http://schemas.openxmlformats.org/drawingml/2006/main"/>
        </p:blipFill>
        <p:spPr>
          <a:xfrm xmlns:a="http://schemas.openxmlformats.org/drawingml/2006/main">
            <a:off x="552450" y="2169271"/>
            <a:ext cx="5334000" cy="3071909"/>
          </a:xfrm>
          <a:prstGeom xmlns:a="http://schemas.openxmlformats.org/drawingml/2006/main" prst="roundRect">
            <a:avLst>
              <a:gd name="adj" fmla="val 1961"/>
            </a:avLst>
          </a:prstGeom>
        </p:spPr>
      </p:pic>
      <p:sp>
        <p:nvSpPr>
          <p:cNvPr id="9" name="">
            <a:extLst xmlns:a="http://schemas.openxmlformats.org/drawingml/2006/main">
              <a:ext uri="{FF2B5EF4-FFF2-40B4-BE49-F238E27FC236}">
                <a16:creationId xmlns:a16="http://schemas.microsoft.com/office/drawing/2014/main" id="{FEB3DEF5-FD33-4AAD-9AC1-060C329372F9}"/>
              </a:ext>
            </a:extLst>
          </p:cNvPr>
          <p:cNvSpPr>
            <a:spLocks xmlns:a="http://schemas.openxmlformats.org/drawingml/2006/main" noGrp="1"/>
          </p:cNvSpPr>
          <p:nvPr/>
        </p:nvSpPr>
        <p:spPr>
          <a:xfrm xmlns:a="http://schemas.openxmlformats.org/drawingml/2006/main">
            <a:off x="6477000" y="2000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01</a:t>
            </a:r>
          </a:p>
        </p:txBody>
      </p:sp>
      <p:sp>
        <p:nvSpPr>
          <p:cNvPr id="10" name="">
            <a:extLst xmlns:a="http://schemas.openxmlformats.org/drawingml/2006/main">
              <a:ext uri="{FF2B5EF4-FFF2-40B4-BE49-F238E27FC236}">
                <a16:creationId xmlns:a16="http://schemas.microsoft.com/office/drawing/2014/main" id="{DDF10AAA-391C-4E1B-8A70-BD308B32ACF8}"/>
              </a:ext>
            </a:extLst>
          </p:cNvPr>
          <p:cNvSpPr>
            <a:spLocks xmlns:a="http://schemas.openxmlformats.org/drawingml/2006/main" noGrp="1"/>
          </p:cNvSpPr>
          <p:nvPr/>
        </p:nvSpPr>
        <p:spPr>
          <a:xfrm xmlns:a="http://schemas.openxmlformats.org/drawingml/2006/main">
            <a:off x="6915150" y="1971675"/>
            <a:ext cx="422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Client uncertainty</a:t>
            </a:r>
          </a:p>
        </p:txBody>
      </p:sp>
      <p:sp>
        <p:nvSpPr>
          <p:cNvPr id="11" name="">
            <a:extLst xmlns:a="http://schemas.openxmlformats.org/drawingml/2006/main">
              <a:ext uri="{FF2B5EF4-FFF2-40B4-BE49-F238E27FC236}">
                <a16:creationId xmlns:a16="http://schemas.microsoft.com/office/drawing/2014/main" id="{ACD81044-24DE-4317-8FF6-7DF53D158DC4}"/>
              </a:ext>
            </a:extLst>
          </p:cNvPr>
          <p:cNvSpPr>
            <a:spLocks xmlns:a="http://schemas.openxmlformats.org/drawingml/2006/main" noGrp="1"/>
          </p:cNvSpPr>
          <p:nvPr/>
        </p:nvSpPr>
        <p:spPr>
          <a:xfrm xmlns:a="http://schemas.openxmlformats.org/drawingml/2006/main">
            <a:off x="6915150" y="2286000"/>
            <a:ext cx="4229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What happens, what to prepare and how the remote shoot works.</a:t>
            </a:r>
          </a:p>
        </p:txBody>
      </p:sp>
      <p:sp>
        <p:nvSpPr>
          <p:cNvPr id="12" name="">
            <a:extLst xmlns:a="http://schemas.openxmlformats.org/drawingml/2006/main">
              <a:ext uri="{FF2B5EF4-FFF2-40B4-BE49-F238E27FC236}">
                <a16:creationId xmlns:a16="http://schemas.microsoft.com/office/drawing/2014/main" id="{55F02C39-F2ED-4185-9983-A2D940F7ED34}"/>
              </a:ext>
            </a:extLst>
          </p:cNvPr>
          <p:cNvSpPr>
            <a:spLocks xmlns:a="http://schemas.openxmlformats.org/drawingml/2006/main" noGrp="1"/>
          </p:cNvSpPr>
          <p:nvPr/>
        </p:nvSpPr>
        <p:spPr>
          <a:xfrm xmlns:a="http://schemas.openxmlformats.org/drawingml/2006/main">
            <a:off x="6477000" y="29527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02</a:t>
            </a:r>
          </a:p>
        </p:txBody>
      </p:sp>
      <p:sp>
        <p:nvSpPr>
          <p:cNvPr id="13" name="">
            <a:extLst xmlns:a="http://schemas.openxmlformats.org/drawingml/2006/main">
              <a:ext uri="{FF2B5EF4-FFF2-40B4-BE49-F238E27FC236}">
                <a16:creationId xmlns:a16="http://schemas.microsoft.com/office/drawing/2014/main" id="{D9AB5D58-134C-459A-A84E-CB0119B74259}"/>
              </a:ext>
            </a:extLst>
          </p:cNvPr>
          <p:cNvSpPr>
            <a:spLocks xmlns:a="http://schemas.openxmlformats.org/drawingml/2006/main" noGrp="1"/>
          </p:cNvSpPr>
          <p:nvPr/>
        </p:nvSpPr>
        <p:spPr>
          <a:xfrm xmlns:a="http://schemas.openxmlformats.org/drawingml/2006/main">
            <a:off x="6915150" y="2924175"/>
            <a:ext cx="422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Fragmented communication</a:t>
            </a:r>
          </a:p>
        </p:txBody>
      </p:sp>
      <p:sp>
        <p:nvSpPr>
          <p:cNvPr id="14" name="">
            <a:extLst xmlns:a="http://schemas.openxmlformats.org/drawingml/2006/main">
              <a:ext uri="{FF2B5EF4-FFF2-40B4-BE49-F238E27FC236}">
                <a16:creationId xmlns:a16="http://schemas.microsoft.com/office/drawing/2014/main" id="{0E7A574A-3864-43DD-BD84-08F719C2702F}"/>
              </a:ext>
            </a:extLst>
          </p:cNvPr>
          <p:cNvSpPr>
            <a:spLocks xmlns:a="http://schemas.openxmlformats.org/drawingml/2006/main" noGrp="1"/>
          </p:cNvSpPr>
          <p:nvPr/>
        </p:nvSpPr>
        <p:spPr>
          <a:xfrm xmlns:a="http://schemas.openxmlformats.org/drawingml/2006/main">
            <a:off x="6915150" y="3238500"/>
            <a:ext cx="4229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Creative references and logistics live across email, chat and calls.</a:t>
            </a:r>
          </a:p>
        </p:txBody>
      </p:sp>
      <p:sp>
        <p:nvSpPr>
          <p:cNvPr id="15" name="">
            <a:extLst xmlns:a="http://schemas.openxmlformats.org/drawingml/2006/main">
              <a:ext uri="{FF2B5EF4-FFF2-40B4-BE49-F238E27FC236}">
                <a16:creationId xmlns:a16="http://schemas.microsoft.com/office/drawing/2014/main" id="{0D9211EA-C434-46A4-A1A3-26D8413C33CF}"/>
              </a:ext>
            </a:extLst>
          </p:cNvPr>
          <p:cNvSpPr>
            <a:spLocks xmlns:a="http://schemas.openxmlformats.org/drawingml/2006/main" noGrp="1"/>
          </p:cNvSpPr>
          <p:nvPr/>
        </p:nvSpPr>
        <p:spPr>
          <a:xfrm xmlns:a="http://schemas.openxmlformats.org/drawingml/2006/main">
            <a:off x="6477000" y="3905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03</a:t>
            </a:r>
          </a:p>
        </p:txBody>
      </p:sp>
      <p:sp>
        <p:nvSpPr>
          <p:cNvPr id="16" name="">
            <a:extLst xmlns:a="http://schemas.openxmlformats.org/drawingml/2006/main">
              <a:ext uri="{FF2B5EF4-FFF2-40B4-BE49-F238E27FC236}">
                <a16:creationId xmlns:a16="http://schemas.microsoft.com/office/drawing/2014/main" id="{6BB2558A-CFD4-4BEF-BF17-6AB98E6EEAD4}"/>
              </a:ext>
            </a:extLst>
          </p:cNvPr>
          <p:cNvSpPr>
            <a:spLocks xmlns:a="http://schemas.openxmlformats.org/drawingml/2006/main" noGrp="1"/>
          </p:cNvSpPr>
          <p:nvPr/>
        </p:nvSpPr>
        <p:spPr>
          <a:xfrm xmlns:a="http://schemas.openxmlformats.org/drawingml/2006/main">
            <a:off x="6915150" y="3876675"/>
            <a:ext cx="422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Inconsistent readiness</a:t>
            </a:r>
          </a:p>
        </p:txBody>
      </p:sp>
      <p:sp>
        <p:nvSpPr>
          <p:cNvPr id="17" name="">
            <a:extLst xmlns:a="http://schemas.openxmlformats.org/drawingml/2006/main">
              <a:ext uri="{FF2B5EF4-FFF2-40B4-BE49-F238E27FC236}">
                <a16:creationId xmlns:a16="http://schemas.microsoft.com/office/drawing/2014/main" id="{78E796CB-ACBB-4B38-8D6F-4AC231B8E38A}"/>
              </a:ext>
            </a:extLst>
          </p:cNvPr>
          <p:cNvSpPr>
            <a:spLocks xmlns:a="http://schemas.openxmlformats.org/drawingml/2006/main" noGrp="1"/>
          </p:cNvSpPr>
          <p:nvPr/>
        </p:nvSpPr>
        <p:spPr>
          <a:xfrm xmlns:a="http://schemas.openxmlformats.org/drawingml/2006/main">
            <a:off x="6915150" y="4191000"/>
            <a:ext cx="4229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Missing details surface on shoot day, when they are expensive to solve.</a:t>
            </a:r>
          </a:p>
        </p:txBody>
      </p:sp>
    </p:spTree>
    <p:extLst>
      <p:ext uri="{BB962C8B-B14F-4D97-AF65-F5344CB8AC3E}">
        <p14:creationId xmlns:p14="http://schemas.microsoft.com/office/powerpoint/2010/main" val="878512079"/>
      </p:ext>
    </p:extLst>
  </p:cSld>
</p:sld>
</file>

<file path=ppt/slides/slide4.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A96E48-3F03-4413-B88A-570B2C600EDB}"/>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57D1F442-E049-40F7-85B9-FB80912EE5D7}"/>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SOLUTION</a:t>
            </a:r>
          </a:p>
        </p:txBody>
      </p:sp>
      <p:sp>
        <p:nvSpPr>
          <p:cNvPr id="3" name="">
            <a:extLst xmlns:a="http://schemas.openxmlformats.org/drawingml/2006/main">
              <a:ext uri="{FF2B5EF4-FFF2-40B4-BE49-F238E27FC236}">
                <a16:creationId xmlns:a16="http://schemas.microsoft.com/office/drawing/2014/main" id="{24B5AFC7-A5AA-4AF2-989E-CB4145A29E18}"/>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DA6EC048-2843-4456-8692-989030FCB3DC}"/>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MIRA turns scattered preparation into one guided path</a:t>
            </a:r>
          </a:p>
        </p:txBody>
      </p:sp>
      <p:sp>
        <p:nvSpPr>
          <p:cNvPr id="5" name="">
            <a:extLst xmlns:a="http://schemas.openxmlformats.org/drawingml/2006/main">
              <a:ext uri="{FF2B5EF4-FFF2-40B4-BE49-F238E27FC236}">
                <a16:creationId xmlns:a16="http://schemas.microsoft.com/office/drawing/2014/main" id="{2A636E80-FABD-4365-A809-C2048FBCEED6}"/>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DESIGNED FLOW</a:t>
            </a:r>
          </a:p>
        </p:txBody>
      </p:sp>
      <p:sp>
        <p:nvSpPr>
          <p:cNvPr id="6" name="">
            <a:extLst xmlns:a="http://schemas.openxmlformats.org/drawingml/2006/main">
              <a:ext uri="{FF2B5EF4-FFF2-40B4-BE49-F238E27FC236}">
                <a16:creationId xmlns:a16="http://schemas.microsoft.com/office/drawing/2014/main" id="{7095CE81-C37B-46E3-AE6C-C770557E67E8}"/>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A5D1C486-A92A-4FB4-93D5-9EC9C924DCBA}"/>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Manus · React · TypeScript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1284ace4fbc48ed"/>
          <a:stretch xmlns:a="http://schemas.openxmlformats.org/drawingml/2006/main"/>
        </p:blipFill>
        <p:spPr>
          <a:xfrm xmlns:a="http://schemas.openxmlformats.org/drawingml/2006/main">
            <a:off x="1963933" y="1714500"/>
            <a:ext cx="8264134" cy="4095750"/>
          </a:xfrm>
          <a:prstGeom xmlns:a="http://schemas.openxmlformats.org/drawingml/2006/main" prst="roundRect">
            <a:avLst>
              <a:gd name="adj" fmla="val 1860"/>
            </a:avLst>
          </a:prstGeom>
        </p:spPr>
      </p:pic>
    </p:spTree>
    <p:extLst>
      <p:ext uri="{BB962C8B-B14F-4D97-AF65-F5344CB8AC3E}">
        <p14:creationId xmlns:p14="http://schemas.microsoft.com/office/powerpoint/2010/main" val="1574099126"/>
      </p:ext>
    </p:extLst>
  </p:cSld>
</p:sld>
</file>

<file path=ppt/slides/slide5.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9B55C6-8DC1-4837-8E29-0F4ED9E193F0}"/>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3995F757-C9BF-4B89-B9F0-040AB5A256F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SOLUTION DESIGN</a:t>
            </a:r>
          </a:p>
        </p:txBody>
      </p:sp>
      <p:sp>
        <p:nvSpPr>
          <p:cNvPr id="3" name="">
            <a:extLst xmlns:a="http://schemas.openxmlformats.org/drawingml/2006/main">
              <a:ext uri="{FF2B5EF4-FFF2-40B4-BE49-F238E27FC236}">
                <a16:creationId xmlns:a16="http://schemas.microsoft.com/office/drawing/2014/main" id="{A9D9F6B8-1C12-4847-B9BA-337DBA2F02A8}"/>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6B187B10-4B60-464C-AD8F-65E7534C76D0}"/>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AI is used only where interpretation adds value</a:t>
            </a:r>
          </a:p>
        </p:txBody>
      </p:sp>
      <p:sp>
        <p:nvSpPr>
          <p:cNvPr id="5" name="">
            <a:extLst xmlns:a="http://schemas.openxmlformats.org/drawingml/2006/main">
              <a:ext uri="{FF2B5EF4-FFF2-40B4-BE49-F238E27FC236}">
                <a16:creationId xmlns:a16="http://schemas.microsoft.com/office/drawing/2014/main" id="{63F2A1E1-4635-401C-B0CE-66CC261585D2}"/>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ARCHITECTURE</a:t>
            </a:r>
          </a:p>
        </p:txBody>
      </p:sp>
      <p:sp>
        <p:nvSpPr>
          <p:cNvPr id="6" name="">
            <a:extLst xmlns:a="http://schemas.openxmlformats.org/drawingml/2006/main">
              <a:ext uri="{FF2B5EF4-FFF2-40B4-BE49-F238E27FC236}">
                <a16:creationId xmlns:a16="http://schemas.microsoft.com/office/drawing/2014/main" id="{EE90B145-3517-4EC5-9151-8F8AE75F09F1}"/>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1018BA55-0E3B-4375-9725-5E8045407D56}"/>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LLM concept · React · Express</a:t>
            </a:r>
          </a:p>
        </p:txBody>
      </p:sp>
      <p:sp>
        <p:nvSpPr>
          <p:cNvPr id="8" name="">
            <a:extLst xmlns:a="http://schemas.openxmlformats.org/drawingml/2006/main">
              <a:ext uri="{FF2B5EF4-FFF2-40B4-BE49-F238E27FC236}">
                <a16:creationId xmlns:a16="http://schemas.microsoft.com/office/drawing/2014/main" id="{2DB5CAC8-B429-4284-BCE4-00868FB083F5}"/>
              </a:ext>
            </a:extLst>
          </p:cNvPr>
          <p:cNvSpPr>
            <a:spLocks xmlns:a="http://schemas.openxmlformats.org/drawingml/2006/main" noGrp="1"/>
          </p:cNvSpPr>
          <p:nvPr/>
        </p:nvSpPr>
        <p:spPr>
          <a:xfrm xmlns:a="http://schemas.openxmlformats.org/drawingml/2006/main">
            <a:off x="571500" y="1809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AI LAYER</a:t>
            </a:r>
          </a:p>
        </p:txBody>
      </p:sp>
      <p:sp>
        <p:nvSpPr>
          <p:cNvPr id="9" name="">
            <a:extLst xmlns:a="http://schemas.openxmlformats.org/drawingml/2006/main">
              <a:ext uri="{FF2B5EF4-FFF2-40B4-BE49-F238E27FC236}">
                <a16:creationId xmlns:a16="http://schemas.microsoft.com/office/drawing/2014/main" id="{BFA6064D-076D-4E2C-ADAB-56FD588F0C48}"/>
              </a:ext>
            </a:extLst>
          </p:cNvPr>
          <p:cNvSpPr>
            <a:spLocks xmlns:a="http://schemas.openxmlformats.org/drawingml/2006/main" noGrp="1"/>
          </p:cNvSpPr>
          <p:nvPr/>
        </p:nvSpPr>
        <p:spPr>
          <a:xfrm xmlns:a="http://schemas.openxmlformats.org/drawingml/2006/main">
            <a:off x="571500" y="2238375"/>
            <a:ext cx="4857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025" b="0" i="0">
                <a:solidFill>
                  <a:srgbClr val="F1E8DA"/>
                </a:solidFill>
              </a:defRPr>
            </a:pPr>
            <a:r>
              <a:rPr sz="2025" b="0" i="0">
                <a:solidFill>
                  <a:srgbClr val="F1E8DA"/>
                </a:solidFill>
              </a:rPr>
              <a:t>Adaptive conversation</a:t>
            </a:r>
          </a:p>
          <a:p xmlns:a="http://schemas.openxmlformats.org/drawingml/2006/main">
            <a:pPr algn="l">
              <a:lnSpc>
                <a:spcPct val="108000"/>
              </a:lnSpc>
              <a:buNone/>
              <a:defRPr sz="2025" b="0" i="0">
                <a:solidFill>
                  <a:srgbClr val="F1E8DA"/>
                </a:solidFill>
              </a:defRPr>
            </a:pPr>
            <a:r>
              <a:rPr sz="2025" b="0" i="0">
                <a:solidFill>
                  <a:srgbClr val="F1E8DA"/>
                </a:solidFill>
              </a:rPr>
              <a:t>Interpret qualitative answers</a:t>
            </a:r>
          </a:p>
          <a:p xmlns:a="http://schemas.openxmlformats.org/drawingml/2006/main">
            <a:pPr algn="l">
              <a:lnSpc>
                <a:spcPct val="108000"/>
              </a:lnSpc>
              <a:buNone/>
              <a:defRPr sz="2025" b="0" i="0">
                <a:solidFill>
                  <a:srgbClr val="F1E8DA"/>
                </a:solidFill>
              </a:defRPr>
            </a:pPr>
            <a:r>
              <a:rPr sz="2025" b="0" i="0">
                <a:solidFill>
                  <a:srgbClr val="F1E8DA"/>
                </a:solidFill>
              </a:rPr>
              <a:t>Synthesize creative direction</a:t>
            </a:r>
          </a:p>
          <a:p xmlns:a="http://schemas.openxmlformats.org/drawingml/2006/main">
            <a:pPr algn="l">
              <a:lnSpc>
                <a:spcPct val="108000"/>
              </a:lnSpc>
              <a:buNone/>
              <a:defRPr sz="2025" b="0" i="0">
                <a:solidFill>
                  <a:srgbClr val="F1E8DA"/>
                </a:solidFill>
              </a:defRPr>
            </a:pPr>
            <a:r>
              <a:rPr sz="2025" b="0" i="0">
                <a:solidFill>
                  <a:srgbClr val="F1E8DA"/>
                </a:solidFill>
              </a:rPr>
              <a:t>Translate references into moodboard prompts</a:t>
            </a:r>
          </a:p>
        </p:txBody>
      </p:sp>
      <p:sp>
        <p:nvSpPr>
          <p:cNvPr id="10" name="">
            <a:extLst xmlns:a="http://schemas.openxmlformats.org/drawingml/2006/main">
              <a:ext uri="{FF2B5EF4-FFF2-40B4-BE49-F238E27FC236}">
                <a16:creationId xmlns:a16="http://schemas.microsoft.com/office/drawing/2014/main" id="{0E06FBAA-CD1B-4596-B38E-FC9988FDE096}"/>
              </a:ext>
            </a:extLst>
          </p:cNvPr>
          <p:cNvSpPr>
            <a:spLocks xmlns:a="http://schemas.openxmlformats.org/drawingml/2006/main" noGrp="1"/>
          </p:cNvSpPr>
          <p:nvPr/>
        </p:nvSpPr>
        <p:spPr>
          <a:xfrm xmlns:a="http://schemas.openxmlformats.org/drawingml/2006/main">
            <a:off x="5953125" y="1762125"/>
            <a:ext cx="0" cy="3714750"/>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11" name="">
            <a:extLst xmlns:a="http://schemas.openxmlformats.org/drawingml/2006/main">
              <a:ext uri="{FF2B5EF4-FFF2-40B4-BE49-F238E27FC236}">
                <a16:creationId xmlns:a16="http://schemas.microsoft.com/office/drawing/2014/main" id="{0EAA7D54-870A-4D8C-97FC-8779DF143E17}"/>
              </a:ext>
            </a:extLst>
          </p:cNvPr>
          <p:cNvSpPr>
            <a:spLocks xmlns:a="http://schemas.openxmlformats.org/drawingml/2006/main" noGrp="1"/>
          </p:cNvSpPr>
          <p:nvPr/>
        </p:nvSpPr>
        <p:spPr>
          <a:xfrm xmlns:a="http://schemas.openxmlformats.org/drawingml/2006/main">
            <a:off x="6477000" y="1809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DETERMINISTIC LAYER</a:t>
            </a:r>
          </a:p>
        </p:txBody>
      </p:sp>
      <p:sp>
        <p:nvSpPr>
          <p:cNvPr id="12" name="">
            <a:extLst xmlns:a="http://schemas.openxmlformats.org/drawingml/2006/main">
              <a:ext uri="{FF2B5EF4-FFF2-40B4-BE49-F238E27FC236}">
                <a16:creationId xmlns:a16="http://schemas.microsoft.com/office/drawing/2014/main" id="{6EB5F840-BED1-48CB-B624-E52B1F1798D2}"/>
              </a:ext>
            </a:extLst>
          </p:cNvPr>
          <p:cNvSpPr>
            <a:spLocks xmlns:a="http://schemas.openxmlformats.org/drawingml/2006/main" noGrp="1"/>
          </p:cNvSpPr>
          <p:nvPr/>
        </p:nvSpPr>
        <p:spPr>
          <a:xfrm xmlns:a="http://schemas.openxmlformats.org/drawingml/2006/main">
            <a:off x="6477000" y="2238375"/>
            <a:ext cx="476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025" b="0" i="0">
                <a:solidFill>
                  <a:srgbClr val="F1E8DA"/>
                </a:solidFill>
              </a:defRPr>
            </a:pPr>
            <a:r>
              <a:rPr sz="2025" b="0" i="0">
                <a:solidFill>
                  <a:srgbClr val="F1E8DA"/>
                </a:solidFill>
              </a:rPr>
              <a:t>Account and authentication</a:t>
            </a:r>
          </a:p>
          <a:p xmlns:a="http://schemas.openxmlformats.org/drawingml/2006/main">
            <a:pPr algn="l">
              <a:lnSpc>
                <a:spcPct val="108000"/>
              </a:lnSpc>
              <a:buNone/>
              <a:defRPr sz="2025" b="0" i="0">
                <a:solidFill>
                  <a:srgbClr val="F1E8DA"/>
                </a:solidFill>
              </a:defRPr>
            </a:pPr>
            <a:r>
              <a:rPr sz="2025" b="0" i="0">
                <a:solidFill>
                  <a:srgbClr val="F1E8DA"/>
                </a:solidFill>
              </a:rPr>
              <a:t>Payments and access control</a:t>
            </a:r>
          </a:p>
          <a:p xmlns:a="http://schemas.openxmlformats.org/drawingml/2006/main">
            <a:pPr algn="l">
              <a:lnSpc>
                <a:spcPct val="108000"/>
              </a:lnSpc>
              <a:buNone/>
              <a:defRPr sz="2025" b="0" i="0">
                <a:solidFill>
                  <a:srgbClr val="F1E8DA"/>
                </a:solidFill>
              </a:defRPr>
            </a:pPr>
            <a:r>
              <a:rPr sz="2025" b="0" i="0">
                <a:solidFill>
                  <a:srgbClr val="F1E8DA"/>
                </a:solidFill>
              </a:rPr>
              <a:t>Invitations and consent</a:t>
            </a:r>
          </a:p>
          <a:p xmlns:a="http://schemas.openxmlformats.org/drawingml/2006/main">
            <a:pPr algn="l">
              <a:lnSpc>
                <a:spcPct val="108000"/>
              </a:lnSpc>
              <a:buNone/>
              <a:defRPr sz="2025" b="0" i="0">
                <a:solidFill>
                  <a:srgbClr val="F1E8DA"/>
                </a:solidFill>
              </a:defRPr>
            </a:pPr>
            <a:r>
              <a:rPr sz="2025" b="0" i="0">
                <a:solidFill>
                  <a:srgbClr val="F1E8DA"/>
                </a:solidFill>
              </a:rPr>
              <a:t>Storage, email and status tracking</a:t>
            </a:r>
          </a:p>
        </p:txBody>
      </p:sp>
      <p:sp>
        <p:nvSpPr>
          <p:cNvPr id="13" name="">
            <a:extLst xmlns:a="http://schemas.openxmlformats.org/drawingml/2006/main">
              <a:ext uri="{FF2B5EF4-FFF2-40B4-BE49-F238E27FC236}">
                <a16:creationId xmlns:a16="http://schemas.microsoft.com/office/drawing/2014/main" id="{80FD0FB1-56BA-47D0-B75C-C673E106ABDB}"/>
              </a:ext>
            </a:extLst>
          </p:cNvPr>
          <p:cNvSpPr>
            <a:spLocks xmlns:a="http://schemas.openxmlformats.org/drawingml/2006/main" noGrp="1"/>
          </p:cNvSpPr>
          <p:nvPr/>
        </p:nvSpPr>
        <p:spPr>
          <a:xfrm xmlns:a="http://schemas.openxmlformats.org/drawingml/2006/main">
            <a:off x="6477000" y="48101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275" b="0" i="1">
                <a:solidFill>
                  <a:srgbClr val="BDB5AA"/>
                </a:solidFill>
              </a:defRPr>
            </a:pPr>
            <a:r>
              <a:rPr sz="1275" b="0" i="1">
                <a:solidFill>
                  <a:srgbClr val="BDB5AA"/>
                </a:solidFill>
              </a:rPr>
              <a:t>Human review remains the final creative decision.</a:t>
            </a:r>
          </a:p>
        </p:txBody>
      </p:sp>
    </p:spTree>
    <p:extLst>
      <p:ext uri="{BB962C8B-B14F-4D97-AF65-F5344CB8AC3E}">
        <p14:creationId xmlns:p14="http://schemas.microsoft.com/office/powerpoint/2010/main" val="645287583"/>
      </p:ext>
    </p:extLst>
  </p:cSld>
</p:sld>
</file>

<file path=ppt/slides/slide6.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2E61831-002B-4D59-AFEC-682390694577}"/>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896726F5-1B65-43D4-8FC6-6292D996447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97B"/>
                </a:solidFill>
              </a:defRPr>
            </a:pPr>
            <a:r>
              <a:rPr sz="825" b="1" i="0">
                <a:solidFill>
                  <a:srgbClr val="D7B97B"/>
                </a:solidFill>
              </a:rPr>
              <a:t>CLIENT PREPARATION SYSTEM</a:t>
            </a:r>
          </a:p>
        </p:txBody>
      </p:sp>
      <p:sp>
        <p:nvSpPr>
          <p:cNvPr id="3" name="">
            <a:extLst xmlns:a="http://schemas.openxmlformats.org/drawingml/2006/main">
              <a:ext uri="{FF2B5EF4-FFF2-40B4-BE49-F238E27FC236}">
                <a16:creationId xmlns:a16="http://schemas.microsoft.com/office/drawing/2014/main" id="{F33F9081-6099-432B-8FDA-F0D174BA943B}"/>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0B502B00-D24C-45E9-89CB-B1B59DB07CAA}"/>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250" b="0" i="0">
                <a:solidFill>
                  <a:srgbClr val="F1EBE2"/>
                </a:solidFill>
              </a:defRPr>
            </a:pPr>
            <a:r>
              <a:rPr sz="2250" b="0" i="0">
                <a:solidFill>
                  <a:srgbClr val="F1EBE2"/>
                </a:solidFill>
              </a:rPr>
              <a:t>ONE LINK. A FULLY PREPARED CLIENT.</a:t>
            </a:r>
          </a:p>
        </p:txBody>
      </p:sp>
      <p:sp>
        <p:nvSpPr>
          <p:cNvPr id="5" name="">
            <a:extLst xmlns:a="http://schemas.openxmlformats.org/drawingml/2006/main">
              <a:ext uri="{FF2B5EF4-FFF2-40B4-BE49-F238E27FC236}">
                <a16:creationId xmlns:a16="http://schemas.microsoft.com/office/drawing/2014/main" id="{838B1081-EBFA-490F-9224-DCA7FE84F4AF}"/>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D7B97B"/>
                </a:solidFill>
              </a:defRPr>
            </a:pPr>
            <a:r>
              <a:rPr sz="750" b="1" i="0">
                <a:solidFill>
                  <a:srgbClr val="D7B97B"/>
                </a:solidFill>
              </a:rPr>
              <a:t>ADAPTIVE JOURNEY</a:t>
            </a:r>
          </a:p>
        </p:txBody>
      </p:sp>
      <p:sp>
        <p:nvSpPr>
          <p:cNvPr id="6" name="">
            <a:extLst xmlns:a="http://schemas.openxmlformats.org/drawingml/2006/main">
              <a:ext uri="{FF2B5EF4-FFF2-40B4-BE49-F238E27FC236}">
                <a16:creationId xmlns:a16="http://schemas.microsoft.com/office/drawing/2014/main" id="{0014462F-2B00-44FC-9A27-107AB88D2D79}"/>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FC221542-4DA7-4FB8-962D-41BC290889C8}"/>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675" b="1" i="0">
                <a:solidFill>
                  <a:srgbClr val="B8B0A6"/>
                </a:solidFill>
              </a:defRPr>
            </a:pPr>
            <a:r>
              <a:rPr sz="675" b="1" i="0">
                <a:solidFill>
                  <a:srgbClr val="B8B0A6"/>
                </a:solidFill>
              </a:rPr>
              <a:t>TOOLS · Stripe · Resend · OpenAI Realtime · LangSmith · n8n · React/TypeScript · Photographer approval</a:t>
            </a:r>
          </a:p>
        </p:txBody>
      </p:sp>
      <p:sp>
        <p:nvSpPr>
          <p:cNvPr id="8" name="">
            <a:extLst xmlns:a="http://schemas.openxmlformats.org/drawingml/2006/main">
              <a:ext uri="{FF2B5EF4-FFF2-40B4-BE49-F238E27FC236}">
                <a16:creationId xmlns:a16="http://schemas.microsoft.com/office/drawing/2014/main" id="{82D2C4DC-5955-47B8-ABA2-1B7C6E534A1D}"/>
              </a:ext>
            </a:extLst>
          </p:cNvPr>
          <p:cNvSpPr>
            <a:spLocks xmlns:a="http://schemas.openxmlformats.org/drawingml/2006/main" noGrp="1"/>
          </p:cNvSpPr>
          <p:nvPr/>
        </p:nvSpPr>
        <p:spPr>
          <a:xfrm xmlns:a="http://schemas.openxmlformats.org/drawingml/2006/main">
            <a:off x="552450" y="195262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01  CREATE SHOOT</a:t>
            </a:r>
          </a:p>
          <a:p xmlns:a="http://schemas.openxmlformats.org/drawingml/2006/main">
            <a:pPr algn="l">
              <a:lnSpc>
                <a:spcPct val="108000"/>
              </a:lnSpc>
              <a:buNone/>
              <a:defRPr sz="900" b="1" i="0">
                <a:solidFill>
                  <a:srgbClr val="F1EBE2"/>
                </a:solidFill>
              </a:defRPr>
            </a:pPr>
            <a:r>
              <a:rPr sz="900" b="1" i="0">
                <a:solidFill>
                  <a:srgbClr val="F1EBE2"/>
                </a:solidFill>
              </a:rPr>
              <a:t>React/TypeScript</a:t>
            </a:r>
          </a:p>
        </p:txBody>
      </p:sp>
      <p:sp>
        <p:nvSpPr>
          <p:cNvPr id="9" name="">
            <a:extLst xmlns:a="http://schemas.openxmlformats.org/drawingml/2006/main">
              <a:ext uri="{FF2B5EF4-FFF2-40B4-BE49-F238E27FC236}">
                <a16:creationId xmlns:a16="http://schemas.microsoft.com/office/drawing/2014/main" id="{28DF2E81-E406-4229-9F01-6B93DFD9AABF}"/>
              </a:ext>
            </a:extLst>
          </p:cNvPr>
          <p:cNvSpPr>
            <a:spLocks xmlns:a="http://schemas.openxmlformats.org/drawingml/2006/main" noGrp="1"/>
          </p:cNvSpPr>
          <p:nvPr/>
        </p:nvSpPr>
        <p:spPr>
          <a:xfrm xmlns:a="http://schemas.openxmlformats.org/drawingml/2006/main">
            <a:off x="2762250" y="195262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02  SEND PRIVATE LINK</a:t>
            </a:r>
          </a:p>
          <a:p xmlns:a="http://schemas.openxmlformats.org/drawingml/2006/main">
            <a:pPr algn="l">
              <a:lnSpc>
                <a:spcPct val="108000"/>
              </a:lnSpc>
              <a:buNone/>
              <a:defRPr sz="900" b="1" i="0">
                <a:solidFill>
                  <a:srgbClr val="F1EBE2"/>
                </a:solidFill>
              </a:defRPr>
            </a:pPr>
            <a:r>
              <a:rPr sz="900" b="1" i="0">
                <a:solidFill>
                  <a:srgbClr val="F1EBE2"/>
                </a:solidFill>
              </a:rPr>
              <a:t>Resend · IN IMPLEMENTATION</a:t>
            </a:r>
          </a:p>
        </p:txBody>
      </p:sp>
      <p:sp>
        <p:nvSpPr>
          <p:cNvPr id="10" name="">
            <a:extLst xmlns:a="http://schemas.openxmlformats.org/drawingml/2006/main">
              <a:ext uri="{FF2B5EF4-FFF2-40B4-BE49-F238E27FC236}">
                <a16:creationId xmlns:a16="http://schemas.microsoft.com/office/drawing/2014/main" id="{AB1123D2-EBD6-4237-B61E-BCF3909C26E8}"/>
              </a:ext>
            </a:extLst>
          </p:cNvPr>
          <p:cNvSpPr>
            <a:spLocks xmlns:a="http://schemas.openxmlformats.org/drawingml/2006/main" noGrp="1"/>
          </p:cNvSpPr>
          <p:nvPr/>
        </p:nvSpPr>
        <p:spPr>
          <a:xfrm xmlns:a="http://schemas.openxmlformats.org/drawingml/2006/main">
            <a:off x="4972050" y="195262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03  FIVE REFERENCES</a:t>
            </a:r>
          </a:p>
          <a:p xmlns:a="http://schemas.openxmlformats.org/drawingml/2006/main">
            <a:pPr algn="l">
              <a:lnSpc>
                <a:spcPct val="108000"/>
              </a:lnSpc>
              <a:buNone/>
              <a:defRPr sz="900" b="1" i="0">
                <a:solidFill>
                  <a:srgbClr val="F1EBE2"/>
                </a:solidFill>
              </a:defRPr>
            </a:pPr>
            <a:r>
              <a:rPr sz="900" b="1" i="0">
                <a:solidFill>
                  <a:srgbClr val="F1EBE2"/>
                </a:solidFill>
              </a:rPr>
              <a:t>Client upload</a:t>
            </a:r>
          </a:p>
        </p:txBody>
      </p:sp>
      <p:sp>
        <p:nvSpPr>
          <p:cNvPr id="11" name="">
            <a:extLst xmlns:a="http://schemas.openxmlformats.org/drawingml/2006/main">
              <a:ext uri="{FF2B5EF4-FFF2-40B4-BE49-F238E27FC236}">
                <a16:creationId xmlns:a16="http://schemas.microsoft.com/office/drawing/2014/main" id="{CE5C66EB-7602-4236-A9D9-3DDD1FBC5E10}"/>
              </a:ext>
            </a:extLst>
          </p:cNvPr>
          <p:cNvSpPr>
            <a:spLocks xmlns:a="http://schemas.openxmlformats.org/drawingml/2006/main" noGrp="1"/>
          </p:cNvSpPr>
          <p:nvPr/>
        </p:nvSpPr>
        <p:spPr>
          <a:xfrm xmlns:a="http://schemas.openxmlformats.org/drawingml/2006/main">
            <a:off x="2505075" y="2152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12" name="">
            <a:extLst xmlns:a="http://schemas.openxmlformats.org/drawingml/2006/main">
              <a:ext uri="{FF2B5EF4-FFF2-40B4-BE49-F238E27FC236}">
                <a16:creationId xmlns:a16="http://schemas.microsoft.com/office/drawing/2014/main" id="{E0EDA47F-565D-4E0C-986E-A6CB88C0F57B}"/>
              </a:ext>
            </a:extLst>
          </p:cNvPr>
          <p:cNvSpPr>
            <a:spLocks xmlns:a="http://schemas.openxmlformats.org/drawingml/2006/main" noGrp="1"/>
          </p:cNvSpPr>
          <p:nvPr/>
        </p:nvSpPr>
        <p:spPr>
          <a:xfrm xmlns:a="http://schemas.openxmlformats.org/drawingml/2006/main">
            <a:off x="7181850" y="195262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04  VISUAL TEST</a:t>
            </a:r>
          </a:p>
          <a:p xmlns:a="http://schemas.openxmlformats.org/drawingml/2006/main">
            <a:pPr algn="l">
              <a:lnSpc>
                <a:spcPct val="108000"/>
              </a:lnSpc>
              <a:buNone/>
              <a:defRPr sz="900" b="1" i="0">
                <a:solidFill>
                  <a:srgbClr val="F1EBE2"/>
                </a:solidFill>
              </a:defRPr>
            </a:pPr>
            <a:r>
              <a:rPr sz="900" b="1" i="0">
                <a:solidFill>
                  <a:srgbClr val="F1EBE2"/>
                </a:solidFill>
              </a:rPr>
              <a:t>Existing preference test</a:t>
            </a:r>
          </a:p>
        </p:txBody>
      </p:sp>
      <p:sp>
        <p:nvSpPr>
          <p:cNvPr id="13" name="">
            <a:extLst xmlns:a="http://schemas.openxmlformats.org/drawingml/2006/main">
              <a:ext uri="{FF2B5EF4-FFF2-40B4-BE49-F238E27FC236}">
                <a16:creationId xmlns:a16="http://schemas.microsoft.com/office/drawing/2014/main" id="{86683558-C010-4C5D-B371-6AE0424D4C7A}"/>
              </a:ext>
            </a:extLst>
          </p:cNvPr>
          <p:cNvSpPr>
            <a:spLocks xmlns:a="http://schemas.openxmlformats.org/drawingml/2006/main" noGrp="1"/>
          </p:cNvSpPr>
          <p:nvPr/>
        </p:nvSpPr>
        <p:spPr>
          <a:xfrm xmlns:a="http://schemas.openxmlformats.org/drawingml/2006/main">
            <a:off x="9391650" y="195262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05  VOICE PREP</a:t>
            </a:r>
          </a:p>
          <a:p xmlns:a="http://schemas.openxmlformats.org/drawingml/2006/main">
            <a:pPr algn="l">
              <a:lnSpc>
                <a:spcPct val="108000"/>
              </a:lnSpc>
              <a:buNone/>
              <a:defRPr sz="900" b="1" i="0">
                <a:solidFill>
                  <a:srgbClr val="F1EBE2"/>
                </a:solidFill>
              </a:defRPr>
            </a:pPr>
            <a:r>
              <a:rPr sz="900" b="1" i="0">
                <a:solidFill>
                  <a:srgbClr val="F1EBE2"/>
                </a:solidFill>
              </a:rPr>
              <a:t>Realtime · IN IMPLEMENTATION</a:t>
            </a:r>
          </a:p>
        </p:txBody>
      </p:sp>
      <p:sp>
        <p:nvSpPr>
          <p:cNvPr id="14" name="">
            <a:extLst xmlns:a="http://schemas.openxmlformats.org/drawingml/2006/main">
              <a:ext uri="{FF2B5EF4-FFF2-40B4-BE49-F238E27FC236}">
                <a16:creationId xmlns:a16="http://schemas.microsoft.com/office/drawing/2014/main" id="{8D156525-4667-48FD-9146-DBFB557CA4BE}"/>
              </a:ext>
            </a:extLst>
          </p:cNvPr>
          <p:cNvSpPr>
            <a:spLocks xmlns:a="http://schemas.openxmlformats.org/drawingml/2006/main" noGrp="1"/>
          </p:cNvSpPr>
          <p:nvPr/>
        </p:nvSpPr>
        <p:spPr>
          <a:xfrm xmlns:a="http://schemas.openxmlformats.org/drawingml/2006/main">
            <a:off x="9391650" y="300037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06  CREATIVE DNA</a:t>
            </a:r>
          </a:p>
          <a:p xmlns:a="http://schemas.openxmlformats.org/drawingml/2006/main">
            <a:pPr algn="l">
              <a:lnSpc>
                <a:spcPct val="108000"/>
              </a:lnSpc>
              <a:buNone/>
              <a:defRPr sz="900" b="1" i="0">
                <a:solidFill>
                  <a:srgbClr val="F1EBE2"/>
                </a:solidFill>
              </a:defRPr>
            </a:pPr>
            <a:r>
              <a:rPr sz="900" b="1" i="0">
                <a:solidFill>
                  <a:srgbClr val="F1EBE2"/>
                </a:solidFill>
              </a:rPr>
              <a:t>Structured synthesis</a:t>
            </a:r>
          </a:p>
        </p:txBody>
      </p:sp>
      <p:sp>
        <p:nvSpPr>
          <p:cNvPr id="15" name="">
            <a:extLst xmlns:a="http://schemas.openxmlformats.org/drawingml/2006/main">
              <a:ext uri="{FF2B5EF4-FFF2-40B4-BE49-F238E27FC236}">
                <a16:creationId xmlns:a16="http://schemas.microsoft.com/office/drawing/2014/main" id="{65B9B4B8-12A1-4058-B3A4-9F751D1EBEFF}"/>
              </a:ext>
            </a:extLst>
          </p:cNvPr>
          <p:cNvSpPr>
            <a:spLocks xmlns:a="http://schemas.openxmlformats.org/drawingml/2006/main" noGrp="1"/>
          </p:cNvSpPr>
          <p:nvPr/>
        </p:nvSpPr>
        <p:spPr>
          <a:xfrm xmlns:a="http://schemas.openxmlformats.org/drawingml/2006/main">
            <a:off x="4714875" y="2152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16" name="">
            <a:extLst xmlns:a="http://schemas.openxmlformats.org/drawingml/2006/main">
              <a:ext uri="{FF2B5EF4-FFF2-40B4-BE49-F238E27FC236}">
                <a16:creationId xmlns:a16="http://schemas.microsoft.com/office/drawing/2014/main" id="{353F5846-F131-407B-AA1B-1CEB758DE262}"/>
              </a:ext>
            </a:extLst>
          </p:cNvPr>
          <p:cNvSpPr>
            <a:spLocks xmlns:a="http://schemas.openxmlformats.org/drawingml/2006/main" noGrp="1"/>
          </p:cNvSpPr>
          <p:nvPr/>
        </p:nvSpPr>
        <p:spPr>
          <a:xfrm xmlns:a="http://schemas.openxmlformats.org/drawingml/2006/main">
            <a:off x="7181850" y="300037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07  ORCHESTRATE</a:t>
            </a:r>
          </a:p>
          <a:p xmlns:a="http://schemas.openxmlformats.org/drawingml/2006/main">
            <a:pPr algn="l">
              <a:lnSpc>
                <a:spcPct val="108000"/>
              </a:lnSpc>
              <a:buNone/>
              <a:defRPr sz="900" b="1" i="0">
                <a:solidFill>
                  <a:srgbClr val="F1EBE2"/>
                </a:solidFill>
              </a:defRPr>
            </a:pPr>
            <a:r>
              <a:rPr sz="900" b="1" i="0">
                <a:solidFill>
                  <a:srgbClr val="F1EBE2"/>
                </a:solidFill>
              </a:rPr>
              <a:t>n8n · PARTIAL</a:t>
            </a:r>
          </a:p>
        </p:txBody>
      </p:sp>
      <p:sp>
        <p:nvSpPr>
          <p:cNvPr id="17" name="">
            <a:extLst xmlns:a="http://schemas.openxmlformats.org/drawingml/2006/main">
              <a:ext uri="{FF2B5EF4-FFF2-40B4-BE49-F238E27FC236}">
                <a16:creationId xmlns:a16="http://schemas.microsoft.com/office/drawing/2014/main" id="{A116F639-9C65-49AC-B9A8-29125A95E793}"/>
              </a:ext>
            </a:extLst>
          </p:cNvPr>
          <p:cNvSpPr>
            <a:spLocks xmlns:a="http://schemas.openxmlformats.org/drawingml/2006/main" noGrp="1"/>
          </p:cNvSpPr>
          <p:nvPr/>
        </p:nvSpPr>
        <p:spPr>
          <a:xfrm xmlns:a="http://schemas.openxmlformats.org/drawingml/2006/main">
            <a:off x="4972050" y="300037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08  MOODBOARD + PLAN</a:t>
            </a:r>
          </a:p>
          <a:p xmlns:a="http://schemas.openxmlformats.org/drawingml/2006/main">
            <a:pPr algn="l">
              <a:lnSpc>
                <a:spcPct val="108000"/>
              </a:lnSpc>
              <a:buNone/>
              <a:defRPr sz="900" b="1" i="0">
                <a:solidFill>
                  <a:srgbClr val="F1EBE2"/>
                </a:solidFill>
              </a:defRPr>
            </a:pPr>
            <a:r>
              <a:rPr sz="900" b="1" i="0">
                <a:solidFill>
                  <a:srgbClr val="F1EBE2"/>
                </a:solidFill>
              </a:rPr>
              <a:t>Five images · PARTIAL</a:t>
            </a:r>
          </a:p>
        </p:txBody>
      </p:sp>
      <p:sp>
        <p:nvSpPr>
          <p:cNvPr id="18" name="">
            <a:extLst xmlns:a="http://schemas.openxmlformats.org/drawingml/2006/main">
              <a:ext uri="{FF2B5EF4-FFF2-40B4-BE49-F238E27FC236}">
                <a16:creationId xmlns:a16="http://schemas.microsoft.com/office/drawing/2014/main" id="{C85480E4-76C5-434E-A096-78A89463D991}"/>
              </a:ext>
            </a:extLst>
          </p:cNvPr>
          <p:cNvSpPr>
            <a:spLocks xmlns:a="http://schemas.openxmlformats.org/drawingml/2006/main" noGrp="1"/>
          </p:cNvSpPr>
          <p:nvPr/>
        </p:nvSpPr>
        <p:spPr>
          <a:xfrm xmlns:a="http://schemas.openxmlformats.org/drawingml/2006/main">
            <a:off x="2762250" y="300037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09  REVIEW</a:t>
            </a:r>
          </a:p>
          <a:p xmlns:a="http://schemas.openxmlformats.org/drawingml/2006/main">
            <a:pPr algn="l">
              <a:lnSpc>
                <a:spcPct val="108000"/>
              </a:lnSpc>
              <a:buNone/>
              <a:defRPr sz="900" b="1" i="0">
                <a:solidFill>
                  <a:srgbClr val="F1EBE2"/>
                </a:solidFill>
              </a:defRPr>
            </a:pPr>
            <a:r>
              <a:rPr sz="900" b="1" i="0">
                <a:solidFill>
                  <a:srgbClr val="F1EBE2"/>
                </a:solidFill>
              </a:rPr>
              <a:t>Photographer · PLANNED</a:t>
            </a:r>
          </a:p>
        </p:txBody>
      </p:sp>
      <p:sp>
        <p:nvSpPr>
          <p:cNvPr id="19" name="">
            <a:extLst xmlns:a="http://schemas.openxmlformats.org/drawingml/2006/main">
              <a:ext uri="{FF2B5EF4-FFF2-40B4-BE49-F238E27FC236}">
                <a16:creationId xmlns:a16="http://schemas.microsoft.com/office/drawing/2014/main" id="{FCA71C09-AB6F-4DCD-B6DC-EDECDC3ED69F}"/>
              </a:ext>
            </a:extLst>
          </p:cNvPr>
          <p:cNvSpPr>
            <a:spLocks xmlns:a="http://schemas.openxmlformats.org/drawingml/2006/main" noGrp="1"/>
          </p:cNvSpPr>
          <p:nvPr/>
        </p:nvSpPr>
        <p:spPr>
          <a:xfrm xmlns:a="http://schemas.openxmlformats.org/drawingml/2006/main">
            <a:off x="6924675" y="2152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20" name="">
            <a:extLst xmlns:a="http://schemas.openxmlformats.org/drawingml/2006/main">
              <a:ext uri="{FF2B5EF4-FFF2-40B4-BE49-F238E27FC236}">
                <a16:creationId xmlns:a16="http://schemas.microsoft.com/office/drawing/2014/main" id="{F43F73DE-2B3A-4B6A-9D60-DF1E10CD7651}"/>
              </a:ext>
            </a:extLst>
          </p:cNvPr>
          <p:cNvSpPr>
            <a:spLocks xmlns:a="http://schemas.openxmlformats.org/drawingml/2006/main" noGrp="1"/>
          </p:cNvSpPr>
          <p:nvPr/>
        </p:nvSpPr>
        <p:spPr>
          <a:xfrm xmlns:a="http://schemas.openxmlformats.org/drawingml/2006/main">
            <a:off x="552450" y="3000375"/>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97B"/>
                </a:solidFill>
              </a:defRPr>
            </a:pPr>
            <a:r>
              <a:rPr sz="900" b="1" i="0">
                <a:solidFill>
                  <a:srgbClr val="D7B97B"/>
                </a:solidFill>
              </a:rPr>
              <a:t>10  READY TO SHOOT</a:t>
            </a:r>
          </a:p>
          <a:p xmlns:a="http://schemas.openxmlformats.org/drawingml/2006/main">
            <a:pPr algn="l">
              <a:lnSpc>
                <a:spcPct val="108000"/>
              </a:lnSpc>
              <a:buNone/>
              <a:defRPr sz="900" b="1" i="0">
                <a:solidFill>
                  <a:srgbClr val="D7B97B"/>
                </a:solidFill>
              </a:defRPr>
            </a:pPr>
            <a:r>
              <a:rPr sz="900" b="1" i="0">
                <a:solidFill>
                  <a:srgbClr val="D7B97B"/>
                </a:solidFill>
              </a:rPr>
              <a:t>Approved preparation</a:t>
            </a:r>
          </a:p>
        </p:txBody>
      </p:sp>
      <p:sp>
        <p:nvSpPr>
          <p:cNvPr id="21" name="">
            <a:extLst xmlns:a="http://schemas.openxmlformats.org/drawingml/2006/main">
              <a:ext uri="{FF2B5EF4-FFF2-40B4-BE49-F238E27FC236}">
                <a16:creationId xmlns:a16="http://schemas.microsoft.com/office/drawing/2014/main" id="{3148B0C9-01D2-4EC5-BEDA-55FA1DE985F3}"/>
              </a:ext>
            </a:extLst>
          </p:cNvPr>
          <p:cNvSpPr>
            <a:spLocks xmlns:a="http://schemas.openxmlformats.org/drawingml/2006/main" noGrp="1"/>
          </p:cNvSpPr>
          <p:nvPr/>
        </p:nvSpPr>
        <p:spPr>
          <a:xfrm xmlns:a="http://schemas.openxmlformats.org/drawingml/2006/main">
            <a:off x="552450" y="409575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F1EBE2"/>
                </a:solidFill>
              </a:defRPr>
            </a:pPr>
            <a:r>
              <a:rPr sz="825" b="1" i="0">
                <a:solidFill>
                  <a:srgbClr val="F1EBE2"/>
                </a:solidFill>
              </a:rPr>
              <a:t>MORE THAN 7 DAYS</a:t>
            </a:r>
          </a:p>
          <a:p xmlns:a="http://schemas.openxmlformats.org/drawingml/2006/main">
            <a:pPr algn="l">
              <a:lnSpc>
                <a:spcPct val="108000"/>
              </a:lnSpc>
              <a:buNone/>
              <a:defRPr sz="825" b="1" i="0">
                <a:solidFill>
                  <a:srgbClr val="F1EBE2"/>
                </a:solidFill>
              </a:defRPr>
            </a:pPr>
            <a:r>
              <a:rPr sz="825" b="1" i="0">
                <a:solidFill>
                  <a:srgbClr val="F1EBE2"/>
                </a:solidFill>
              </a:rPr>
              <a:t>3 sessions · foundation → direction + wardrobe → readiness</a:t>
            </a:r>
          </a:p>
        </p:txBody>
      </p:sp>
      <p:sp>
        <p:nvSpPr>
          <p:cNvPr id="22" name="">
            <a:extLst xmlns:a="http://schemas.openxmlformats.org/drawingml/2006/main">
              <a:ext uri="{FF2B5EF4-FFF2-40B4-BE49-F238E27FC236}">
                <a16:creationId xmlns:a16="http://schemas.microsoft.com/office/drawing/2014/main" id="{7AB1D268-A081-4F32-810D-03C756C20FCE}"/>
              </a:ext>
            </a:extLst>
          </p:cNvPr>
          <p:cNvSpPr>
            <a:spLocks xmlns:a="http://schemas.openxmlformats.org/drawingml/2006/main" noGrp="1"/>
          </p:cNvSpPr>
          <p:nvPr/>
        </p:nvSpPr>
        <p:spPr>
          <a:xfrm xmlns:a="http://schemas.openxmlformats.org/drawingml/2006/main">
            <a:off x="3333750" y="4095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F1EBE2"/>
                </a:solidFill>
              </a:defRPr>
            </a:pPr>
            <a:r>
              <a:rPr sz="825" b="1" i="0">
                <a:solidFill>
                  <a:srgbClr val="F1EBE2"/>
                </a:solidFill>
              </a:rPr>
              <a:t>4–7 DAYS</a:t>
            </a:r>
          </a:p>
          <a:p xmlns:a="http://schemas.openxmlformats.org/drawingml/2006/main">
            <a:pPr algn="l">
              <a:lnSpc>
                <a:spcPct val="108000"/>
              </a:lnSpc>
              <a:buNone/>
              <a:defRPr sz="825" b="1" i="0">
                <a:solidFill>
                  <a:srgbClr val="F1EBE2"/>
                </a:solidFill>
              </a:defRPr>
            </a:pPr>
            <a:r>
              <a:rPr sz="825" b="1" i="0">
                <a:solidFill>
                  <a:srgbClr val="F1EBE2"/>
                </a:solidFill>
              </a:rPr>
              <a:t>2 combined preparation sessions</a:t>
            </a:r>
          </a:p>
        </p:txBody>
      </p:sp>
      <p:sp>
        <p:nvSpPr>
          <p:cNvPr id="23" name="">
            <a:extLst xmlns:a="http://schemas.openxmlformats.org/drawingml/2006/main">
              <a:ext uri="{FF2B5EF4-FFF2-40B4-BE49-F238E27FC236}">
                <a16:creationId xmlns:a16="http://schemas.microsoft.com/office/drawing/2014/main" id="{DD27ECFC-EFCE-48FB-8A9C-B7C1533CA3CD}"/>
              </a:ext>
            </a:extLst>
          </p:cNvPr>
          <p:cNvSpPr>
            <a:spLocks xmlns:a="http://schemas.openxmlformats.org/drawingml/2006/main" noGrp="1"/>
          </p:cNvSpPr>
          <p:nvPr/>
        </p:nvSpPr>
        <p:spPr>
          <a:xfrm xmlns:a="http://schemas.openxmlformats.org/drawingml/2006/main">
            <a:off x="9134475" y="21526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24" name="">
            <a:extLst xmlns:a="http://schemas.openxmlformats.org/drawingml/2006/main">
              <a:ext uri="{FF2B5EF4-FFF2-40B4-BE49-F238E27FC236}">
                <a16:creationId xmlns:a16="http://schemas.microsoft.com/office/drawing/2014/main" id="{E64AE5A6-E359-4F4B-8E98-1A3C1229165F}"/>
              </a:ext>
            </a:extLst>
          </p:cNvPr>
          <p:cNvSpPr>
            <a:spLocks xmlns:a="http://schemas.openxmlformats.org/drawingml/2006/main" noGrp="1"/>
          </p:cNvSpPr>
          <p:nvPr/>
        </p:nvSpPr>
        <p:spPr>
          <a:xfrm xmlns:a="http://schemas.openxmlformats.org/drawingml/2006/main">
            <a:off x="5924550" y="4095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F1EBE2"/>
                </a:solidFill>
              </a:defRPr>
            </a:pPr>
            <a:r>
              <a:rPr sz="825" b="1" i="0">
                <a:solidFill>
                  <a:srgbClr val="F1EBE2"/>
                </a:solidFill>
              </a:rPr>
              <a:t>2–3 DAYS</a:t>
            </a:r>
          </a:p>
          <a:p xmlns:a="http://schemas.openxmlformats.org/drawingml/2006/main">
            <a:pPr algn="l">
              <a:lnSpc>
                <a:spcPct val="108000"/>
              </a:lnSpc>
              <a:buNone/>
              <a:defRPr sz="825" b="1" i="0">
                <a:solidFill>
                  <a:srgbClr val="F1EBE2"/>
                </a:solidFill>
              </a:defRPr>
            </a:pPr>
            <a:r>
              <a:rPr sz="825" b="1" i="0">
                <a:solidFill>
                  <a:srgbClr val="F1EBE2"/>
                </a:solidFill>
              </a:rPr>
              <a:t>1 focused session · 15–20 minutes</a:t>
            </a:r>
          </a:p>
        </p:txBody>
      </p:sp>
      <p:sp>
        <p:nvSpPr>
          <p:cNvPr id="25" name="">
            <a:extLst xmlns:a="http://schemas.openxmlformats.org/drawingml/2006/main">
              <a:ext uri="{FF2B5EF4-FFF2-40B4-BE49-F238E27FC236}">
                <a16:creationId xmlns:a16="http://schemas.microsoft.com/office/drawing/2014/main" id="{3EC04D81-5F11-4B06-9256-2C4F989D6DE2}"/>
              </a:ext>
            </a:extLst>
          </p:cNvPr>
          <p:cNvSpPr>
            <a:spLocks xmlns:a="http://schemas.openxmlformats.org/drawingml/2006/main" noGrp="1"/>
          </p:cNvSpPr>
          <p:nvPr/>
        </p:nvSpPr>
        <p:spPr>
          <a:xfrm xmlns:a="http://schemas.openxmlformats.org/drawingml/2006/main">
            <a:off x="8515350" y="409575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F1EBE2"/>
                </a:solidFill>
              </a:defRPr>
            </a:pPr>
            <a:r>
              <a:rPr sz="825" b="1" i="0">
                <a:solidFill>
                  <a:srgbClr val="F1EBE2"/>
                </a:solidFill>
              </a:rPr>
              <a:t>LESS THAN 24 HOURS</a:t>
            </a:r>
          </a:p>
          <a:p xmlns:a="http://schemas.openxmlformats.org/drawingml/2006/main">
            <a:pPr algn="l">
              <a:lnSpc>
                <a:spcPct val="108000"/>
              </a:lnSpc>
              <a:buNone/>
              <a:defRPr sz="825" b="1" i="0">
                <a:solidFill>
                  <a:srgbClr val="F1EBE2"/>
                </a:solidFill>
              </a:defRPr>
            </a:pPr>
            <a:r>
              <a:rPr sz="825" b="1" i="0">
                <a:solidFill>
                  <a:srgbClr val="F1EBE2"/>
                </a:solidFill>
              </a:rPr>
              <a:t>1 essentials-only session</a:t>
            </a:r>
          </a:p>
        </p:txBody>
      </p:sp>
      <p:sp>
        <p:nvSpPr>
          <p:cNvPr id="26" name="">
            <a:extLst xmlns:a="http://schemas.openxmlformats.org/drawingml/2006/main">
              <a:ext uri="{FF2B5EF4-FFF2-40B4-BE49-F238E27FC236}">
                <a16:creationId xmlns:a16="http://schemas.microsoft.com/office/drawing/2014/main" id="{D669F483-F57E-422B-A763-DE91FA274EB9}"/>
              </a:ext>
            </a:extLst>
          </p:cNvPr>
          <p:cNvSpPr>
            <a:spLocks xmlns:a="http://schemas.openxmlformats.org/drawingml/2006/main" noGrp="1"/>
          </p:cNvSpPr>
          <p:nvPr/>
        </p:nvSpPr>
        <p:spPr>
          <a:xfrm xmlns:a="http://schemas.openxmlformats.org/drawingml/2006/main">
            <a:off x="552450" y="4905375"/>
            <a:ext cx="514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AI · Voice conversation · qualitative understanding · Creative DNA · creative direction</a:t>
            </a:r>
          </a:p>
        </p:txBody>
      </p:sp>
      <p:sp>
        <p:nvSpPr>
          <p:cNvPr id="27" name="">
            <a:extLst xmlns:a="http://schemas.openxmlformats.org/drawingml/2006/main">
              <a:ext uri="{FF2B5EF4-FFF2-40B4-BE49-F238E27FC236}">
                <a16:creationId xmlns:a16="http://schemas.microsoft.com/office/drawing/2014/main" id="{7AB52210-59CE-4D1B-898B-96D3E7BDF2DD}"/>
              </a:ext>
            </a:extLst>
          </p:cNvPr>
          <p:cNvSpPr>
            <a:spLocks xmlns:a="http://schemas.openxmlformats.org/drawingml/2006/main" noGrp="1"/>
          </p:cNvSpPr>
          <p:nvPr/>
        </p:nvSpPr>
        <p:spPr>
          <a:xfrm xmlns:a="http://schemas.openxmlformats.org/drawingml/2006/main">
            <a:off x="11144250" y="2657475"/>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28" name="">
            <a:extLst xmlns:a="http://schemas.openxmlformats.org/drawingml/2006/main">
              <a:ext uri="{FF2B5EF4-FFF2-40B4-BE49-F238E27FC236}">
                <a16:creationId xmlns:a16="http://schemas.microsoft.com/office/drawing/2014/main" id="{02642BA0-65BD-493D-8431-D5FC7242970C}"/>
              </a:ext>
            </a:extLst>
          </p:cNvPr>
          <p:cNvSpPr>
            <a:spLocks xmlns:a="http://schemas.openxmlformats.org/drawingml/2006/main" noGrp="1"/>
          </p:cNvSpPr>
          <p:nvPr/>
        </p:nvSpPr>
        <p:spPr>
          <a:xfrm xmlns:a="http://schemas.openxmlformats.org/drawingml/2006/main">
            <a:off x="6048375" y="4905375"/>
            <a:ext cx="5286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B8B0A6"/>
                </a:solidFill>
              </a:defRPr>
            </a:pPr>
            <a:r>
              <a:rPr sz="825" b="1" i="0">
                <a:solidFill>
                  <a:srgbClr val="B8B0A6"/>
                </a:solidFill>
              </a:rPr>
              <a:t>ORDINARY SOFTWARE · Stripe · auth · permissions · dates · Resend scheduling · storage · status</a:t>
            </a:r>
          </a:p>
        </p:txBody>
      </p:sp>
      <p:sp>
        <p:nvSpPr>
          <p:cNvPr id="29" name="">
            <a:extLst xmlns:a="http://schemas.openxmlformats.org/drawingml/2006/main">
              <a:ext uri="{FF2B5EF4-FFF2-40B4-BE49-F238E27FC236}">
                <a16:creationId xmlns:a16="http://schemas.microsoft.com/office/drawing/2014/main" id="{F4473199-4C26-4426-B5A9-0394C69164D4}"/>
              </a:ext>
            </a:extLst>
          </p:cNvPr>
          <p:cNvSpPr>
            <a:spLocks xmlns:a="http://schemas.openxmlformats.org/drawingml/2006/main" noGrp="1"/>
          </p:cNvSpPr>
          <p:nvPr/>
        </p:nvSpPr>
        <p:spPr>
          <a:xfrm xmlns:a="http://schemas.openxmlformats.org/drawingml/2006/main">
            <a:off x="552450" y="37814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D7B97B"/>
                </a:solidFill>
              </a:defRPr>
            </a:pPr>
            <a:r>
              <a:rPr sz="750" b="1" i="0">
                <a:solidFill>
                  <a:srgbClr val="D7B97B"/>
                </a:solidFill>
              </a:rPr>
              <a:t>ONE PERSISTENT SHOOT ROOM LINK</a:t>
            </a:r>
          </a:p>
        </p:txBody>
      </p:sp>
      <p:sp>
        <p:nvSpPr>
          <p:cNvPr id="30" name="">
            <a:extLst xmlns:a="http://schemas.openxmlformats.org/drawingml/2006/main">
              <a:ext uri="{FF2B5EF4-FFF2-40B4-BE49-F238E27FC236}">
                <a16:creationId xmlns:a16="http://schemas.microsoft.com/office/drawing/2014/main" id="{404FE778-F217-42BC-A6EE-A3C54B1D8353}"/>
              </a:ext>
            </a:extLst>
          </p:cNvPr>
          <p:cNvSpPr>
            <a:spLocks xmlns:a="http://schemas.openxmlformats.org/drawingml/2006/main" noGrp="1"/>
          </p:cNvSpPr>
          <p:nvPr/>
        </p:nvSpPr>
        <p:spPr>
          <a:xfrm xmlns:a="http://schemas.openxmlformats.org/drawingml/2006/main">
            <a:off x="3429000" y="3781425"/>
            <a:ext cx="790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0" i="0">
                <a:solidFill>
                  <a:srgbClr val="D7B97B"/>
                </a:solidFill>
              </a:defRPr>
            </a:pPr>
            <a:r>
              <a:rPr sz="825" b="0" i="0">
                <a:solidFill>
                  <a:srgbClr val="D7B97B"/>
                </a:solidFill>
              </a:rPr>
              <a:t>Every Resend email returns the client to the same remembered preparation room.</a:t>
            </a:r>
          </a:p>
        </p:txBody>
      </p:sp>
      <p:sp>
        <p:nvSpPr>
          <p:cNvPr id="31" name="">
            <a:extLst xmlns:a="http://schemas.openxmlformats.org/drawingml/2006/main">
              <a:ext uri="{FF2B5EF4-FFF2-40B4-BE49-F238E27FC236}">
                <a16:creationId xmlns:a16="http://schemas.microsoft.com/office/drawing/2014/main" id="{A8674096-2523-4DD9-BF7A-8690AC5C37B9}"/>
              </a:ext>
            </a:extLst>
          </p:cNvPr>
          <p:cNvSpPr>
            <a:spLocks xmlns:a="http://schemas.openxmlformats.org/drawingml/2006/main" noGrp="1"/>
          </p:cNvSpPr>
          <p:nvPr/>
        </p:nvSpPr>
        <p:spPr>
          <a:xfrm xmlns:a="http://schemas.openxmlformats.org/drawingml/2006/main">
            <a:off x="552450" y="3990975"/>
            <a:ext cx="10782300" cy="0"/>
          </a:xfrm>
          <a:prstGeom xmlns:a="http://schemas.openxmlformats.org/drawingml/2006/main" prst="line">
            <a:avLst/>
          </a:prstGeom>
          <a:noFill xmlns:a="http://schemas.openxmlformats.org/drawingml/2006/main"/>
          <a:ln xmlns:a="http://schemas.openxmlformats.org/drawingml/2006/main" w="19050">
            <a:solidFill>
              <a:srgbClr val="D7B97B"/>
            </a:solidFill>
            <a:prstDash val="solid"/>
          </a:ln>
        </p:spPr>
      </p:sp>
      <p:sp>
        <p:nvSpPr>
          <p:cNvPr id="32" name="">
            <a:extLst xmlns:a="http://schemas.openxmlformats.org/drawingml/2006/main">
              <a:ext uri="{FF2B5EF4-FFF2-40B4-BE49-F238E27FC236}">
                <a16:creationId xmlns:a16="http://schemas.microsoft.com/office/drawing/2014/main" id="{F0211CA9-00F2-4A7E-95A7-71DC3CAEEEA0}"/>
              </a:ext>
            </a:extLst>
          </p:cNvPr>
          <p:cNvSpPr>
            <a:spLocks xmlns:a="http://schemas.openxmlformats.org/drawingml/2006/main" noGrp="1"/>
          </p:cNvSpPr>
          <p:nvPr/>
        </p:nvSpPr>
        <p:spPr>
          <a:xfrm xmlns:a="http://schemas.openxmlformats.org/drawingml/2006/main">
            <a:off x="552450" y="1466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8B0A6"/>
                </a:solidFill>
              </a:defRPr>
            </a:pPr>
            <a:r>
              <a:rPr sz="1125" b="0" i="0">
                <a:solidFill>
                  <a:srgbClr val="B8B0A6"/>
                </a:solidFill>
              </a:rPr>
              <a:t>MIRA adapts the preparation journey to the time remaining before the shoot.</a:t>
            </a:r>
          </a:p>
        </p:txBody>
      </p:sp>
      <p:sp>
        <p:nvSpPr>
          <p:cNvPr id="33" name="">
            <a:extLst xmlns:a="http://schemas.openxmlformats.org/drawingml/2006/main">
              <a:ext uri="{FF2B5EF4-FFF2-40B4-BE49-F238E27FC236}">
                <a16:creationId xmlns:a16="http://schemas.microsoft.com/office/drawing/2014/main" id="{0367C49D-883C-4848-A482-B34A79989C2C}"/>
              </a:ext>
            </a:extLst>
          </p:cNvPr>
          <p:cNvSpPr>
            <a:spLocks xmlns:a="http://schemas.openxmlformats.org/drawingml/2006/main" noGrp="1"/>
          </p:cNvSpPr>
          <p:nvPr/>
        </p:nvSpPr>
        <p:spPr>
          <a:xfrm xmlns:a="http://schemas.openxmlformats.org/drawingml/2006/main">
            <a:off x="552450" y="5572125"/>
            <a:ext cx="10782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8B0A6"/>
                </a:solidFill>
              </a:defRPr>
            </a:pPr>
            <a:r>
              <a:rPr sz="750" b="1" i="0">
                <a:solidFill>
                  <a:srgbClr val="B8B0A6"/>
                </a:solidFill>
              </a:rPr>
              <a:t>STATUS · Stripe WORKING · private link WORKING · Voice / Resend / LangSmith IN IMPLEMENTATION · Moodboard PARTIAL · Approval PLANNED</a:t>
            </a:r>
          </a:p>
        </p:txBody>
      </p:sp>
    </p:spTree>
    <p:extLst>
      <p:ext uri="{BB962C8B-B14F-4D97-AF65-F5344CB8AC3E}">
        <p14:creationId xmlns:p14="http://schemas.microsoft.com/office/powerpoint/2010/main" val="1183820153"/>
      </p:ext>
    </p:extLst>
  </p:cSld>
</p:sld>
</file>

<file path=ppt/slides/slide7.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9D2058-452C-4125-8DD3-AE043D3F81DE}"/>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D557008D-7CEB-4398-AB69-CFC1386FDF41}"/>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IMPLEMENTATION STATUS</a:t>
            </a:r>
          </a:p>
        </p:txBody>
      </p:sp>
      <p:sp>
        <p:nvSpPr>
          <p:cNvPr id="3" name="">
            <a:extLst xmlns:a="http://schemas.openxmlformats.org/drawingml/2006/main">
              <a:ext uri="{FF2B5EF4-FFF2-40B4-BE49-F238E27FC236}">
                <a16:creationId xmlns:a16="http://schemas.microsoft.com/office/drawing/2014/main" id="{9205BD25-F4AF-4032-8B69-E1CF3F7B67F7}"/>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383D32DD-CF52-4200-97C9-F98AF2AEB135}"/>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VALIDATED IN CONTROLLED STAGES</a:t>
            </a:r>
          </a:p>
        </p:txBody>
      </p:sp>
      <p:sp>
        <p:nvSpPr>
          <p:cNvPr id="5" name="">
            <a:extLst xmlns:a="http://schemas.openxmlformats.org/drawingml/2006/main">
              <a:ext uri="{FF2B5EF4-FFF2-40B4-BE49-F238E27FC236}">
                <a16:creationId xmlns:a16="http://schemas.microsoft.com/office/drawing/2014/main" id="{6AEC486D-CF95-417D-9A67-ADE7EE143453}"/>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EVIDENCE</a:t>
            </a:r>
          </a:p>
        </p:txBody>
      </p:sp>
      <p:sp>
        <p:nvSpPr>
          <p:cNvPr id="6" name="">
            <a:extLst xmlns:a="http://schemas.openxmlformats.org/drawingml/2006/main">
              <a:ext uri="{FF2B5EF4-FFF2-40B4-BE49-F238E27FC236}">
                <a16:creationId xmlns:a16="http://schemas.microsoft.com/office/drawing/2014/main" id="{941A199A-F9F1-4A25-845B-01656C30F64E}"/>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B6FC4205-C8E4-4956-BBA7-067FE7B25C83}"/>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GitHub · Automated tests · Isolated preview · TypeScript</a:t>
            </a:r>
          </a:p>
        </p:txBody>
      </p:sp>
      <p:sp>
        <p:nvSpPr>
          <p:cNvPr id="8" name="">
            <a:extLst xmlns:a="http://schemas.openxmlformats.org/drawingml/2006/main">
              <a:ext uri="{FF2B5EF4-FFF2-40B4-BE49-F238E27FC236}">
                <a16:creationId xmlns:a16="http://schemas.microsoft.com/office/drawing/2014/main" id="{89953D82-A6FC-4981-AB3C-42719A8B5566}"/>
              </a:ext>
            </a:extLst>
          </p:cNvPr>
          <p:cNvSpPr>
            <a:spLocks xmlns:a="http://schemas.openxmlformats.org/drawingml/2006/main" noGrp="1"/>
          </p:cNvSpPr>
          <p:nvPr/>
        </p:nvSpPr>
        <p:spPr>
          <a:xfrm xmlns:a="http://schemas.openxmlformats.org/drawingml/2006/main">
            <a:off x="571500" y="1952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PAYMENTS</a:t>
            </a:r>
          </a:p>
        </p:txBody>
      </p:sp>
      <p:sp>
        <p:nvSpPr>
          <p:cNvPr id="9" name="">
            <a:extLst xmlns:a="http://schemas.openxmlformats.org/drawingml/2006/main">
              <a:ext uri="{FF2B5EF4-FFF2-40B4-BE49-F238E27FC236}">
                <a16:creationId xmlns:a16="http://schemas.microsoft.com/office/drawing/2014/main" id="{9633B42D-F9FB-4B8F-997C-D5A984FA1879}"/>
              </a:ext>
            </a:extLst>
          </p:cNvPr>
          <p:cNvSpPr>
            <a:spLocks xmlns:a="http://schemas.openxmlformats.org/drawingml/2006/main" noGrp="1"/>
          </p:cNvSpPr>
          <p:nvPr/>
        </p:nvSpPr>
        <p:spPr>
          <a:xfrm xmlns:a="http://schemas.openxmlformats.org/drawingml/2006/main">
            <a:off x="571500" y="23241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LIVE-VERIFIED · 62/62 tests</a:t>
            </a:r>
          </a:p>
          <a:p xmlns:a="http://schemas.openxmlformats.org/drawingml/2006/main">
            <a:pPr algn="l">
              <a:lnSpc>
                <a:spcPct val="108000"/>
              </a:lnSpc>
              <a:buNone/>
              <a:defRPr sz="1800" b="0" i="0">
                <a:solidFill>
                  <a:srgbClr val="F1E8DA"/>
                </a:solidFill>
              </a:defRPr>
            </a:pPr>
            <a:r>
              <a:rPr sz="1800" b="0" i="0">
                <a:solidFill>
                  <a:srgbClr val="F1E8DA"/>
                </a:solidFill>
              </a:rPr>
              <a:t>Hosted payment + webhook confirmed</a:t>
            </a:r>
          </a:p>
        </p:txBody>
      </p:sp>
      <p:sp>
        <p:nvSpPr>
          <p:cNvPr id="10" name="">
            <a:extLst xmlns:a="http://schemas.openxmlformats.org/drawingml/2006/main">
              <a:ext uri="{FF2B5EF4-FFF2-40B4-BE49-F238E27FC236}">
                <a16:creationId xmlns:a16="http://schemas.microsoft.com/office/drawing/2014/main" id="{3E23FDCF-4657-43FE-BA4A-3C933E992FC2}"/>
              </a:ext>
            </a:extLst>
          </p:cNvPr>
          <p:cNvSpPr>
            <a:spLocks xmlns:a="http://schemas.openxmlformats.org/drawingml/2006/main" noGrp="1"/>
          </p:cNvSpPr>
          <p:nvPr/>
        </p:nvSpPr>
        <p:spPr>
          <a:xfrm xmlns:a="http://schemas.openxmlformats.org/drawingml/2006/main">
            <a:off x="4286250" y="1952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EMAIL AUTOMATION</a:t>
            </a:r>
          </a:p>
        </p:txBody>
      </p:sp>
      <p:sp>
        <p:nvSpPr>
          <p:cNvPr id="11" name="">
            <a:extLst xmlns:a="http://schemas.openxmlformats.org/drawingml/2006/main">
              <a:ext uri="{FF2B5EF4-FFF2-40B4-BE49-F238E27FC236}">
                <a16:creationId xmlns:a16="http://schemas.microsoft.com/office/drawing/2014/main" id="{47D795AE-30DA-4C82-8EB6-F1870962EF27}"/>
              </a:ext>
            </a:extLst>
          </p:cNvPr>
          <p:cNvSpPr>
            <a:spLocks xmlns:a="http://schemas.openxmlformats.org/drawingml/2006/main" noGrp="1"/>
          </p:cNvSpPr>
          <p:nvPr/>
        </p:nvSpPr>
        <p:spPr>
          <a:xfrm xmlns:a="http://schemas.openxmlformats.org/drawingml/2006/main">
            <a:off x="4286250" y="2324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PREVIEW-VERIFIED · 56/56 tests</a:t>
            </a:r>
          </a:p>
          <a:p xmlns:a="http://schemas.openxmlformats.org/drawingml/2006/main">
            <a:pPr algn="l">
              <a:lnSpc>
                <a:spcPct val="108000"/>
              </a:lnSpc>
              <a:buNone/>
              <a:defRPr sz="1800" b="0" i="0">
                <a:solidFill>
                  <a:srgbClr val="F1E8DA"/>
                </a:solidFill>
              </a:defRPr>
            </a:pPr>
            <a:r>
              <a:rPr sz="1800" b="0" i="0">
                <a:solidFill>
                  <a:srgbClr val="F1E8DA"/>
                </a:solidFill>
              </a:rPr>
              <a:t>Isolated DB through 0018 · real email pending</a:t>
            </a:r>
          </a:p>
        </p:txBody>
      </p:sp>
      <p:sp>
        <p:nvSpPr>
          <p:cNvPr id="12" name="">
            <a:extLst xmlns:a="http://schemas.openxmlformats.org/drawingml/2006/main">
              <a:ext uri="{FF2B5EF4-FFF2-40B4-BE49-F238E27FC236}">
                <a16:creationId xmlns:a16="http://schemas.microsoft.com/office/drawing/2014/main" id="{DD303433-2198-48AE-8C2B-98A2DEDB252A}"/>
              </a:ext>
            </a:extLst>
          </p:cNvPr>
          <p:cNvSpPr>
            <a:spLocks xmlns:a="http://schemas.openxmlformats.org/drawingml/2006/main" noGrp="1"/>
          </p:cNvSpPr>
          <p:nvPr/>
        </p:nvSpPr>
        <p:spPr>
          <a:xfrm xmlns:a="http://schemas.openxmlformats.org/drawingml/2006/main">
            <a:off x="8001000" y="1952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CREATIVE PIPELINE</a:t>
            </a:r>
          </a:p>
        </p:txBody>
      </p:sp>
      <p:sp>
        <p:nvSpPr>
          <p:cNvPr id="13" name="">
            <a:extLst xmlns:a="http://schemas.openxmlformats.org/drawingml/2006/main">
              <a:ext uri="{FF2B5EF4-FFF2-40B4-BE49-F238E27FC236}">
                <a16:creationId xmlns:a16="http://schemas.microsoft.com/office/drawing/2014/main" id="{B96C16D8-17EB-4CAD-87FA-1FB2676E536A}"/>
              </a:ext>
            </a:extLst>
          </p:cNvPr>
          <p:cNvSpPr>
            <a:spLocks xmlns:a="http://schemas.openxmlformats.org/drawingml/2006/main" noGrp="1"/>
          </p:cNvSpPr>
          <p:nvPr/>
        </p:nvSpPr>
        <p:spPr>
          <a:xfrm xmlns:a="http://schemas.openxmlformats.org/drawingml/2006/main">
            <a:off x="8001000" y="2324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CODE-VERIFIED · 35/35 tests · build passed</a:t>
            </a:r>
          </a:p>
          <a:p xmlns:a="http://schemas.openxmlformats.org/drawingml/2006/main">
            <a:pPr algn="l">
              <a:lnSpc>
                <a:spcPct val="108000"/>
              </a:lnSpc>
              <a:buNone/>
              <a:defRPr sz="1800" b="0" i="0">
                <a:solidFill>
                  <a:srgbClr val="F1E8DA"/>
                </a:solidFill>
              </a:defRPr>
            </a:pPr>
            <a:r>
              <a:rPr sz="1800" b="0" i="0">
                <a:solidFill>
                  <a:srgbClr val="F1E8DA"/>
                </a:solidFill>
              </a:rPr>
              <a:t>Real generation, LangSmith + voice pending</a:t>
            </a:r>
          </a:p>
        </p:txBody>
      </p:sp>
      <p:sp>
        <p:nvSpPr>
          <p:cNvPr id="14" name="">
            <a:extLst xmlns:a="http://schemas.openxmlformats.org/drawingml/2006/main">
              <a:ext uri="{FF2B5EF4-FFF2-40B4-BE49-F238E27FC236}">
                <a16:creationId xmlns:a16="http://schemas.microsoft.com/office/drawing/2014/main" id="{0A7DC52C-C314-4718-944F-ED26882193F6}"/>
              </a:ext>
            </a:extLst>
          </p:cNvPr>
          <p:cNvSpPr>
            <a:spLocks xmlns:a="http://schemas.openxmlformats.org/drawingml/2006/main" noGrp="1"/>
          </p:cNvSpPr>
          <p:nvPr/>
        </p:nvSpPr>
        <p:spPr>
          <a:xfrm xmlns:a="http://schemas.openxmlformats.org/drawingml/2006/main">
            <a:off x="571500" y="3714750"/>
            <a:ext cx="104775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5" name="">
            <a:extLst xmlns:a="http://schemas.openxmlformats.org/drawingml/2006/main">
              <a:ext uri="{FF2B5EF4-FFF2-40B4-BE49-F238E27FC236}">
                <a16:creationId xmlns:a16="http://schemas.microsoft.com/office/drawing/2014/main" id="{AF4389BD-D6D1-4355-837E-15E3A8ABA9D9}"/>
              </a:ext>
            </a:extLst>
          </p:cNvPr>
          <p:cNvSpPr>
            <a:spLocks xmlns:a="http://schemas.openxmlformats.org/drawingml/2006/main" noGrp="1"/>
          </p:cNvSpPr>
          <p:nvPr/>
        </p:nvSpPr>
        <p:spPr>
          <a:xfrm xmlns:a="http://schemas.openxmlformats.org/drawingml/2006/main">
            <a:off x="571500" y="4286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950" b="0" i="0">
                <a:solidFill>
                  <a:srgbClr val="BDB5AA"/>
                </a:solidFill>
              </a:defRPr>
            </a:pPr>
            <a:r>
              <a:rPr sz="1950" b="0" i="0">
                <a:solidFill>
                  <a:srgbClr val="BDB5AA"/>
                </a:solidFill>
              </a:rPr>
              <a:t>Full suite: 460 passed · 24 identical pre-existing failures · 3 skipped. Staged validation protects working functionality, limits regression risk, and creates traceable GitHub evidence.</a:t>
            </a:r>
          </a:p>
        </p:txBody>
      </p:sp>
    </p:spTree>
    <p:extLst>
      <p:ext uri="{BB962C8B-B14F-4D97-AF65-F5344CB8AC3E}">
        <p14:creationId xmlns:p14="http://schemas.microsoft.com/office/powerpoint/2010/main" val="1977854173"/>
      </p:ext>
    </p:extLst>
  </p:cSld>
</p:sld>
</file>

<file path=ppt/slides/slide8.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AC4E3B-5B0D-4B45-8BBF-40FC2E7CCCCC}"/>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F025A801-0F42-48FF-A077-2B086F80475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IMPLEMENTATION</a:t>
            </a:r>
          </a:p>
        </p:txBody>
      </p:sp>
      <p:sp>
        <p:nvSpPr>
          <p:cNvPr id="3" name="">
            <a:extLst xmlns:a="http://schemas.openxmlformats.org/drawingml/2006/main">
              <a:ext uri="{FF2B5EF4-FFF2-40B4-BE49-F238E27FC236}">
                <a16:creationId xmlns:a16="http://schemas.microsoft.com/office/drawing/2014/main" id="{C9175429-0BD9-44D0-8A46-AFA192B8EE76}"/>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BFDB03A5-7D58-4F69-926B-0A2EF4C2F0E9}"/>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Payment now opens the photographer journey</a:t>
            </a:r>
          </a:p>
        </p:txBody>
      </p:sp>
      <p:sp>
        <p:nvSpPr>
          <p:cNvPr id="5" name="">
            <a:extLst xmlns:a="http://schemas.openxmlformats.org/drawingml/2006/main">
              <a:ext uri="{FF2B5EF4-FFF2-40B4-BE49-F238E27FC236}">
                <a16:creationId xmlns:a16="http://schemas.microsoft.com/office/drawing/2014/main" id="{85496CB3-7D28-4C64-BF26-C92316AD09EF}"/>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BROWSER-VERIFIED</a:t>
            </a:r>
          </a:p>
        </p:txBody>
      </p:sp>
      <p:sp>
        <p:nvSpPr>
          <p:cNvPr id="6" name="">
            <a:extLst xmlns:a="http://schemas.openxmlformats.org/drawingml/2006/main">
              <a:ext uri="{FF2B5EF4-FFF2-40B4-BE49-F238E27FC236}">
                <a16:creationId xmlns:a16="http://schemas.microsoft.com/office/drawing/2014/main" id="{1D312E91-5F4C-43C0-8287-F3EA61BB22D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8537290B-8A3B-472A-A203-A41DC1C23952}"/>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Stripe Checkout · Webhook · Authentication · Manus private preview</a:t>
            </a:r>
          </a:p>
        </p:txBody>
      </p:sp>
      <p:sp>
        <p:nvSpPr>
          <p:cNvPr id="8" name="">
            <a:extLst xmlns:a="http://schemas.openxmlformats.org/drawingml/2006/main">
              <a:ext uri="{FF2B5EF4-FFF2-40B4-BE49-F238E27FC236}">
                <a16:creationId xmlns:a16="http://schemas.microsoft.com/office/drawing/2014/main" id="{DBF73467-D775-4A50-8C7A-7EA670CBBD64}"/>
              </a:ext>
            </a:extLst>
          </p:cNvPr>
          <p:cNvSpPr>
            <a:spLocks xmlns:a="http://schemas.openxmlformats.org/drawingml/2006/main" noGrp="1"/>
          </p:cNvSpPr>
          <p:nvPr/>
        </p:nvSpPr>
        <p:spPr>
          <a:xfrm xmlns:a="http://schemas.openxmlformats.org/drawingml/2006/main">
            <a:off x="552450" y="19050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75" b="0" i="0">
                <a:solidFill>
                  <a:srgbClr val="F1E8DA"/>
                </a:solidFill>
              </a:defRPr>
            </a:pPr>
            <a:r>
              <a:rPr sz="1875" b="0" i="0">
                <a:solidFill>
                  <a:srgbClr val="F1E8DA"/>
                </a:solidFill>
              </a:rPr>
              <a:t>A €0 promotion-code checkout returned to MIRA, confirmed access and routed the authenticated photographer into onboarding. The commercial path was tested without charging real money.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b8ae9289b7345e9"/>
          <a:srcRect xmlns:a="http://schemas.openxmlformats.org/drawingml/2006/main" l="0" t="8717" r="0" b="8717"/>
          <a:stretch xmlns:a="http://schemas.openxmlformats.org/drawingml/2006/main">
            <a:fillRect l="0" t="0" r="0" b="0"/>
          </a:stretch>
        </p:blipFill>
        <p:spPr>
          <a:xfrm xmlns:a="http://schemas.openxmlformats.org/drawingml/2006/main">
            <a:off x="5524500" y="2038350"/>
            <a:ext cx="6096000" cy="3333750"/>
          </a:xfrm>
          <a:prstGeom xmlns:a="http://schemas.openxmlformats.org/drawingml/2006/main" prst="roundRect">
            <a:avLst/>
          </a:prstGeom>
        </p:spPr>
      </p:pic>
    </p:spTree>
    <p:extLst>
      <p:ext uri="{BB962C8B-B14F-4D97-AF65-F5344CB8AC3E}">
        <p14:creationId xmlns:p14="http://schemas.microsoft.com/office/powerpoint/2010/main" val="840494847"/>
      </p:ext>
    </p:extLst>
  </p:cSld>
</p:sld>
</file>

<file path=ppt/slides/slide9.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2E61831-002B-4D59-AFEC-682390694577}"/>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896726F5-1B65-43D4-8FC6-6292D996447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97B"/>
                </a:solidFill>
              </a:defRPr>
            </a:pPr>
            <a:r>
              <a:rPr sz="825" b="1" i="0">
                <a:solidFill>
                  <a:srgbClr val="D7B97B"/>
                </a:solidFill>
              </a:rPr>
              <a:t>PAYMENT + ACCESS</a:t>
            </a:r>
          </a:p>
        </p:txBody>
      </p:sp>
      <p:sp>
        <p:nvSpPr>
          <p:cNvPr id="3" name="">
            <a:extLst xmlns:a="http://schemas.openxmlformats.org/drawingml/2006/main">
              <a:ext uri="{FF2B5EF4-FFF2-40B4-BE49-F238E27FC236}">
                <a16:creationId xmlns:a16="http://schemas.microsoft.com/office/drawing/2014/main" id="{F33F9081-6099-432B-8FDA-F0D174BA943B}"/>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0B502B00-D24C-45E9-89CB-B1B59DB07CAA}"/>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250" b="0" i="0">
                <a:solidFill>
                  <a:srgbClr val="F1EBE2"/>
                </a:solidFill>
              </a:defRPr>
            </a:pPr>
            <a:r>
              <a:rPr sz="2250" b="0" i="0">
                <a:solidFill>
                  <a:srgbClr val="F1EBE2"/>
                </a:solidFill>
              </a:rPr>
              <a:t>FROM CHECKOUT TO VERIFIED ACCESS</a:t>
            </a:r>
          </a:p>
        </p:txBody>
      </p:sp>
      <p:sp>
        <p:nvSpPr>
          <p:cNvPr id="5" name="">
            <a:extLst xmlns:a="http://schemas.openxmlformats.org/drawingml/2006/main">
              <a:ext uri="{FF2B5EF4-FFF2-40B4-BE49-F238E27FC236}">
                <a16:creationId xmlns:a16="http://schemas.microsoft.com/office/drawing/2014/main" id="{838B1081-EBFA-490F-9224-DCA7FE84F4AF}"/>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675" b="1" i="0">
                <a:solidFill>
                  <a:srgbClr val="94CCA2"/>
                </a:solidFill>
              </a:defRPr>
            </a:pPr>
            <a:r>
              <a:rPr sz="675" b="1" i="0">
                <a:solidFill>
                  <a:srgbClr val="94CCA2"/>
                </a:solidFill>
              </a:rPr>
              <a:t>WORKING · TESTED · SAVED TO GITHUB</a:t>
            </a:r>
          </a:p>
        </p:txBody>
      </p:sp>
      <p:sp>
        <p:nvSpPr>
          <p:cNvPr id="6" name="">
            <a:extLst xmlns:a="http://schemas.openxmlformats.org/drawingml/2006/main">
              <a:ext uri="{FF2B5EF4-FFF2-40B4-BE49-F238E27FC236}">
                <a16:creationId xmlns:a16="http://schemas.microsoft.com/office/drawing/2014/main" id="{0014462F-2B00-44FC-9A27-107AB88D2D79}"/>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FC221542-4DA7-4FB8-962D-41BC290889C8}"/>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675" b="1" i="0">
                <a:solidFill>
                  <a:srgbClr val="B8B0A6"/>
                </a:solidFill>
              </a:defRPr>
            </a:pPr>
            <a:r>
              <a:rPr sz="675" b="1" i="0">
                <a:solidFill>
                  <a:srgbClr val="B8B0A6"/>
                </a:solidFill>
              </a:rPr>
              <a:t>TOOLS · Stripe Checkout · Stripe Webhooks · Express · Auth + sessions · React/TypeScript · Data layer · Git/GitHub · Manus</a:t>
            </a:r>
          </a:p>
        </p:txBody>
      </p:sp>
      <p:sp>
        <p:nvSpPr>
          <p:cNvPr id="8" name="">
            <a:extLst xmlns:a="http://schemas.openxmlformats.org/drawingml/2006/main">
              <a:ext uri="{FF2B5EF4-FFF2-40B4-BE49-F238E27FC236}">
                <a16:creationId xmlns:a16="http://schemas.microsoft.com/office/drawing/2014/main" id="{82D2C4DC-5955-47B8-ABA2-1B7C6E534A1D}"/>
              </a:ext>
            </a:extLst>
          </p:cNvPr>
          <p:cNvSpPr>
            <a:spLocks xmlns:a="http://schemas.openxmlformats.org/drawingml/2006/main" noGrp="1"/>
          </p:cNvSpPr>
          <p:nvPr/>
        </p:nvSpPr>
        <p:spPr>
          <a:xfrm xmlns:a="http://schemas.openxmlformats.org/drawingml/2006/main">
            <a:off x="552450" y="2095500"/>
            <a:ext cx="1619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01  PHOTOGRAPHER ACCOUNT</a:t>
            </a:r>
          </a:p>
          <a:p xmlns:a="http://schemas.openxmlformats.org/drawingml/2006/main">
            <a:pPr algn="l">
              <a:lnSpc>
                <a:spcPct val="108000"/>
              </a:lnSpc>
              <a:buNone/>
              <a:defRPr sz="900" b="1" i="0">
                <a:solidFill>
                  <a:srgbClr val="F1EBE2"/>
                </a:solidFill>
              </a:defRPr>
            </a:pPr>
            <a:r>
              <a:rPr sz="900" b="1" i="0">
                <a:solidFill>
                  <a:srgbClr val="F1EBE2"/>
                </a:solidFill>
              </a:rPr>
              <a:t>Create account or log in</a:t>
            </a:r>
          </a:p>
        </p:txBody>
      </p:sp>
      <p:sp>
        <p:nvSpPr>
          <p:cNvPr id="9" name="">
            <a:extLst xmlns:a="http://schemas.openxmlformats.org/drawingml/2006/main">
              <a:ext uri="{FF2B5EF4-FFF2-40B4-BE49-F238E27FC236}">
                <a16:creationId xmlns:a16="http://schemas.microsoft.com/office/drawing/2014/main" id="{28DF2E81-E406-4229-9F01-6B93DFD9AABF}"/>
              </a:ext>
            </a:extLst>
          </p:cNvPr>
          <p:cNvSpPr>
            <a:spLocks xmlns:a="http://schemas.openxmlformats.org/drawingml/2006/main" noGrp="1"/>
          </p:cNvSpPr>
          <p:nvPr/>
        </p:nvSpPr>
        <p:spPr>
          <a:xfrm xmlns:a="http://schemas.openxmlformats.org/drawingml/2006/main">
            <a:off x="2400300" y="2095500"/>
            <a:ext cx="1619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02  STRIPE CHECKOUT</a:t>
            </a:r>
          </a:p>
          <a:p xmlns:a="http://schemas.openxmlformats.org/drawingml/2006/main">
            <a:pPr algn="l">
              <a:lnSpc>
                <a:spcPct val="108000"/>
              </a:lnSpc>
              <a:buNone/>
              <a:defRPr sz="900" b="1" i="0">
                <a:solidFill>
                  <a:srgbClr val="F1EBE2"/>
                </a:solidFill>
              </a:defRPr>
            </a:pPr>
            <a:r>
              <a:rPr sz="900" b="1" i="0">
                <a:solidFill>
                  <a:srgbClr val="F1EBE2"/>
                </a:solidFill>
              </a:rPr>
              <a:t>Secure hosted checkout</a:t>
            </a:r>
          </a:p>
        </p:txBody>
      </p:sp>
      <p:sp>
        <p:nvSpPr>
          <p:cNvPr id="10" name="">
            <a:extLst xmlns:a="http://schemas.openxmlformats.org/drawingml/2006/main">
              <a:ext uri="{FF2B5EF4-FFF2-40B4-BE49-F238E27FC236}">
                <a16:creationId xmlns:a16="http://schemas.microsoft.com/office/drawing/2014/main" id="{AB1123D2-EBD6-4237-B61E-BCF3909C26E8}"/>
              </a:ext>
            </a:extLst>
          </p:cNvPr>
          <p:cNvSpPr>
            <a:spLocks xmlns:a="http://schemas.openxmlformats.org/drawingml/2006/main" noGrp="1"/>
          </p:cNvSpPr>
          <p:nvPr/>
        </p:nvSpPr>
        <p:spPr>
          <a:xfrm xmlns:a="http://schemas.openxmlformats.org/drawingml/2006/main">
            <a:off x="4248150" y="2095500"/>
            <a:ext cx="1619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03  PAYMENT</a:t>
            </a:r>
          </a:p>
          <a:p xmlns:a="http://schemas.openxmlformats.org/drawingml/2006/main">
            <a:pPr algn="l">
              <a:lnSpc>
                <a:spcPct val="108000"/>
              </a:lnSpc>
              <a:buNone/>
              <a:defRPr sz="900" b="1" i="0">
                <a:solidFill>
                  <a:srgbClr val="F1EBE2"/>
                </a:solidFill>
              </a:defRPr>
            </a:pPr>
            <a:r>
              <a:rPr sz="900" b="1" i="0">
                <a:solidFill>
                  <a:srgbClr val="F1EBE2"/>
                </a:solidFill>
              </a:rPr>
              <a:t>€33.33 · MIRADEMO €0 test</a:t>
            </a:r>
          </a:p>
        </p:txBody>
      </p:sp>
      <p:sp>
        <p:nvSpPr>
          <p:cNvPr id="11" name="">
            <a:extLst xmlns:a="http://schemas.openxmlformats.org/drawingml/2006/main">
              <a:ext uri="{FF2B5EF4-FFF2-40B4-BE49-F238E27FC236}">
                <a16:creationId xmlns:a16="http://schemas.microsoft.com/office/drawing/2014/main" id="{CE5C66EB-7602-4236-A9D9-3DDD1FBC5E10}"/>
              </a:ext>
            </a:extLst>
          </p:cNvPr>
          <p:cNvSpPr>
            <a:spLocks xmlns:a="http://schemas.openxmlformats.org/drawingml/2006/main" noGrp="1"/>
          </p:cNvSpPr>
          <p:nvPr/>
        </p:nvSpPr>
        <p:spPr>
          <a:xfrm xmlns:a="http://schemas.openxmlformats.org/drawingml/2006/main">
            <a:off x="2190750" y="23622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12" name="">
            <a:extLst xmlns:a="http://schemas.openxmlformats.org/drawingml/2006/main">
              <a:ext uri="{FF2B5EF4-FFF2-40B4-BE49-F238E27FC236}">
                <a16:creationId xmlns:a16="http://schemas.microsoft.com/office/drawing/2014/main" id="{E0EDA47F-565D-4E0C-986E-A6CB88C0F57B}"/>
              </a:ext>
            </a:extLst>
          </p:cNvPr>
          <p:cNvSpPr>
            <a:spLocks xmlns:a="http://schemas.openxmlformats.org/drawingml/2006/main" noGrp="1"/>
          </p:cNvSpPr>
          <p:nvPr/>
        </p:nvSpPr>
        <p:spPr>
          <a:xfrm xmlns:a="http://schemas.openxmlformats.org/drawingml/2006/main">
            <a:off x="6096000" y="2095500"/>
            <a:ext cx="1619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04  SIGNED WEBHOOK</a:t>
            </a:r>
          </a:p>
          <a:p xmlns:a="http://schemas.openxmlformats.org/drawingml/2006/main">
            <a:pPr algn="l">
              <a:lnSpc>
                <a:spcPct val="108000"/>
              </a:lnSpc>
              <a:buNone/>
              <a:defRPr sz="900" b="1" i="0">
                <a:solidFill>
                  <a:srgbClr val="F1EBE2"/>
                </a:solidFill>
              </a:defRPr>
            </a:pPr>
            <a:r>
              <a:rPr sz="900" b="1" i="0">
                <a:solidFill>
                  <a:srgbClr val="F1EBE2"/>
                </a:solidFill>
              </a:rPr>
              <a:t>checkout.session.</a:t>
            </a:r>
          </a:p>
          <a:p xmlns:a="http://schemas.openxmlformats.org/drawingml/2006/main">
            <a:pPr algn="l">
              <a:lnSpc>
                <a:spcPct val="108000"/>
              </a:lnSpc>
              <a:buNone/>
              <a:defRPr sz="900" b="1" i="0">
                <a:solidFill>
                  <a:srgbClr val="F1EBE2"/>
                </a:solidFill>
              </a:defRPr>
            </a:pPr>
            <a:r>
              <a:rPr sz="900" b="1" i="0">
                <a:solidFill>
                  <a:srgbClr val="F1EBE2"/>
                </a:solidFill>
              </a:rPr>
              <a:t>completed</a:t>
            </a:r>
          </a:p>
        </p:txBody>
      </p:sp>
      <p:sp>
        <p:nvSpPr>
          <p:cNvPr id="13" name="">
            <a:extLst xmlns:a="http://schemas.openxmlformats.org/drawingml/2006/main">
              <a:ext uri="{FF2B5EF4-FFF2-40B4-BE49-F238E27FC236}">
                <a16:creationId xmlns:a16="http://schemas.microsoft.com/office/drawing/2014/main" id="{86683558-C010-4C5D-B371-6AE0424D4C7A}"/>
              </a:ext>
            </a:extLst>
          </p:cNvPr>
          <p:cNvSpPr>
            <a:spLocks xmlns:a="http://schemas.openxmlformats.org/drawingml/2006/main" noGrp="1"/>
          </p:cNvSpPr>
          <p:nvPr/>
        </p:nvSpPr>
        <p:spPr>
          <a:xfrm xmlns:a="http://schemas.openxmlformats.org/drawingml/2006/main">
            <a:off x="7943850" y="2095500"/>
            <a:ext cx="1619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05  ACCESS ACTIVATION</a:t>
            </a:r>
          </a:p>
          <a:p xmlns:a="http://schemas.openxmlformats.org/drawingml/2006/main">
            <a:pPr algn="l">
              <a:lnSpc>
                <a:spcPct val="108000"/>
              </a:lnSpc>
              <a:buNone/>
              <a:defRPr sz="900" b="1" i="0">
                <a:solidFill>
                  <a:srgbClr val="F1EBE2"/>
                </a:solidFill>
              </a:defRPr>
            </a:pPr>
            <a:r>
              <a:rPr sz="900" b="1" i="0">
                <a:solidFill>
                  <a:srgbClr val="F1EBE2"/>
                </a:solidFill>
              </a:rPr>
              <a:t>Verify event + correct account</a:t>
            </a:r>
          </a:p>
        </p:txBody>
      </p:sp>
      <p:sp>
        <p:nvSpPr>
          <p:cNvPr id="14" name="">
            <a:extLst xmlns:a="http://schemas.openxmlformats.org/drawingml/2006/main">
              <a:ext uri="{FF2B5EF4-FFF2-40B4-BE49-F238E27FC236}">
                <a16:creationId xmlns:a16="http://schemas.microsoft.com/office/drawing/2014/main" id="{8D156525-4667-48FD-9146-DBFB557CA4BE}"/>
              </a:ext>
            </a:extLst>
          </p:cNvPr>
          <p:cNvSpPr>
            <a:spLocks xmlns:a="http://schemas.openxmlformats.org/drawingml/2006/main" noGrp="1"/>
          </p:cNvSpPr>
          <p:nvPr/>
        </p:nvSpPr>
        <p:spPr>
          <a:xfrm xmlns:a="http://schemas.openxmlformats.org/drawingml/2006/main">
            <a:off x="9791700" y="2095500"/>
            <a:ext cx="1619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97B"/>
                </a:solidFill>
              </a:defRPr>
            </a:pPr>
            <a:r>
              <a:rPr sz="900" b="1" i="0">
                <a:solidFill>
                  <a:srgbClr val="D7B97B"/>
                </a:solidFill>
              </a:rPr>
              <a:t>06  DASHBOARD</a:t>
            </a:r>
          </a:p>
          <a:p xmlns:a="http://schemas.openxmlformats.org/drawingml/2006/main">
            <a:pPr algn="l">
              <a:lnSpc>
                <a:spcPct val="108000"/>
              </a:lnSpc>
              <a:buNone/>
              <a:defRPr sz="900" b="1" i="0">
                <a:solidFill>
                  <a:srgbClr val="D7B97B"/>
                </a:solidFill>
              </a:defRPr>
            </a:pPr>
            <a:r>
              <a:rPr sz="900" b="1" i="0">
                <a:solidFill>
                  <a:srgbClr val="D7B97B"/>
                </a:solidFill>
              </a:rPr>
              <a:t>Continue to /mira/dashboard</a:t>
            </a:r>
          </a:p>
        </p:txBody>
      </p:sp>
      <p:sp>
        <p:nvSpPr>
          <p:cNvPr id="15" name="">
            <a:extLst xmlns:a="http://schemas.openxmlformats.org/drawingml/2006/main">
              <a:ext uri="{FF2B5EF4-FFF2-40B4-BE49-F238E27FC236}">
                <a16:creationId xmlns:a16="http://schemas.microsoft.com/office/drawing/2014/main" id="{65B9B4B8-12A1-4058-B3A4-9F751D1EBEFF}"/>
              </a:ext>
            </a:extLst>
          </p:cNvPr>
          <p:cNvSpPr>
            <a:spLocks xmlns:a="http://schemas.openxmlformats.org/drawingml/2006/main" noGrp="1"/>
          </p:cNvSpPr>
          <p:nvPr/>
        </p:nvSpPr>
        <p:spPr>
          <a:xfrm xmlns:a="http://schemas.openxmlformats.org/drawingml/2006/main">
            <a:off x="4038600" y="23622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16" name="">
            <a:extLst xmlns:a="http://schemas.openxmlformats.org/drawingml/2006/main">
              <a:ext uri="{FF2B5EF4-FFF2-40B4-BE49-F238E27FC236}">
                <a16:creationId xmlns:a16="http://schemas.microsoft.com/office/drawing/2014/main" id="{353F5846-F131-407B-AA1B-1CEB758DE26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
            </a:r>
          </a:p>
        </p:txBody>
      </p:sp>
      <p:sp>
        <p:nvSpPr>
          <p:cNvPr id="17" name="">
            <a:extLst xmlns:a="http://schemas.openxmlformats.org/drawingml/2006/main">
              <a:ext uri="{FF2B5EF4-FFF2-40B4-BE49-F238E27FC236}">
                <a16:creationId xmlns:a16="http://schemas.microsoft.com/office/drawing/2014/main" id="{A116F639-9C65-49AC-B9A8-29125A95E793}"/>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
            </a:r>
          </a:p>
        </p:txBody>
      </p:sp>
      <p:sp>
        <p:nvSpPr>
          <p:cNvPr id="18" name="">
            <a:extLst xmlns:a="http://schemas.openxmlformats.org/drawingml/2006/main">
              <a:ext uri="{FF2B5EF4-FFF2-40B4-BE49-F238E27FC236}">
                <a16:creationId xmlns:a16="http://schemas.microsoft.com/office/drawing/2014/main" id="{C85480E4-76C5-434E-A096-78A89463D99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
            </a:r>
          </a:p>
        </p:txBody>
      </p:sp>
      <p:sp>
        <p:nvSpPr>
          <p:cNvPr id="19" name="">
            <a:extLst xmlns:a="http://schemas.openxmlformats.org/drawingml/2006/main">
              <a:ext uri="{FF2B5EF4-FFF2-40B4-BE49-F238E27FC236}">
                <a16:creationId xmlns:a16="http://schemas.microsoft.com/office/drawing/2014/main" id="{FCA71C09-AB6F-4DCD-B6DC-EDECDC3ED69F}"/>
              </a:ext>
            </a:extLst>
          </p:cNvPr>
          <p:cNvSpPr>
            <a:spLocks xmlns:a="http://schemas.openxmlformats.org/drawingml/2006/main" noGrp="1"/>
          </p:cNvSpPr>
          <p:nvPr/>
        </p:nvSpPr>
        <p:spPr>
          <a:xfrm xmlns:a="http://schemas.openxmlformats.org/drawingml/2006/main">
            <a:off x="5886450" y="23622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20" name="">
            <a:extLst xmlns:a="http://schemas.openxmlformats.org/drawingml/2006/main">
              <a:ext uri="{FF2B5EF4-FFF2-40B4-BE49-F238E27FC236}">
                <a16:creationId xmlns:a16="http://schemas.microsoft.com/office/drawing/2014/main" id="{F43F73DE-2B3A-4B6A-9D60-DF1E10CD765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97B"/>
                </a:solidFill>
              </a:defRPr>
            </a:pPr>
            <a:r>
              <a:rPr sz="900" b="1" i="0">
                <a:solidFill>
                  <a:srgbClr val="D7B97B"/>
                </a:solidFill>
              </a:rPr>
              <a:t/>
            </a:r>
          </a:p>
        </p:txBody>
      </p:sp>
      <p:sp>
        <p:nvSpPr>
          <p:cNvPr id="21" name="">
            <a:extLst xmlns:a="http://schemas.openxmlformats.org/drawingml/2006/main">
              <a:ext uri="{FF2B5EF4-FFF2-40B4-BE49-F238E27FC236}">
                <a16:creationId xmlns:a16="http://schemas.microsoft.com/office/drawing/2014/main" id="{3148B0C9-01D2-4EC5-BEDA-55FA1DE985F3}"/>
              </a:ext>
            </a:extLst>
          </p:cNvPr>
          <p:cNvSpPr>
            <a:spLocks xmlns:a="http://schemas.openxmlformats.org/drawingml/2006/main" noGrp="1"/>
          </p:cNvSpPr>
          <p:nvPr/>
        </p:nvSpPr>
        <p:spPr>
          <a:xfrm xmlns:a="http://schemas.openxmlformats.org/drawingml/2006/main">
            <a:off x="552450" y="39052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1" i="0">
                <a:solidFill>
                  <a:srgbClr val="94CCA2"/>
                </a:solidFill>
              </a:defRPr>
            </a:pPr>
            <a:r>
              <a:rPr sz="1350" b="1" i="0">
                <a:solidFill>
                  <a:srgbClr val="94CCA2"/>
                </a:solidFill>
              </a:rPr>
              <a:t>62 / 62</a:t>
            </a:r>
          </a:p>
          <a:p xmlns:a="http://schemas.openxmlformats.org/drawingml/2006/main">
            <a:pPr algn="l">
              <a:lnSpc>
                <a:spcPct val="108000"/>
              </a:lnSpc>
              <a:buNone/>
              <a:defRPr sz="1350" b="1" i="0">
                <a:solidFill>
                  <a:srgbClr val="94CCA2"/>
                </a:solidFill>
              </a:defRPr>
            </a:pPr>
            <a:r>
              <a:rPr sz="1350" b="1" i="0">
                <a:solidFill>
                  <a:srgbClr val="94CCA2"/>
                </a:solidFill>
              </a:rPr>
              <a:t>Stripe + payment tests passed</a:t>
            </a:r>
          </a:p>
        </p:txBody>
      </p:sp>
      <p:sp>
        <p:nvSpPr>
          <p:cNvPr id="22" name="">
            <a:extLst xmlns:a="http://schemas.openxmlformats.org/drawingml/2006/main">
              <a:ext uri="{FF2B5EF4-FFF2-40B4-BE49-F238E27FC236}">
                <a16:creationId xmlns:a16="http://schemas.microsoft.com/office/drawing/2014/main" id="{7AB1D268-A081-4F32-810D-03C756C20FCE}"/>
              </a:ext>
            </a:extLst>
          </p:cNvPr>
          <p:cNvSpPr>
            <a:spLocks xmlns:a="http://schemas.openxmlformats.org/drawingml/2006/main" noGrp="1"/>
          </p:cNvSpPr>
          <p:nvPr/>
        </p:nvSpPr>
        <p:spPr>
          <a:xfrm xmlns:a="http://schemas.openxmlformats.org/drawingml/2006/main">
            <a:off x="3219450" y="390525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94CCA2"/>
                </a:solidFill>
              </a:defRPr>
            </a:pPr>
            <a:r>
              <a:rPr sz="1125" b="1" i="0">
                <a:solidFill>
                  <a:srgbClr val="94CCA2"/>
                </a:solidFill>
              </a:rPr>
              <a:t>PRODUCTION BUILD</a:t>
            </a:r>
          </a:p>
          <a:p xmlns:a="http://schemas.openxmlformats.org/drawingml/2006/main">
            <a:pPr algn="l">
              <a:lnSpc>
                <a:spcPct val="108000"/>
              </a:lnSpc>
              <a:buNone/>
              <a:defRPr sz="1125" b="1" i="0">
                <a:solidFill>
                  <a:srgbClr val="94CCA2"/>
                </a:solidFill>
              </a:defRPr>
            </a:pPr>
            <a:r>
              <a:rPr sz="1125" b="1" i="0">
                <a:solidFill>
                  <a:srgbClr val="94CCA2"/>
                </a:solidFill>
              </a:rPr>
              <a:t>PASSED</a:t>
            </a:r>
          </a:p>
        </p:txBody>
      </p:sp>
      <p:sp>
        <p:nvSpPr>
          <p:cNvPr id="23" name="">
            <a:extLst xmlns:a="http://schemas.openxmlformats.org/drawingml/2006/main">
              <a:ext uri="{FF2B5EF4-FFF2-40B4-BE49-F238E27FC236}">
                <a16:creationId xmlns:a16="http://schemas.microsoft.com/office/drawing/2014/main" id="{DD27ECFC-EFCE-48FB-8A9C-B7C1533CA3CD}"/>
              </a:ext>
            </a:extLst>
          </p:cNvPr>
          <p:cNvSpPr>
            <a:spLocks xmlns:a="http://schemas.openxmlformats.org/drawingml/2006/main" noGrp="1"/>
          </p:cNvSpPr>
          <p:nvPr/>
        </p:nvSpPr>
        <p:spPr>
          <a:xfrm xmlns:a="http://schemas.openxmlformats.org/drawingml/2006/main">
            <a:off x="7734300" y="23622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24" name="">
            <a:extLst xmlns:a="http://schemas.openxmlformats.org/drawingml/2006/main">
              <a:ext uri="{FF2B5EF4-FFF2-40B4-BE49-F238E27FC236}">
                <a16:creationId xmlns:a16="http://schemas.microsoft.com/office/drawing/2014/main" id="{E64AE5A6-E359-4F4B-8E98-1A3C1229165F}"/>
              </a:ext>
            </a:extLst>
          </p:cNvPr>
          <p:cNvSpPr>
            <a:spLocks xmlns:a="http://schemas.openxmlformats.org/drawingml/2006/main" noGrp="1"/>
          </p:cNvSpPr>
          <p:nvPr/>
        </p:nvSpPr>
        <p:spPr>
          <a:xfrm xmlns:a="http://schemas.openxmlformats.org/drawingml/2006/main">
            <a:off x="5600700" y="3905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94CCA2"/>
                </a:solidFill>
              </a:defRPr>
            </a:pPr>
            <a:r>
              <a:rPr sz="1125" b="1" i="0">
                <a:solidFill>
                  <a:srgbClr val="94CCA2"/>
                </a:solidFill>
              </a:rPr>
              <a:t>WORKSPACE</a:t>
            </a:r>
          </a:p>
          <a:p xmlns:a="http://schemas.openxmlformats.org/drawingml/2006/main">
            <a:pPr algn="l">
              <a:lnSpc>
                <a:spcPct val="108000"/>
              </a:lnSpc>
              <a:buNone/>
              <a:defRPr sz="1125" b="1" i="0">
                <a:solidFill>
                  <a:srgbClr val="94CCA2"/>
                </a:solidFill>
              </a:defRPr>
            </a:pPr>
            <a:r>
              <a:rPr sz="1125" b="1" i="0">
                <a:solidFill>
                  <a:srgbClr val="94CCA2"/>
                </a:solidFill>
              </a:rPr>
              <a:t>0 uncommitted changes</a:t>
            </a:r>
          </a:p>
        </p:txBody>
      </p:sp>
      <p:sp>
        <p:nvSpPr>
          <p:cNvPr id="25" name="">
            <a:extLst xmlns:a="http://schemas.openxmlformats.org/drawingml/2006/main">
              <a:ext uri="{FF2B5EF4-FFF2-40B4-BE49-F238E27FC236}">
                <a16:creationId xmlns:a16="http://schemas.microsoft.com/office/drawing/2014/main" id="{3EC04D81-5F11-4B06-9256-2C4F989D6DE2}"/>
              </a:ext>
            </a:extLst>
          </p:cNvPr>
          <p:cNvSpPr>
            <a:spLocks xmlns:a="http://schemas.openxmlformats.org/drawingml/2006/main" noGrp="1"/>
          </p:cNvSpPr>
          <p:nvPr/>
        </p:nvSpPr>
        <p:spPr>
          <a:xfrm xmlns:a="http://schemas.openxmlformats.org/drawingml/2006/main">
            <a:off x="8172450" y="3829050"/>
            <a:ext cx="3162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F1EBE2"/>
                </a:solidFill>
              </a:defRPr>
            </a:pPr>
            <a:r>
              <a:rPr sz="750" b="1" i="0">
                <a:solidFill>
                  <a:srgbClr val="F1EBE2"/>
                </a:solidFill>
              </a:rPr>
              <a:t>GITHUB CHECKPOINT</a:t>
            </a:r>
          </a:p>
          <a:p xmlns:a="http://schemas.openxmlformats.org/drawingml/2006/main">
            <a:pPr algn="l">
              <a:lnSpc>
                <a:spcPct val="108000"/>
              </a:lnSpc>
              <a:buNone/>
              <a:defRPr sz="750" b="1" i="0">
                <a:solidFill>
                  <a:srgbClr val="F1EBE2"/>
                </a:solidFill>
              </a:defRPr>
            </a:pPr>
            <a:r>
              <a:rPr sz="750" b="1" i="0">
                <a:solidFill>
                  <a:srgbClr val="F1EBE2"/>
                </a:solidFill>
              </a:rPr>
              <a:t>fix/mira-final-ux-runtime</a:t>
            </a:r>
          </a:p>
          <a:p xmlns:a="http://schemas.openxmlformats.org/drawingml/2006/main">
            <a:pPr algn="l">
              <a:lnSpc>
                <a:spcPct val="108000"/>
              </a:lnSpc>
              <a:buNone/>
              <a:defRPr sz="750" b="1" i="0">
                <a:solidFill>
                  <a:srgbClr val="F1EBE2"/>
                </a:solidFill>
              </a:defRPr>
            </a:pPr>
            <a:r>
              <a:rPr sz="750" b="1" i="0">
                <a:solidFill>
                  <a:srgbClr val="F1EBE2"/>
                </a:solidFill>
              </a:rPr>
              <a:t>e2e99e1f47c5d749d6ca91281e24c00a51f10931</a:t>
            </a:r>
          </a:p>
        </p:txBody>
      </p:sp>
      <p:sp>
        <p:nvSpPr>
          <p:cNvPr id="26" name="">
            <a:extLst xmlns:a="http://schemas.openxmlformats.org/drawingml/2006/main">
              <a:ext uri="{FF2B5EF4-FFF2-40B4-BE49-F238E27FC236}">
                <a16:creationId xmlns:a16="http://schemas.microsoft.com/office/drawing/2014/main" id="{D669F483-F57E-422B-A763-DE91FA274EB9}"/>
              </a:ext>
            </a:extLst>
          </p:cNvPr>
          <p:cNvSpPr>
            <a:spLocks xmlns:a="http://schemas.openxmlformats.org/drawingml/2006/main" noGrp="1"/>
          </p:cNvSpPr>
          <p:nvPr/>
        </p:nvSpPr>
        <p:spPr>
          <a:xfrm xmlns:a="http://schemas.openxmlformats.org/drawingml/2006/main">
            <a:off x="552450" y="5095875"/>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D7B97B"/>
                </a:solidFill>
              </a:defRPr>
            </a:pPr>
            <a:r>
              <a:rPr sz="750" b="1" i="0">
                <a:solidFill>
                  <a:srgbClr val="D7B97B"/>
                </a:solidFill>
              </a:rPr>
              <a:t>STRIPE CHECKOUT · STRIPE WEBHOOKS · EXPRESS · AUTHENTICATION + SESSIONS</a:t>
            </a:r>
          </a:p>
        </p:txBody>
      </p:sp>
      <p:sp>
        <p:nvSpPr>
          <p:cNvPr id="27" name="">
            <a:extLst xmlns:a="http://schemas.openxmlformats.org/drawingml/2006/main">
              <a:ext uri="{FF2B5EF4-FFF2-40B4-BE49-F238E27FC236}">
                <a16:creationId xmlns:a16="http://schemas.microsoft.com/office/drawing/2014/main" id="{7AB52210-59CE-4D1B-898B-96D3E7BDF2DD}"/>
              </a:ext>
            </a:extLst>
          </p:cNvPr>
          <p:cNvSpPr>
            <a:spLocks xmlns:a="http://schemas.openxmlformats.org/drawingml/2006/main" noGrp="1"/>
          </p:cNvSpPr>
          <p:nvPr/>
        </p:nvSpPr>
        <p:spPr>
          <a:xfrm xmlns:a="http://schemas.openxmlformats.org/drawingml/2006/main">
            <a:off x="9582150" y="23622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D7B97B"/>
                </a:solidFill>
              </a:defRPr>
            </a:pPr>
            <a:r>
              <a:rPr sz="1350" b="1" i="0">
                <a:solidFill>
                  <a:srgbClr val="D7B97B"/>
                </a:solidFill>
              </a:rPr>
              <a:t>→</a:t>
            </a:r>
          </a:p>
        </p:txBody>
      </p:sp>
      <p:sp>
        <p:nvSpPr>
          <p:cNvPr id="28" name="">
            <a:extLst xmlns:a="http://schemas.openxmlformats.org/drawingml/2006/main">
              <a:ext uri="{FF2B5EF4-FFF2-40B4-BE49-F238E27FC236}">
                <a16:creationId xmlns:a16="http://schemas.microsoft.com/office/drawing/2014/main" id="{02642BA0-65BD-493D-8431-D5FC7242970C}"/>
              </a:ext>
            </a:extLst>
          </p:cNvPr>
          <p:cNvSpPr>
            <a:spLocks xmlns:a="http://schemas.openxmlformats.org/drawingml/2006/main" noGrp="1"/>
          </p:cNvSpPr>
          <p:nvPr/>
        </p:nvSpPr>
        <p:spPr>
          <a:xfrm xmlns:a="http://schemas.openxmlformats.org/drawingml/2006/main">
            <a:off x="6191250" y="5095875"/>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8B0A6"/>
                </a:solidFill>
              </a:defRPr>
            </a:pPr>
            <a:r>
              <a:rPr sz="750" b="1" i="0">
                <a:solidFill>
                  <a:srgbClr val="B8B0A6"/>
                </a:solidFill>
              </a:rPr>
              <a:t>REACT + TYPESCRIPT · DATABASE / DATA LAYER · GIT + GITHUB · MANUS</a:t>
            </a:r>
          </a:p>
        </p:txBody>
      </p:sp>
      <p:sp>
        <p:nvSpPr>
          <p:cNvPr id="29" name="">
            <a:extLst xmlns:a="http://schemas.openxmlformats.org/drawingml/2006/main">
              <a:ext uri="{FF2B5EF4-FFF2-40B4-BE49-F238E27FC236}">
                <a16:creationId xmlns:a16="http://schemas.microsoft.com/office/drawing/2014/main" id="{F4473199-4C26-4426-B5A9-0394C69164D4}"/>
              </a:ext>
            </a:extLst>
          </p:cNvPr>
          <p:cNvSpPr>
            <a:spLocks xmlns:a="http://schemas.openxmlformats.org/drawingml/2006/main" noGrp="1"/>
          </p:cNvSpPr>
          <p:nvPr/>
        </p:nvSpPr>
        <p:spPr>
          <a:xfrm xmlns:a="http://schemas.openxmlformats.org/drawingml/2006/main">
            <a:off x="552450" y="34290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94CCA2"/>
                </a:solidFill>
              </a:defRPr>
            </a:pPr>
            <a:r>
              <a:rPr sz="900" b="1" i="0">
                <a:solidFill>
                  <a:srgbClr val="94CCA2"/>
                </a:solidFill>
              </a:rPr>
              <a:t>VERIFIED CHECKPOINT</a:t>
            </a:r>
          </a:p>
        </p:txBody>
      </p:sp>
      <p:sp>
        <p:nvSpPr>
          <p:cNvPr id="30" name="">
            <a:extLst xmlns:a="http://schemas.openxmlformats.org/drawingml/2006/main">
              <a:ext uri="{FF2B5EF4-FFF2-40B4-BE49-F238E27FC236}">
                <a16:creationId xmlns:a16="http://schemas.microsoft.com/office/drawing/2014/main" id="{404FE778-F217-42BC-A6EE-A3C54B1D8353}"/>
              </a:ext>
            </a:extLst>
          </p:cNvPr>
          <p:cNvSpPr>
            <a:spLocks xmlns:a="http://schemas.openxmlformats.org/drawingml/2006/main" noGrp="1"/>
          </p:cNvSpPr>
          <p:nvPr/>
        </p:nvSpPr>
        <p:spPr>
          <a:xfrm xmlns:a="http://schemas.openxmlformats.org/drawingml/2006/main">
            <a:off x="3333750" y="342900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0" i="0">
                <a:solidFill>
                  <a:srgbClr val="D7B97B"/>
                </a:solidFill>
              </a:defRPr>
            </a:pPr>
            <a:r>
              <a:rPr sz="900" b="0" i="0">
                <a:solidFill>
                  <a:srgbClr val="D7B97B"/>
                </a:solidFill>
              </a:rPr>
              <a:t>The browser success page cannot grant access. The signed server event does.</a:t>
            </a:r>
          </a:p>
        </p:txBody>
      </p:sp>
      <p:sp>
        <p:nvSpPr>
          <p:cNvPr id="31" name="">
            <a:extLst xmlns:a="http://schemas.openxmlformats.org/drawingml/2006/main">
              <a:ext uri="{FF2B5EF4-FFF2-40B4-BE49-F238E27FC236}">
                <a16:creationId xmlns:a16="http://schemas.microsoft.com/office/drawing/2014/main" id="{A8674096-2523-4DD9-BF7A-8690AC5C37B9}"/>
              </a:ext>
            </a:extLst>
          </p:cNvPr>
          <p:cNvSpPr>
            <a:spLocks xmlns:a="http://schemas.openxmlformats.org/drawingml/2006/main" noGrp="1"/>
          </p:cNvSpPr>
          <p:nvPr/>
        </p:nvSpPr>
        <p:spPr>
          <a:xfrm xmlns:a="http://schemas.openxmlformats.org/drawingml/2006/main">
            <a:off x="552450" y="3733800"/>
            <a:ext cx="10782300" cy="0"/>
          </a:xfrm>
          <a:prstGeom xmlns:a="http://schemas.openxmlformats.org/drawingml/2006/main" prst="line">
            <a:avLst/>
          </a:prstGeom>
          <a:noFill xmlns:a="http://schemas.openxmlformats.org/drawingml/2006/main"/>
          <a:ln xmlns:a="http://schemas.openxmlformats.org/drawingml/2006/main" w="19050">
            <a:solidFill>
              <a:srgbClr val="D7B97B"/>
            </a:solidFill>
            <a:prstDash val="solid"/>
          </a:ln>
        </p:spPr>
      </p:sp>
      <p:sp>
        <p:nvSpPr>
          <p:cNvPr id="32" name="">
            <a:extLst xmlns:a="http://schemas.openxmlformats.org/drawingml/2006/main">
              <a:ext uri="{FF2B5EF4-FFF2-40B4-BE49-F238E27FC236}">
                <a16:creationId xmlns:a16="http://schemas.microsoft.com/office/drawing/2014/main" id="{F0211CA9-00F2-4A7E-95A7-71DC3CAEEEA0}"/>
              </a:ext>
            </a:extLst>
          </p:cNvPr>
          <p:cNvSpPr>
            <a:spLocks xmlns:a="http://schemas.openxmlformats.org/drawingml/2006/main" noGrp="1"/>
          </p:cNvSpPr>
          <p:nvPr/>
        </p:nvSpPr>
        <p:spPr>
          <a:xfrm xmlns:a="http://schemas.openxmlformats.org/drawingml/2006/main">
            <a:off x="552450" y="14668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8B0A6"/>
                </a:solidFill>
              </a:defRPr>
            </a:pPr>
            <a:r>
              <a:rPr sz="1125" b="0" i="0">
                <a:solidFill>
                  <a:srgbClr val="B8B0A6"/>
                </a:solidFill>
              </a:rPr>
              <a:t>Stripe securely connects each completed purchase to the correct photographer account.</a:t>
            </a:r>
          </a:p>
        </p:txBody>
      </p:sp>
      <p:sp>
        <p:nvSpPr>
          <p:cNvPr id="33" name="">
            <a:extLst xmlns:a="http://schemas.openxmlformats.org/drawingml/2006/main">
              <a:ext uri="{FF2B5EF4-FFF2-40B4-BE49-F238E27FC236}">
                <a16:creationId xmlns:a16="http://schemas.microsoft.com/office/drawing/2014/main" id="{0367C49D-883C-4848-A482-B34A79989C2C}"/>
              </a:ext>
            </a:extLst>
          </p:cNvPr>
          <p:cNvSpPr>
            <a:spLocks xmlns:a="http://schemas.openxmlformats.org/drawingml/2006/main" noGrp="1"/>
          </p:cNvSpPr>
          <p:nvPr/>
        </p:nvSpPr>
        <p:spPr>
          <a:xfrm xmlns:a="http://schemas.openxmlformats.org/drawingml/2006/main">
            <a:off x="552450" y="5810250"/>
            <a:ext cx="1078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F1EBE2"/>
                </a:solidFill>
              </a:defRPr>
            </a:pPr>
            <a:r>
              <a:rPr sz="900" b="1" i="0">
                <a:solidFill>
                  <a:srgbClr val="F1EBE2"/>
                </a:solidFill>
              </a:rPr>
              <a:t>Production access is granted only after server-side Stripe verification.</a:t>
            </a:r>
          </a:p>
        </p:txBody>
      </p:sp>
    </p:spTree>
    <p:extLst>
      <p:ext uri="{BB962C8B-B14F-4D97-AF65-F5344CB8AC3E}">
        <p14:creationId xmlns:p14="http://schemas.microsoft.com/office/powerpoint/2010/main" val="1183820153"/>
      </p:ext>
    </p:extLst>
  </p:cSld>
</p:sld>
</file>

<file path=ppt/slides/slide10.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C212545-ECA2-4CD5-8070-D4507F09BFB4}"/>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20DF4667-6402-45BC-9E3D-2F598C7094B0}"/>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97B"/>
                </a:solidFill>
              </a:defRPr>
            </a:pPr>
            <a:r>
              <a:rPr sz="825" b="1" i="0">
                <a:solidFill>
                  <a:srgbClr val="D7B97B"/>
                </a:solidFill>
              </a:rPr>
              <a:t>DELIVERY STRATEGY</a:t>
            </a:r>
          </a:p>
        </p:txBody>
      </p:sp>
      <p:sp>
        <p:nvSpPr>
          <p:cNvPr id="3" name="">
            <a:extLst xmlns:a="http://schemas.openxmlformats.org/drawingml/2006/main">
              <a:ext uri="{FF2B5EF4-FFF2-40B4-BE49-F238E27FC236}">
                <a16:creationId xmlns:a16="http://schemas.microsoft.com/office/drawing/2014/main" id="{40C02C29-DB25-4461-9BFA-473372459B64}"/>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578EC88F-9760-45CD-9401-5C361849B50E}"/>
              </a:ext>
            </a:extLst>
          </p:cNvPr>
          <p:cNvSpPr>
            <a:spLocks xmlns:a="http://schemas.openxmlformats.org/drawingml/2006/main" noGrp="1"/>
          </p:cNvSpPr>
          <p:nvPr/>
        </p:nvSpPr>
        <p:spPr>
          <a:xfrm xmlns:a="http://schemas.openxmlformats.org/drawingml/2006/main">
            <a:off x="552450" y="8382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250" b="0" i="0">
                <a:solidFill>
                  <a:srgbClr val="F1EBE2"/>
                </a:solidFill>
              </a:defRPr>
            </a:pPr>
            <a:r>
              <a:rPr sz="2250" b="0" i="0">
                <a:solidFill>
                  <a:srgbClr val="F1EBE2"/>
                </a:solidFill>
              </a:rPr>
              <a:t>A HYBRID BUILD STRATEGY</a:t>
            </a:r>
          </a:p>
        </p:txBody>
      </p:sp>
      <p:sp>
        <p:nvSpPr>
          <p:cNvPr id="5" name="">
            <a:extLst xmlns:a="http://schemas.openxmlformats.org/drawingml/2006/main">
              <a:ext uri="{FF2B5EF4-FFF2-40B4-BE49-F238E27FC236}">
                <a16:creationId xmlns:a16="http://schemas.microsoft.com/office/drawing/2014/main" id="{68C87EC6-8124-40A1-9176-90EAE6C2081E}"/>
              </a:ext>
            </a:extLst>
          </p:cNvPr>
          <p:cNvSpPr>
            <a:spLocks xmlns:a="http://schemas.openxmlformats.org/drawingml/2006/main" noGrp="1"/>
          </p:cNvSpPr>
          <p:nvPr/>
        </p:nvSpPr>
        <p:spPr>
          <a:xfrm xmlns:a="http://schemas.openxmlformats.org/drawingml/2006/main">
            <a:off x="552450" y="1362075"/>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1050" b="0" i="0">
                <a:solidFill>
                  <a:srgbClr val="B8B0A6"/>
                </a:solidFill>
              </a:defRPr>
            </a:pPr>
            <a:r>
              <a:rPr sz="1050" b="0" i="0">
                <a:solidFill>
                  <a:srgbClr val="B8B0A6"/>
                </a:solidFill>
              </a:rPr>
              <a:t>Using each development environment where it creates the most value.</a:t>
            </a:r>
          </a:p>
        </p:txBody>
      </p:sp>
      <p:sp>
        <p:nvSpPr>
          <p:cNvPr id="6" name="">
            <a:extLst xmlns:a="http://schemas.openxmlformats.org/drawingml/2006/main">
              <a:ext uri="{FF2B5EF4-FFF2-40B4-BE49-F238E27FC236}">
                <a16:creationId xmlns:a16="http://schemas.microsoft.com/office/drawing/2014/main" id="{D7404856-3ADF-466F-9920-AF293B401E3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B364BB7F-4A76-4A9C-B050-5CDED923BF76}"/>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675" b="1" i="0">
                <a:solidFill>
                  <a:srgbClr val="B8B0A6"/>
                </a:solidFill>
              </a:defRPr>
            </a:pPr>
            <a:r>
              <a:rPr sz="675" b="1" i="0">
                <a:solidFill>
                  <a:srgbClr val="B8B0A6"/>
                </a:solidFill>
              </a:rPr>
              <a:t>MANUS → GITHUB → VS CODE + CODEX  ·  VERIFIED CHECKPOINT PROTECTED</a:t>
            </a:r>
          </a:p>
        </p:txBody>
      </p:sp>
      <p:sp>
        <p:nvSpPr>
          <p:cNvPr id="8" name="">
            <a:extLst xmlns:a="http://schemas.openxmlformats.org/drawingml/2006/main">
              <a:ext uri="{FF2B5EF4-FFF2-40B4-BE49-F238E27FC236}">
                <a16:creationId xmlns:a16="http://schemas.microsoft.com/office/drawing/2014/main" id="{4EB41076-15F9-44EC-AA25-F733A0DFFED7}"/>
              </a:ext>
            </a:extLst>
          </p:cNvPr>
          <p:cNvSpPr>
            <a:spLocks xmlns:a="http://schemas.openxmlformats.org/drawingml/2006/main" noGrp="1"/>
          </p:cNvSpPr>
          <p:nvPr/>
        </p:nvSpPr>
        <p:spPr>
          <a:xfrm xmlns:a="http://schemas.openxmlformats.org/drawingml/2006/main">
            <a:off x="552450" y="17526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01</a:t>
            </a:r>
          </a:p>
        </p:txBody>
      </p:sp>
      <p:sp>
        <p:nvSpPr>
          <p:cNvPr id="9" name="">
            <a:extLst xmlns:a="http://schemas.openxmlformats.org/drawingml/2006/main">
              <a:ext uri="{FF2B5EF4-FFF2-40B4-BE49-F238E27FC236}">
                <a16:creationId xmlns:a16="http://schemas.microsoft.com/office/drawing/2014/main" id="{8CF1E367-5945-41E8-A8EC-78C1862601C4}"/>
              </a:ext>
            </a:extLst>
          </p:cNvPr>
          <p:cNvSpPr>
            <a:spLocks xmlns:a="http://schemas.openxmlformats.org/drawingml/2006/main" noGrp="1"/>
          </p:cNvSpPr>
          <p:nvPr/>
        </p:nvSpPr>
        <p:spPr>
          <a:xfrm xmlns:a="http://schemas.openxmlformats.org/drawingml/2006/main">
            <a:off x="952500" y="17145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1" i="0">
                <a:solidFill>
                  <a:srgbClr val="F1EBE2"/>
                </a:solidFill>
              </a:defRPr>
            </a:pPr>
            <a:r>
              <a:rPr sz="1350" b="1" i="0">
                <a:solidFill>
                  <a:srgbClr val="F1EBE2"/>
                </a:solidFill>
              </a:rPr>
              <a:t>MANUS</a:t>
            </a:r>
          </a:p>
        </p:txBody>
      </p:sp>
      <p:sp>
        <p:nvSpPr>
          <p:cNvPr id="10" name="">
            <a:extLst xmlns:a="http://schemas.openxmlformats.org/drawingml/2006/main">
              <a:ext uri="{FF2B5EF4-FFF2-40B4-BE49-F238E27FC236}">
                <a16:creationId xmlns:a16="http://schemas.microsoft.com/office/drawing/2014/main" id="{405390B5-F9FA-4BE8-850B-72AE576A8B1A}"/>
              </a:ext>
            </a:extLst>
          </p:cNvPr>
          <p:cNvSpPr>
            <a:spLocks xmlns:a="http://schemas.openxmlformats.org/drawingml/2006/main" noGrp="1"/>
          </p:cNvSpPr>
          <p:nvPr/>
        </p:nvSpPr>
        <p:spPr>
          <a:xfrm xmlns:a="http://schemas.openxmlformats.org/drawingml/2006/main">
            <a:off x="952500" y="2076450"/>
            <a:ext cx="290512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0" i="0">
                <a:solidFill>
                  <a:srgbClr val="B8B0A6"/>
                </a:solidFill>
              </a:defRPr>
            </a:pPr>
            <a:r>
              <a:rPr sz="825" b="0" i="0">
                <a:solidFill>
                  <a:srgbClr val="B8B0A6"/>
                </a:solidFill>
              </a:rPr>
              <a:t>CLOUD INTEGRATION + LIVE VERIFICATION</a:t>
            </a:r>
          </a:p>
          <a:p xmlns:a="http://schemas.openxmlformats.org/drawingml/2006/main">
            <a:pPr algn="l">
              <a:lnSpc>
                <a:spcPct val="108000"/>
              </a:lnSpc>
              <a:buNone/>
              <a:defRPr sz="1125" b="0" i="0">
                <a:solidFill>
                  <a:srgbClr val="BDB5AA"/>
                </a:solidFill>
              </a:defRPr>
            </a:pPr>
            <a:r>
              <a:rPr sz="1125" b="0" i="0">
                <a:solidFill>
                  <a:srgbClr val="BDB5AA"/>
                </a:solidFill>
              </a:rPr>
              <a:t/>
            </a:r>
          </a:p>
          <a:p xmlns:a="http://schemas.openxmlformats.org/drawingml/2006/main">
            <a:pPr algn="l">
              <a:lnSpc>
                <a:spcPct val="108000"/>
              </a:lnSpc>
              <a:buNone/>
              <a:defRPr sz="825" b="0" i="0">
                <a:solidFill>
                  <a:srgbClr val="B8B0A6"/>
                </a:solidFill>
              </a:defRPr>
            </a:pPr>
            <a:r>
              <a:rPr sz="825" b="0" i="0">
                <a:solidFill>
                  <a:srgbClr val="B8B0A6"/>
                </a:solidFill>
              </a:rPr>
              <a:t>Hosted preview · Stripe Checkout · public webhook</a:t>
            </a:r>
          </a:p>
          <a:p xmlns:a="http://schemas.openxmlformats.org/drawingml/2006/main">
            <a:pPr algn="l">
              <a:lnSpc>
                <a:spcPct val="108000"/>
              </a:lnSpc>
              <a:buNone/>
              <a:defRPr sz="825" b="0" i="0">
                <a:solidFill>
                  <a:srgbClr val="B8B0A6"/>
                </a:solidFill>
              </a:defRPr>
            </a:pPr>
            <a:r>
              <a:rPr sz="825" b="0" i="0">
                <a:solidFill>
                  <a:srgbClr val="B8B0A6"/>
                </a:solidFill>
              </a:rPr>
              <a:t>Browser E2E · cloud debugging</a:t>
            </a:r>
          </a:p>
          <a:p xmlns:a="http://schemas.openxmlformats.org/drawingml/2006/main">
            <a:pPr algn="l">
              <a:lnSpc>
                <a:spcPct val="108000"/>
              </a:lnSpc>
              <a:buNone/>
              <a:defRPr sz="1125" b="0" i="0">
                <a:solidFill>
                  <a:srgbClr val="BDB5AA"/>
                </a:solidFill>
              </a:defRPr>
            </a:pPr>
            <a:r>
              <a:rPr sz="1125" b="0" i="0">
                <a:solidFill>
                  <a:srgbClr val="BDB5AA"/>
                </a:solidFill>
              </a:rPr>
              <a:t/>
            </a:r>
          </a:p>
          <a:p xmlns:a="http://schemas.openxmlformats.org/drawingml/2006/main">
            <a:pPr algn="l">
              <a:lnSpc>
                <a:spcPct val="108000"/>
              </a:lnSpc>
              <a:buNone/>
              <a:defRPr sz="825" b="0" i="0">
                <a:solidFill>
                  <a:srgbClr val="B8B0A6"/>
                </a:solidFill>
              </a:defRPr>
            </a:pPr>
            <a:r>
              <a:rPr sz="825" b="0" i="0">
                <a:solidFill>
                  <a:srgbClr val="B8B0A6"/>
                </a:solidFill>
              </a:rPr>
              <a:t>VERIFIED  ·  Stripe working</a:t>
            </a:r>
          </a:p>
          <a:p xmlns:a="http://schemas.openxmlformats.org/drawingml/2006/main">
            <a:pPr algn="l">
              <a:lnSpc>
                <a:spcPct val="108000"/>
              </a:lnSpc>
              <a:buNone/>
              <a:defRPr sz="825" b="0" i="0">
                <a:solidFill>
                  <a:srgbClr val="B8B0A6"/>
                </a:solidFill>
              </a:defRPr>
            </a:pPr>
            <a:r>
              <a:rPr sz="825" b="0" i="0">
                <a:solidFill>
                  <a:srgbClr val="B8B0A6"/>
                </a:solidFill>
              </a:rPr>
              <a:t>62/62 tests  ·  build passed</a:t>
            </a:r>
          </a:p>
        </p:txBody>
      </p:sp>
      <p:sp>
        <p:nvSpPr>
          <p:cNvPr id="11" name="">
            <a:extLst xmlns:a="http://schemas.openxmlformats.org/drawingml/2006/main">
              <a:ext uri="{FF2B5EF4-FFF2-40B4-BE49-F238E27FC236}">
                <a16:creationId xmlns:a16="http://schemas.microsoft.com/office/drawing/2014/main" id="{D869D120-362D-43B7-9E03-F63DCBDD0C7D}"/>
              </a:ext>
            </a:extLst>
          </p:cNvPr>
          <p:cNvSpPr>
            <a:spLocks xmlns:a="http://schemas.openxmlformats.org/drawingml/2006/main" noGrp="1"/>
          </p:cNvSpPr>
          <p:nvPr/>
        </p:nvSpPr>
        <p:spPr>
          <a:xfrm xmlns:a="http://schemas.openxmlformats.org/drawingml/2006/main">
            <a:off x="552450" y="2809875"/>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2" name="">
            <a:extLst xmlns:a="http://schemas.openxmlformats.org/drawingml/2006/main">
              <a:ext uri="{FF2B5EF4-FFF2-40B4-BE49-F238E27FC236}">
                <a16:creationId xmlns:a16="http://schemas.microsoft.com/office/drawing/2014/main" id="{6A8E1BD9-0B4D-44E3-B2EF-8FC651061988}"/>
              </a:ext>
            </a:extLst>
          </p:cNvPr>
          <p:cNvSpPr>
            <a:spLocks xmlns:a="http://schemas.openxmlformats.org/drawingml/2006/main" noGrp="1"/>
          </p:cNvSpPr>
          <p:nvPr/>
        </p:nvSpPr>
        <p:spPr>
          <a:xfrm xmlns:a="http://schemas.openxmlformats.org/drawingml/2006/main">
            <a:off x="4267200" y="17526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02</a:t>
            </a:r>
          </a:p>
        </p:txBody>
      </p:sp>
      <p:sp>
        <p:nvSpPr>
          <p:cNvPr id="13" name="">
            <a:extLst xmlns:a="http://schemas.openxmlformats.org/drawingml/2006/main">
              <a:ext uri="{FF2B5EF4-FFF2-40B4-BE49-F238E27FC236}">
                <a16:creationId xmlns:a16="http://schemas.microsoft.com/office/drawing/2014/main" id="{768F1D83-2C17-462D-A09A-5E7DD59A58F7}"/>
              </a:ext>
            </a:extLst>
          </p:cNvPr>
          <p:cNvSpPr>
            <a:spLocks xmlns:a="http://schemas.openxmlformats.org/drawingml/2006/main" noGrp="1"/>
          </p:cNvSpPr>
          <p:nvPr/>
        </p:nvSpPr>
        <p:spPr>
          <a:xfrm xmlns:a="http://schemas.openxmlformats.org/drawingml/2006/main">
            <a:off x="4667250" y="17145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1" i="0">
                <a:solidFill>
                  <a:srgbClr val="F1EBE2"/>
                </a:solidFill>
              </a:defRPr>
            </a:pPr>
            <a:r>
              <a:rPr sz="1350" b="1" i="0">
                <a:solidFill>
                  <a:srgbClr val="F1EBE2"/>
                </a:solidFill>
              </a:rPr>
              <a:t>◇  GITHUB CHECKPOINT  ✓</a:t>
            </a:r>
          </a:p>
        </p:txBody>
      </p:sp>
      <p:sp>
        <p:nvSpPr>
          <p:cNvPr id="14" name="">
            <a:extLst xmlns:a="http://schemas.openxmlformats.org/drawingml/2006/main">
              <a:ext uri="{FF2B5EF4-FFF2-40B4-BE49-F238E27FC236}">
                <a16:creationId xmlns:a16="http://schemas.microsoft.com/office/drawing/2014/main" id="{E1ABD9D4-ADB3-4A61-99EF-33FA155C1C7D}"/>
              </a:ext>
            </a:extLst>
          </p:cNvPr>
          <p:cNvSpPr>
            <a:spLocks xmlns:a="http://schemas.openxmlformats.org/drawingml/2006/main" noGrp="1"/>
          </p:cNvSpPr>
          <p:nvPr/>
        </p:nvSpPr>
        <p:spPr>
          <a:xfrm xmlns:a="http://schemas.openxmlformats.org/drawingml/2006/main">
            <a:off x="4667250" y="2076450"/>
            <a:ext cx="2952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0" i="0">
                <a:solidFill>
                  <a:srgbClr val="B8B0A6"/>
                </a:solidFill>
              </a:defRPr>
            </a:pPr>
            <a:r>
              <a:rPr sz="750" b="0" i="0">
                <a:solidFill>
                  <a:srgbClr val="B8B0A6"/>
                </a:solidFill>
              </a:rPr>
              <a:t>CONTROLLED BRIDGE</a:t>
            </a:r>
          </a:p>
          <a:p xmlns:a="http://schemas.openxmlformats.org/drawingml/2006/main">
            <a:pPr algn="l">
              <a:lnSpc>
                <a:spcPct val="108000"/>
              </a:lnSpc>
              <a:buNone/>
              <a:defRPr sz="1125" b="0" i="0">
                <a:solidFill>
                  <a:srgbClr val="BDB5AA"/>
                </a:solidFill>
              </a:defRPr>
            </a:pPr>
            <a:r>
              <a:rPr sz="1125" b="0" i="0">
                <a:solidFill>
                  <a:srgbClr val="BDB5AA"/>
                </a:solidFill>
              </a:rPr>
              <a:t/>
            </a:r>
          </a:p>
          <a:p xmlns:a="http://schemas.openxmlformats.org/drawingml/2006/main">
            <a:pPr algn="l">
              <a:lnSpc>
                <a:spcPct val="108000"/>
              </a:lnSpc>
              <a:buNone/>
              <a:defRPr sz="750" b="0" i="0">
                <a:solidFill>
                  <a:srgbClr val="B8B0A6"/>
                </a:solidFill>
              </a:defRPr>
            </a:pPr>
            <a:r>
              <a:rPr sz="750" b="0" i="0">
                <a:solidFill>
                  <a:srgbClr val="B8B0A6"/>
                </a:solidFill>
              </a:rPr>
              <a:t>mariacavali/MIRA-asignment-</a:t>
            </a:r>
          </a:p>
          <a:p xmlns:a="http://schemas.openxmlformats.org/drawingml/2006/main">
            <a:pPr algn="l">
              <a:lnSpc>
                <a:spcPct val="108000"/>
              </a:lnSpc>
              <a:buNone/>
              <a:defRPr sz="750" b="0" i="0">
                <a:solidFill>
                  <a:srgbClr val="B8B0A6"/>
                </a:solidFill>
              </a:defRPr>
            </a:pPr>
            <a:r>
              <a:rPr sz="750" b="0" i="0">
                <a:solidFill>
                  <a:srgbClr val="B8B0A6"/>
                </a:solidFill>
              </a:rPr>
              <a:t>fix/mira-final-ux-runtime · e2e99e1f</a:t>
            </a:r>
          </a:p>
          <a:p xmlns:a="http://schemas.openxmlformats.org/drawingml/2006/main">
            <a:pPr algn="l">
              <a:lnSpc>
                <a:spcPct val="108000"/>
              </a:lnSpc>
              <a:buNone/>
              <a:defRPr sz="1125" b="0" i="0">
                <a:solidFill>
                  <a:srgbClr val="BDB5AA"/>
                </a:solidFill>
              </a:defRPr>
            </a:pPr>
            <a:r>
              <a:rPr sz="1125" b="0" i="0">
                <a:solidFill>
                  <a:srgbClr val="BDB5AA"/>
                </a:solidFill>
              </a:rPr>
              <a:t/>
            </a:r>
          </a:p>
          <a:p xmlns:a="http://schemas.openxmlformats.org/drawingml/2006/main">
            <a:pPr algn="l">
              <a:lnSpc>
                <a:spcPct val="108000"/>
              </a:lnSpc>
              <a:buNone/>
              <a:defRPr sz="750" b="0" i="0">
                <a:solidFill>
                  <a:srgbClr val="B8B0A6"/>
                </a:solidFill>
              </a:defRPr>
            </a:pPr>
            <a:r>
              <a:rPr sz="750" b="0" i="0">
                <a:solidFill>
                  <a:srgbClr val="B8B0A6"/>
                </a:solidFill>
              </a:rPr>
              <a:t>Reproducible · secrets excluded</a:t>
            </a:r>
          </a:p>
          <a:p xmlns:a="http://schemas.openxmlformats.org/drawingml/2006/main">
            <a:pPr algn="l">
              <a:lnSpc>
                <a:spcPct val="108000"/>
              </a:lnSpc>
              <a:buNone/>
              <a:defRPr sz="750" b="0" i="0">
                <a:solidFill>
                  <a:srgbClr val="B8B0A6"/>
                </a:solidFill>
              </a:defRPr>
            </a:pPr>
            <a:r>
              <a:rPr sz="750" b="0" i="0">
                <a:solidFill>
                  <a:srgbClr val="B8B0A6"/>
                </a:solidFill>
              </a:rPr>
              <a:t>Working function protected · main unchanged</a:t>
            </a:r>
          </a:p>
          <a:p xmlns:a="http://schemas.openxmlformats.org/drawingml/2006/main">
            <a:pPr algn="l">
              <a:lnSpc>
                <a:spcPct val="108000"/>
              </a:lnSpc>
              <a:buNone/>
              <a:defRPr sz="750" b="0" i="0">
                <a:solidFill>
                  <a:srgbClr val="B8B0A6"/>
                </a:solidFill>
              </a:defRPr>
            </a:pPr>
            <a:r>
              <a:rPr sz="750" b="0" i="0">
                <a:solidFill>
                  <a:srgbClr val="B8B0A6"/>
                </a:solidFill>
              </a:rPr>
              <a:t>VERIFIED</a:t>
            </a:r>
          </a:p>
        </p:txBody>
      </p:sp>
      <p:sp>
        <p:nvSpPr>
          <p:cNvPr id="15" name="">
            <a:extLst xmlns:a="http://schemas.openxmlformats.org/drawingml/2006/main">
              <a:ext uri="{FF2B5EF4-FFF2-40B4-BE49-F238E27FC236}">
                <a16:creationId xmlns:a16="http://schemas.microsoft.com/office/drawing/2014/main" id="{9B72A7F0-93AB-42F8-AFDC-2A205355189C}"/>
              </a:ext>
            </a:extLst>
          </p:cNvPr>
          <p:cNvSpPr>
            <a:spLocks xmlns:a="http://schemas.openxmlformats.org/drawingml/2006/main" noGrp="1"/>
          </p:cNvSpPr>
          <p:nvPr/>
        </p:nvSpPr>
        <p:spPr>
          <a:xfrm xmlns:a="http://schemas.openxmlformats.org/drawingml/2006/main">
            <a:off x="4267200" y="2809875"/>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6" name="">
            <a:extLst xmlns:a="http://schemas.openxmlformats.org/drawingml/2006/main">
              <a:ext uri="{FF2B5EF4-FFF2-40B4-BE49-F238E27FC236}">
                <a16:creationId xmlns:a16="http://schemas.microsoft.com/office/drawing/2014/main" id="{7A734CF9-6EAA-4BF7-8D1D-367CD94001D8}"/>
              </a:ext>
            </a:extLst>
          </p:cNvPr>
          <p:cNvSpPr>
            <a:spLocks xmlns:a="http://schemas.openxmlformats.org/drawingml/2006/main" noGrp="1"/>
          </p:cNvSpPr>
          <p:nvPr/>
        </p:nvSpPr>
        <p:spPr>
          <a:xfrm xmlns:a="http://schemas.openxmlformats.org/drawingml/2006/main">
            <a:off x="7981950" y="17526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03</a:t>
            </a:r>
          </a:p>
        </p:txBody>
      </p:sp>
      <p:sp>
        <p:nvSpPr>
          <p:cNvPr id="17" name="">
            <a:extLst xmlns:a="http://schemas.openxmlformats.org/drawingml/2006/main">
              <a:ext uri="{FF2B5EF4-FFF2-40B4-BE49-F238E27FC236}">
                <a16:creationId xmlns:a16="http://schemas.microsoft.com/office/drawing/2014/main" id="{18BC1A63-5885-4114-9C03-BB188AFE94F4}"/>
              </a:ext>
            </a:extLst>
          </p:cNvPr>
          <p:cNvSpPr>
            <a:spLocks xmlns:a="http://schemas.openxmlformats.org/drawingml/2006/main" noGrp="1"/>
          </p:cNvSpPr>
          <p:nvPr/>
        </p:nvSpPr>
        <p:spPr>
          <a:xfrm xmlns:a="http://schemas.openxmlformats.org/drawingml/2006/main">
            <a:off x="8382000" y="17145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1" i="0">
                <a:solidFill>
                  <a:srgbClr val="F1EBE2"/>
                </a:solidFill>
              </a:defRPr>
            </a:pPr>
            <a:r>
              <a:rPr sz="1350" b="1" i="0">
                <a:solidFill>
                  <a:srgbClr val="F1EBE2"/>
                </a:solidFill>
              </a:rPr>
              <a:t>VS CODE + CODEX</a:t>
            </a:r>
          </a:p>
        </p:txBody>
      </p:sp>
      <p:sp>
        <p:nvSpPr>
          <p:cNvPr id="18" name="">
            <a:extLst xmlns:a="http://schemas.openxmlformats.org/drawingml/2006/main">
              <a:ext uri="{FF2B5EF4-FFF2-40B4-BE49-F238E27FC236}">
                <a16:creationId xmlns:a16="http://schemas.microsoft.com/office/drawing/2014/main" id="{09ED41D3-7122-4545-9DE9-5CBBF0C7390B}"/>
              </a:ext>
            </a:extLst>
          </p:cNvPr>
          <p:cNvSpPr>
            <a:spLocks xmlns:a="http://schemas.openxmlformats.org/drawingml/2006/main" noGrp="1"/>
          </p:cNvSpPr>
          <p:nvPr/>
        </p:nvSpPr>
        <p:spPr>
          <a:xfrm xmlns:a="http://schemas.openxmlformats.org/drawingml/2006/main">
            <a:off x="8382000" y="2076450"/>
            <a:ext cx="2952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0" i="0">
                <a:solidFill>
                  <a:srgbClr val="B8B0A6"/>
                </a:solidFill>
              </a:defRPr>
            </a:pPr>
            <a:r>
              <a:rPr sz="750" b="0" i="0">
                <a:solidFill>
                  <a:srgbClr val="B8B0A6"/>
                </a:solidFill>
              </a:rPr>
              <a:t>CONTINUED PRODUCT DEVELOPMENT</a:t>
            </a:r>
          </a:p>
          <a:p xmlns:a="http://schemas.openxmlformats.org/drawingml/2006/main">
            <a:pPr algn="l">
              <a:lnSpc>
                <a:spcPct val="108000"/>
              </a:lnSpc>
              <a:buNone/>
              <a:defRPr sz="1125" b="0" i="0">
                <a:solidFill>
                  <a:srgbClr val="BDB5AA"/>
                </a:solidFill>
              </a:defRPr>
            </a:pPr>
            <a:r>
              <a:rPr sz="1125" b="0" i="0">
                <a:solidFill>
                  <a:srgbClr val="BDB5AA"/>
                </a:solidFill>
              </a:rPr>
              <a:t/>
            </a:r>
          </a:p>
          <a:p xmlns:a="http://schemas.openxmlformats.org/drawingml/2006/main">
            <a:pPr algn="l">
              <a:lnSpc>
                <a:spcPct val="108000"/>
              </a:lnSpc>
              <a:buNone/>
              <a:defRPr sz="750" b="0" i="0">
                <a:solidFill>
                  <a:srgbClr val="B8B0A6"/>
                </a:solidFill>
              </a:defRPr>
            </a:pPr>
            <a:r>
              <a:rPr sz="750" b="0" i="0">
                <a:solidFill>
                  <a:srgbClr val="B8B0A6"/>
                </a:solidFill>
              </a:rPr>
              <a:t>Resend · client preparation · five-image input</a:t>
            </a:r>
          </a:p>
          <a:p xmlns:a="http://schemas.openxmlformats.org/drawingml/2006/main">
            <a:pPr algn="l">
              <a:lnSpc>
                <a:spcPct val="108000"/>
              </a:lnSpc>
              <a:buNone/>
              <a:defRPr sz="750" b="0" i="0">
                <a:solidFill>
                  <a:srgbClr val="B8B0A6"/>
                </a:solidFill>
              </a:defRPr>
            </a:pPr>
            <a:r>
              <a:rPr sz="750" b="0" i="0">
                <a:solidFill>
                  <a:srgbClr val="B8B0A6"/>
                </a:solidFill>
              </a:rPr>
              <a:t>Voice + visual journey · LangSmith</a:t>
            </a:r>
          </a:p>
          <a:p xmlns:a="http://schemas.openxmlformats.org/drawingml/2006/main">
            <a:pPr algn="l">
              <a:lnSpc>
                <a:spcPct val="108000"/>
              </a:lnSpc>
              <a:buNone/>
              <a:defRPr sz="750" b="0" i="0">
                <a:solidFill>
                  <a:srgbClr val="B8B0A6"/>
                </a:solidFill>
              </a:defRPr>
            </a:pPr>
            <a:r>
              <a:rPr sz="750" b="0" i="0">
                <a:solidFill>
                  <a:srgbClr val="B8B0A6"/>
                </a:solidFill>
              </a:rPr>
              <a:t>Moodboard · dashboard · local testing</a:t>
            </a:r>
          </a:p>
          <a:p xmlns:a="http://schemas.openxmlformats.org/drawingml/2006/main">
            <a:pPr algn="l">
              <a:lnSpc>
                <a:spcPct val="108000"/>
              </a:lnSpc>
              <a:buNone/>
              <a:defRPr sz="1125" b="0" i="0">
                <a:solidFill>
                  <a:srgbClr val="BDB5AA"/>
                </a:solidFill>
              </a:defRPr>
            </a:pPr>
            <a:r>
              <a:rPr sz="1125" b="0" i="0">
                <a:solidFill>
                  <a:srgbClr val="BDB5AA"/>
                </a:solidFill>
              </a:rPr>
              <a:t/>
            </a:r>
          </a:p>
          <a:p xmlns:a="http://schemas.openxmlformats.org/drawingml/2006/main">
            <a:pPr algn="l">
              <a:lnSpc>
                <a:spcPct val="108000"/>
              </a:lnSpc>
              <a:buNone/>
              <a:defRPr sz="750" b="0" i="0">
                <a:solidFill>
                  <a:srgbClr val="B8B0A6"/>
                </a:solidFill>
              </a:defRPr>
            </a:pPr>
            <a:r>
              <a:rPr sz="750" b="0" i="0">
                <a:solidFill>
                  <a:srgbClr val="B8B0A6"/>
                </a:solidFill>
              </a:rPr>
              <a:t>IN PROGRESS</a:t>
            </a:r>
          </a:p>
        </p:txBody>
      </p:sp>
      <p:sp>
        <p:nvSpPr>
          <p:cNvPr id="19" name="">
            <a:extLst xmlns:a="http://schemas.openxmlformats.org/drawingml/2006/main">
              <a:ext uri="{FF2B5EF4-FFF2-40B4-BE49-F238E27FC236}">
                <a16:creationId xmlns:a16="http://schemas.microsoft.com/office/drawing/2014/main" id="{167B4B51-51E4-44D2-AC59-10B242EBED9F}"/>
              </a:ext>
            </a:extLst>
          </p:cNvPr>
          <p:cNvSpPr>
            <a:spLocks xmlns:a="http://schemas.openxmlformats.org/drawingml/2006/main" noGrp="1"/>
          </p:cNvSpPr>
          <p:nvPr/>
        </p:nvSpPr>
        <p:spPr>
          <a:xfrm xmlns:a="http://schemas.openxmlformats.org/drawingml/2006/main">
            <a:off x="7981950" y="2809875"/>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0" name="">
            <a:extLst xmlns:a="http://schemas.openxmlformats.org/drawingml/2006/main">
              <a:ext uri="{FF2B5EF4-FFF2-40B4-BE49-F238E27FC236}">
                <a16:creationId xmlns:a16="http://schemas.microsoft.com/office/drawing/2014/main" id="{E7360DE1-A8AD-45F5-B35A-8CDAD9F43D93}"/>
              </a:ext>
            </a:extLst>
          </p:cNvPr>
          <p:cNvSpPr>
            <a:spLocks xmlns:a="http://schemas.openxmlformats.org/drawingml/2006/main" noGrp="1"/>
          </p:cNvSpPr>
          <p:nvPr/>
        </p:nvSpPr>
        <p:spPr>
          <a:xfrm xmlns:a="http://schemas.openxmlformats.org/drawingml/2006/main">
            <a:off x="552450" y="36385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D7B97B"/>
                </a:solidFill>
              </a:defRPr>
            </a:pPr>
            <a:r>
              <a:rPr sz="750" b="1" i="0">
                <a:solidFill>
                  <a:srgbClr val="D7B97B"/>
                </a:solidFill>
              </a:rPr>
              <a:t>04</a:t>
            </a:r>
          </a:p>
        </p:txBody>
      </p:sp>
      <p:sp>
        <p:nvSpPr>
          <p:cNvPr id="21" name="">
            <a:extLst xmlns:a="http://schemas.openxmlformats.org/drawingml/2006/main">
              <a:ext uri="{FF2B5EF4-FFF2-40B4-BE49-F238E27FC236}">
                <a16:creationId xmlns:a16="http://schemas.microsoft.com/office/drawing/2014/main" id="{77C4D2E2-DA7A-4083-8958-F6ECFF8EF489}"/>
              </a:ext>
            </a:extLst>
          </p:cNvPr>
          <p:cNvSpPr>
            <a:spLocks xmlns:a="http://schemas.openxmlformats.org/drawingml/2006/main" noGrp="1"/>
          </p:cNvSpPr>
          <p:nvPr/>
        </p:nvSpPr>
        <p:spPr>
          <a:xfrm xmlns:a="http://schemas.openxmlformats.org/drawingml/2006/main">
            <a:off x="952500" y="36004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275" b="1" i="0">
                <a:solidFill>
                  <a:srgbClr val="F1EBE2"/>
                </a:solidFill>
              </a:defRPr>
            </a:pPr>
            <a:r>
              <a:rPr sz="1275" b="1" i="0">
                <a:solidFill>
                  <a:srgbClr val="F1EBE2"/>
                </a:solidFill>
              </a:rPr>
              <a:t>WHY THIS APPROACH?</a:t>
            </a:r>
          </a:p>
        </p:txBody>
      </p:sp>
      <p:sp>
        <p:nvSpPr>
          <p:cNvPr id="22" name="">
            <a:extLst xmlns:a="http://schemas.openxmlformats.org/drawingml/2006/main">
              <a:ext uri="{FF2B5EF4-FFF2-40B4-BE49-F238E27FC236}">
                <a16:creationId xmlns:a16="http://schemas.microsoft.com/office/drawing/2014/main" id="{71E05DCB-9577-4C56-BDBE-EFCCE4D8D400}"/>
              </a:ext>
            </a:extLst>
          </p:cNvPr>
          <p:cNvSpPr>
            <a:spLocks xmlns:a="http://schemas.openxmlformats.org/drawingml/2006/main" noGrp="1"/>
          </p:cNvSpPr>
          <p:nvPr/>
        </p:nvSpPr>
        <p:spPr>
          <a:xfrm xmlns:a="http://schemas.openxmlformats.org/drawingml/2006/main">
            <a:off x="952500" y="39814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0" i="0">
                <a:solidFill>
                  <a:srgbClr val="B8B0A6"/>
                </a:solidFill>
              </a:defRPr>
            </a:pPr>
            <a:r>
              <a:rPr sz="900" b="0" i="0">
                <a:solidFill>
                  <a:srgbClr val="B8B0A6"/>
                </a:solidFill>
              </a:rPr>
              <a:t>Lower cloud-agent credit usage</a:t>
            </a:r>
          </a:p>
          <a:p xmlns:a="http://schemas.openxmlformats.org/drawingml/2006/main">
            <a:pPr algn="l">
              <a:lnSpc>
                <a:spcPct val="108000"/>
              </a:lnSpc>
              <a:buNone/>
              <a:defRPr sz="900" b="0" i="0">
                <a:solidFill>
                  <a:srgbClr val="B8B0A6"/>
                </a:solidFill>
              </a:defRPr>
            </a:pPr>
            <a:r>
              <a:rPr sz="900" b="0" i="0">
                <a:solidFill>
                  <a:srgbClr val="B8B0A6"/>
                </a:solidFill>
              </a:rPr>
              <a:t>Faster code iteration</a:t>
            </a:r>
          </a:p>
          <a:p xmlns:a="http://schemas.openxmlformats.org/drawingml/2006/main">
            <a:pPr algn="l">
              <a:lnSpc>
                <a:spcPct val="108000"/>
              </a:lnSpc>
              <a:buNone/>
              <a:defRPr sz="900" b="0" i="0">
                <a:solidFill>
                  <a:srgbClr val="B8B0A6"/>
                </a:solidFill>
              </a:defRPr>
            </a:pPr>
            <a:r>
              <a:rPr sz="900" b="0" i="0">
                <a:solidFill>
                  <a:srgbClr val="B8B0A6"/>
                </a:solidFill>
              </a:rPr>
              <a:t>Clear version history</a:t>
            </a:r>
          </a:p>
        </p:txBody>
      </p:sp>
      <p:sp>
        <p:nvSpPr>
          <p:cNvPr id="23" name="">
            <a:extLst xmlns:a="http://schemas.openxmlformats.org/drawingml/2006/main">
              <a:ext uri="{FF2B5EF4-FFF2-40B4-BE49-F238E27FC236}">
                <a16:creationId xmlns:a16="http://schemas.microsoft.com/office/drawing/2014/main" id="{BA54EC08-514E-429F-888A-2AB2CE6AEADD}"/>
              </a:ext>
            </a:extLst>
          </p:cNvPr>
          <p:cNvSpPr>
            <a:spLocks xmlns:a="http://schemas.openxmlformats.org/drawingml/2006/main" noGrp="1"/>
          </p:cNvSpPr>
          <p:nvPr/>
        </p:nvSpPr>
        <p:spPr>
          <a:xfrm xmlns:a="http://schemas.openxmlformats.org/drawingml/2006/main">
            <a:off x="552450" y="4572000"/>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4" name="">
            <a:extLst xmlns:a="http://schemas.openxmlformats.org/drawingml/2006/main">
              <a:ext uri="{FF2B5EF4-FFF2-40B4-BE49-F238E27FC236}">
                <a16:creationId xmlns:a16="http://schemas.microsoft.com/office/drawing/2014/main" id="{501FC687-30E3-426A-95E1-0C0E4CE57AD6}"/>
              </a:ext>
            </a:extLst>
          </p:cNvPr>
          <p:cNvSpPr>
            <a:spLocks xmlns:a="http://schemas.openxmlformats.org/drawingml/2006/main" noGrp="1"/>
          </p:cNvSpPr>
          <p:nvPr/>
        </p:nvSpPr>
        <p:spPr>
          <a:xfrm xmlns:a="http://schemas.openxmlformats.org/drawingml/2006/main">
            <a:off x="4267200" y="36385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97B"/>
                </a:solidFill>
              </a:defRPr>
            </a:pPr>
            <a:r>
              <a:rPr sz="900" b="1" i="0">
                <a:solidFill>
                  <a:srgbClr val="D7B97B"/>
                </a:solidFill>
              </a:rPr>
              <a:t>+</a:t>
            </a:r>
          </a:p>
        </p:txBody>
      </p:sp>
      <p:sp>
        <p:nvSpPr>
          <p:cNvPr id="25" name="">
            <a:extLst xmlns:a="http://schemas.openxmlformats.org/drawingml/2006/main">
              <a:ext uri="{FF2B5EF4-FFF2-40B4-BE49-F238E27FC236}">
                <a16:creationId xmlns:a16="http://schemas.microsoft.com/office/drawing/2014/main" id="{6D9C191F-EC11-4477-B44C-7F325E8008BD}"/>
              </a:ext>
            </a:extLst>
          </p:cNvPr>
          <p:cNvSpPr>
            <a:spLocks xmlns:a="http://schemas.openxmlformats.org/drawingml/2006/main" noGrp="1"/>
          </p:cNvSpPr>
          <p:nvPr/>
        </p:nvSpPr>
        <p:spPr>
          <a:xfrm xmlns:a="http://schemas.openxmlformats.org/drawingml/2006/main">
            <a:off x="4667250" y="36004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275" b="1" i="0">
                <a:solidFill>
                  <a:srgbClr val="F1EBE2"/>
                </a:solidFill>
              </a:defRPr>
            </a:pPr>
            <a:r>
              <a:rPr sz="1275" b="1" i="0">
                <a:solidFill>
                  <a:srgbClr val="F1EBE2"/>
                </a:solidFill>
              </a:rPr>
              <a:t>SAFER + MORE PORTABLE</a:t>
            </a:r>
          </a:p>
        </p:txBody>
      </p:sp>
      <p:sp>
        <p:nvSpPr>
          <p:cNvPr id="26" name="">
            <a:extLst xmlns:a="http://schemas.openxmlformats.org/drawingml/2006/main">
              <a:ext uri="{FF2B5EF4-FFF2-40B4-BE49-F238E27FC236}">
                <a16:creationId xmlns:a16="http://schemas.microsoft.com/office/drawing/2014/main" id="{AAFDCEB7-A727-41B7-A16E-728BBBF51B91}"/>
              </a:ext>
            </a:extLst>
          </p:cNvPr>
          <p:cNvSpPr>
            <a:spLocks xmlns:a="http://schemas.openxmlformats.org/drawingml/2006/main" noGrp="1"/>
          </p:cNvSpPr>
          <p:nvPr/>
        </p:nvSpPr>
        <p:spPr>
          <a:xfrm xmlns:a="http://schemas.openxmlformats.org/drawingml/2006/main">
            <a:off x="4667250" y="39814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0" i="0">
                <a:solidFill>
                  <a:srgbClr val="B8B0A6"/>
                </a:solidFill>
              </a:defRPr>
            </a:pPr>
            <a:r>
              <a:rPr sz="900" b="0" i="0">
                <a:solidFill>
                  <a:srgbClr val="B8B0A6"/>
                </a:solidFill>
              </a:rPr>
              <a:t>Reduced vendor dependency</a:t>
            </a:r>
          </a:p>
          <a:p xmlns:a="http://schemas.openxmlformats.org/drawingml/2006/main">
            <a:pPr algn="l">
              <a:lnSpc>
                <a:spcPct val="108000"/>
              </a:lnSpc>
              <a:buNone/>
              <a:defRPr sz="900" b="0" i="0">
                <a:solidFill>
                  <a:srgbClr val="B8B0A6"/>
                </a:solidFill>
              </a:defRPr>
            </a:pPr>
            <a:r>
              <a:rPr sz="900" b="0" i="0">
                <a:solidFill>
                  <a:srgbClr val="B8B0A6"/>
                </a:solidFill>
              </a:rPr>
              <a:t>Verified vs experimental separation</a:t>
            </a:r>
          </a:p>
          <a:p xmlns:a="http://schemas.openxmlformats.org/drawingml/2006/main">
            <a:pPr algn="l">
              <a:lnSpc>
                <a:spcPct val="108000"/>
              </a:lnSpc>
              <a:buNone/>
              <a:defRPr sz="900" b="0" i="0">
                <a:solidFill>
                  <a:srgbClr val="B8B0A6"/>
                </a:solidFill>
              </a:defRPr>
            </a:pPr>
            <a:r>
              <a:rPr sz="900" b="0" i="0">
                <a:solidFill>
                  <a:srgbClr val="B8B0A6"/>
                </a:solidFill>
              </a:rPr>
              <a:t>Product code remains portable</a:t>
            </a:r>
          </a:p>
        </p:txBody>
      </p:sp>
      <p:sp>
        <p:nvSpPr>
          <p:cNvPr id="27" name="">
            <a:extLst xmlns:a="http://schemas.openxmlformats.org/drawingml/2006/main">
              <a:ext uri="{FF2B5EF4-FFF2-40B4-BE49-F238E27FC236}">
                <a16:creationId xmlns:a16="http://schemas.microsoft.com/office/drawing/2014/main" id="{4D87368C-2B1A-4354-B515-9C17A7E7E98C}"/>
              </a:ext>
            </a:extLst>
          </p:cNvPr>
          <p:cNvSpPr>
            <a:spLocks xmlns:a="http://schemas.openxmlformats.org/drawingml/2006/main" noGrp="1"/>
          </p:cNvSpPr>
          <p:nvPr/>
        </p:nvSpPr>
        <p:spPr>
          <a:xfrm xmlns:a="http://schemas.openxmlformats.org/drawingml/2006/main">
            <a:off x="4267200" y="4572000"/>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8" name="">
            <a:extLst xmlns:a="http://schemas.openxmlformats.org/drawingml/2006/main">
              <a:ext uri="{FF2B5EF4-FFF2-40B4-BE49-F238E27FC236}">
                <a16:creationId xmlns:a16="http://schemas.microsoft.com/office/drawing/2014/main" id="{C547E6AC-2A38-4346-A8AA-A75109DA76C8}"/>
              </a:ext>
            </a:extLst>
          </p:cNvPr>
          <p:cNvSpPr>
            <a:spLocks xmlns:a="http://schemas.openxmlformats.org/drawingml/2006/main" noGrp="1"/>
          </p:cNvSpPr>
          <p:nvPr/>
        </p:nvSpPr>
        <p:spPr>
          <a:xfrm xmlns:a="http://schemas.openxmlformats.org/drawingml/2006/main">
            <a:off x="7981950" y="36385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050" b="1" i="0">
                <a:solidFill>
                  <a:srgbClr val="D7B97B"/>
                </a:solidFill>
              </a:defRPr>
            </a:pPr>
            <a:r>
              <a:rPr sz="1050" b="1" i="0">
                <a:solidFill>
                  <a:srgbClr val="D7B97B"/>
                </a:solidFill>
              </a:rPr>
              <a:t>→</a:t>
            </a:r>
          </a:p>
        </p:txBody>
      </p:sp>
      <p:sp>
        <p:nvSpPr>
          <p:cNvPr id="29" name="">
            <a:extLst xmlns:a="http://schemas.openxmlformats.org/drawingml/2006/main">
              <a:ext uri="{FF2B5EF4-FFF2-40B4-BE49-F238E27FC236}">
                <a16:creationId xmlns:a16="http://schemas.microsoft.com/office/drawing/2014/main" id="{CAB9C148-CB8F-403A-8BD7-FC1AA8FE2B23}"/>
              </a:ext>
            </a:extLst>
          </p:cNvPr>
          <p:cNvSpPr>
            <a:spLocks xmlns:a="http://schemas.openxmlformats.org/drawingml/2006/main" noGrp="1"/>
          </p:cNvSpPr>
          <p:nvPr/>
        </p:nvSpPr>
        <p:spPr>
          <a:xfrm xmlns:a="http://schemas.openxmlformats.org/drawingml/2006/main">
            <a:off x="8382000" y="36004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275" b="1" i="0">
                <a:solidFill>
                  <a:srgbClr val="D7B97B"/>
                </a:solidFill>
              </a:defRPr>
            </a:pPr>
            <a:r>
              <a:rPr sz="1275" b="1" i="0">
                <a:solidFill>
                  <a:srgbClr val="D7B97B"/>
                </a:solidFill>
              </a:rPr>
              <a:t>THE DELIVERY DECISION</a:t>
            </a:r>
          </a:p>
        </p:txBody>
      </p:sp>
      <p:sp>
        <p:nvSpPr>
          <p:cNvPr id="30" name="">
            <a:extLst xmlns:a="http://schemas.openxmlformats.org/drawingml/2006/main">
              <a:ext uri="{FF2B5EF4-FFF2-40B4-BE49-F238E27FC236}">
                <a16:creationId xmlns:a16="http://schemas.microsoft.com/office/drawing/2014/main" id="{1213731C-2A2F-44CC-91CF-D81EAAB31D5F}"/>
              </a:ext>
            </a:extLst>
          </p:cNvPr>
          <p:cNvSpPr>
            <a:spLocks xmlns:a="http://schemas.openxmlformats.org/drawingml/2006/main" noGrp="1"/>
          </p:cNvSpPr>
          <p:nvPr/>
        </p:nvSpPr>
        <p:spPr>
          <a:xfrm xmlns:a="http://schemas.openxmlformats.org/drawingml/2006/main">
            <a:off x="8382000" y="39814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F1EBE2"/>
                </a:solidFill>
              </a:defRPr>
            </a:pPr>
            <a:r>
              <a:rPr sz="975" b="1" i="0">
                <a:solidFill>
                  <a:srgbClr val="F1EBE2"/>
                </a:solidFill>
              </a:rPr>
              <a:t>MANUS verified the cloud payment flow.</a:t>
            </a:r>
          </a:p>
          <a:p xmlns:a="http://schemas.openxmlformats.org/drawingml/2006/main">
            <a:pPr algn="l">
              <a:lnSpc>
                <a:spcPct val="108000"/>
              </a:lnSpc>
              <a:buNone/>
              <a:defRPr sz="975" b="1" i="0">
                <a:solidFill>
                  <a:srgbClr val="F1EBE2"/>
                </a:solidFill>
              </a:defRPr>
            </a:pPr>
            <a:r>
              <a:rPr sz="975" b="1" i="0">
                <a:solidFill>
                  <a:srgbClr val="F1EBE2"/>
                </a:solidFill>
              </a:rPr>
              <a:t>GITHUB protected the checkpoint.</a:t>
            </a:r>
          </a:p>
          <a:p xmlns:a="http://schemas.openxmlformats.org/drawingml/2006/main">
            <a:pPr algn="l">
              <a:lnSpc>
                <a:spcPct val="108000"/>
              </a:lnSpc>
              <a:buNone/>
              <a:defRPr sz="975" b="1" i="0">
                <a:solidFill>
                  <a:srgbClr val="F1EBE2"/>
                </a:solidFill>
              </a:defRPr>
            </a:pPr>
            <a:r>
              <a:rPr sz="975" b="1" i="0">
                <a:solidFill>
                  <a:srgbClr val="F1EBE2"/>
                </a:solidFill>
              </a:rPr>
              <a:t>CODEX continues the product build.</a:t>
            </a:r>
          </a:p>
        </p:txBody>
      </p:sp>
      <p:sp>
        <p:nvSpPr>
          <p:cNvPr id="31" name="">
            <a:extLst xmlns:a="http://schemas.openxmlformats.org/drawingml/2006/main">
              <a:ext uri="{FF2B5EF4-FFF2-40B4-BE49-F238E27FC236}">
                <a16:creationId xmlns:a16="http://schemas.microsoft.com/office/drawing/2014/main" id="{D386F018-E886-40F4-9DFA-C693983319C9}"/>
              </a:ext>
            </a:extLst>
          </p:cNvPr>
          <p:cNvSpPr>
            <a:spLocks xmlns:a="http://schemas.openxmlformats.org/drawingml/2006/main" noGrp="1"/>
          </p:cNvSpPr>
          <p:nvPr/>
        </p:nvSpPr>
        <p:spPr>
          <a:xfrm xmlns:a="http://schemas.openxmlformats.org/drawingml/2006/main">
            <a:off x="7981950" y="4572000"/>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Tree>
    <p:extLst>
      <p:ext uri="{BB962C8B-B14F-4D97-AF65-F5344CB8AC3E}">
        <p14:creationId xmlns:p14="http://schemas.microsoft.com/office/powerpoint/2010/main" val="1856188159"/>
      </p:ext>
    </p:extLst>
  </p:cSld>
</p:sld>
</file>

<file path=ppt/slides/slide11.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AC4E3B-5B0D-4B45-8BBF-40FC2E7CCCCC}"/>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F025A801-0F42-48FF-A077-2B086F80475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IMPLEMENTATION</a:t>
            </a:r>
          </a:p>
        </p:txBody>
      </p:sp>
      <p:sp>
        <p:nvSpPr>
          <p:cNvPr id="3" name="">
            <a:extLst xmlns:a="http://schemas.openxmlformats.org/drawingml/2006/main">
              <a:ext uri="{FF2B5EF4-FFF2-40B4-BE49-F238E27FC236}">
                <a16:creationId xmlns:a16="http://schemas.microsoft.com/office/drawing/2014/main" id="{C9175429-0BD9-44D0-8A46-AFA192B8EE76}"/>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BFDB03A5-7D58-4F69-926B-0A2EF4C2F0E9}"/>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The subscription opens a photographer workspace</a:t>
            </a:r>
          </a:p>
        </p:txBody>
      </p:sp>
      <p:sp>
        <p:nvSpPr>
          <p:cNvPr id="5" name="">
            <a:extLst xmlns:a="http://schemas.openxmlformats.org/drawingml/2006/main">
              <a:ext uri="{FF2B5EF4-FFF2-40B4-BE49-F238E27FC236}">
                <a16:creationId xmlns:a16="http://schemas.microsoft.com/office/drawing/2014/main" id="{85496CB3-7D28-4C64-BF26-C92316AD09EF}"/>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WORKING</a:t>
            </a:r>
          </a:p>
        </p:txBody>
      </p:sp>
      <p:sp>
        <p:nvSpPr>
          <p:cNvPr id="6" name="">
            <a:extLst xmlns:a="http://schemas.openxmlformats.org/drawingml/2006/main">
              <a:ext uri="{FF2B5EF4-FFF2-40B4-BE49-F238E27FC236}">
                <a16:creationId xmlns:a16="http://schemas.microsoft.com/office/drawing/2014/main" id="{1D312E91-5F4C-43C0-8287-F3EA61BB22D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8537290B-8A3B-472A-A203-A41DC1C23952}"/>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React · TypeScript · tRPC · Drizzle · Manus private preview</a:t>
            </a:r>
          </a:p>
        </p:txBody>
      </p:sp>
      <p:sp>
        <p:nvSpPr>
          <p:cNvPr id="8" name="">
            <a:extLst xmlns:a="http://schemas.openxmlformats.org/drawingml/2006/main">
              <a:ext uri="{FF2B5EF4-FFF2-40B4-BE49-F238E27FC236}">
                <a16:creationId xmlns:a16="http://schemas.microsoft.com/office/drawing/2014/main" id="{DBF73467-D775-4A50-8C7A-7EA670CBBD64}"/>
              </a:ext>
            </a:extLst>
          </p:cNvPr>
          <p:cNvSpPr>
            <a:spLocks xmlns:a="http://schemas.openxmlformats.org/drawingml/2006/main" noGrp="1"/>
          </p:cNvSpPr>
          <p:nvPr/>
        </p:nvSpPr>
        <p:spPr>
          <a:xfrm xmlns:a="http://schemas.openxmlformats.org/drawingml/2006/main">
            <a:off x="552450" y="19050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75" b="0" i="0">
                <a:solidFill>
                  <a:srgbClr val="F1E8DA"/>
                </a:solidFill>
              </a:defRPr>
            </a:pPr>
            <a:r>
              <a:rPr sz="1875" b="0" i="0">
                <a:solidFill>
                  <a:srgbClr val="F1E8DA"/>
                </a:solidFill>
              </a:rPr>
              <a:t>After onboarding, the photographer reaches a dedicated dashboard, can create a shoot and can return to active shoots. Visual alignment is still being refined; the core workflow is available.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664c9ca869440e1"/>
          <a:srcRect xmlns:a="http://schemas.openxmlformats.org/drawingml/2006/main" l="0" t="8580" r="0" b="8580"/>
          <a:stretch xmlns:a="http://schemas.openxmlformats.org/drawingml/2006/main">
            <a:fillRect l="0" t="0" r="0" b="0"/>
          </a:stretch>
        </p:blipFill>
        <p:spPr>
          <a:xfrm xmlns:a="http://schemas.openxmlformats.org/drawingml/2006/main">
            <a:off x="5524500" y="2038350"/>
            <a:ext cx="6096000" cy="3333750"/>
          </a:xfrm>
          <a:prstGeom xmlns:a="http://schemas.openxmlformats.org/drawingml/2006/main" prst="roundRect">
            <a:avLst/>
          </a:prstGeom>
        </p:spPr>
      </p:pic>
    </p:spTree>
    <p:extLst>
      <p:ext uri="{BB962C8B-B14F-4D97-AF65-F5344CB8AC3E}">
        <p14:creationId xmlns:p14="http://schemas.microsoft.com/office/powerpoint/2010/main" val="840494847"/>
      </p:ext>
    </p:extLst>
  </p:cSld>
</p:sld>
</file>

<file path=ppt/slides/slide12.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AC4E3B-5B0D-4B45-8BBF-40FC2E7CCCCC}"/>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F025A801-0F42-48FF-A077-2B086F80475A}"/>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IMPLEMENTATION</a:t>
            </a:r>
          </a:p>
        </p:txBody>
      </p:sp>
      <p:sp>
        <p:nvSpPr>
          <p:cNvPr id="3" name="">
            <a:extLst xmlns:a="http://schemas.openxmlformats.org/drawingml/2006/main">
              <a:ext uri="{FF2B5EF4-FFF2-40B4-BE49-F238E27FC236}">
                <a16:creationId xmlns:a16="http://schemas.microsoft.com/office/drawing/2014/main" id="{C9175429-0BD9-44D0-8A46-AFA192B8EE76}"/>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BFDB03A5-7D58-4F69-926B-0A2EF4C2F0E9}"/>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One private link moves the client into preparation</a:t>
            </a:r>
          </a:p>
        </p:txBody>
      </p:sp>
      <p:sp>
        <p:nvSpPr>
          <p:cNvPr id="5" name="">
            <a:extLst xmlns:a="http://schemas.openxmlformats.org/drawingml/2006/main">
              <a:ext uri="{FF2B5EF4-FFF2-40B4-BE49-F238E27FC236}">
                <a16:creationId xmlns:a16="http://schemas.microsoft.com/office/drawing/2014/main" id="{85496CB3-7D28-4C64-BF26-C92316AD09EF}"/>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WORKING</a:t>
            </a:r>
          </a:p>
        </p:txBody>
      </p:sp>
      <p:sp>
        <p:nvSpPr>
          <p:cNvPr id="6" name="">
            <a:extLst xmlns:a="http://schemas.openxmlformats.org/drawingml/2006/main">
              <a:ext uri="{FF2B5EF4-FFF2-40B4-BE49-F238E27FC236}">
                <a16:creationId xmlns:a16="http://schemas.microsoft.com/office/drawing/2014/main" id="{1D312E91-5F4C-43C0-8287-F3EA61BB22D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8537290B-8A3B-472A-A203-A41DC1C23952}"/>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Signed invitation link · tRPC · Consent gate · Shared shoot data</a:t>
            </a:r>
          </a:p>
        </p:txBody>
      </p:sp>
      <p:sp>
        <p:nvSpPr>
          <p:cNvPr id="8" name="">
            <a:extLst xmlns:a="http://schemas.openxmlformats.org/drawingml/2006/main">
              <a:ext uri="{FF2B5EF4-FFF2-40B4-BE49-F238E27FC236}">
                <a16:creationId xmlns:a16="http://schemas.microsoft.com/office/drawing/2014/main" id="{DBF73467-D775-4A50-8C7A-7EA670CBBD64}"/>
              </a:ext>
            </a:extLst>
          </p:cNvPr>
          <p:cNvSpPr>
            <a:spLocks xmlns:a="http://schemas.openxmlformats.org/drawingml/2006/main" noGrp="1"/>
          </p:cNvSpPr>
          <p:nvPr/>
        </p:nvSpPr>
        <p:spPr>
          <a:xfrm xmlns:a="http://schemas.openxmlformats.org/drawingml/2006/main">
            <a:off x="552450" y="19050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75" b="0" i="0">
                <a:solidFill>
                  <a:srgbClr val="F1E8DA"/>
                </a:solidFill>
              </a:defRPr>
            </a:pPr>
            <a:r>
              <a:rPr sz="1875" b="0" i="0">
                <a:solidFill>
                  <a:srgbClr val="F1E8DA"/>
                </a:solidFill>
              </a:rPr>
              <a:t>The photographer creates a shoot and shares one private link. The client reviews the shoot details, accepts the preparation conditions and enters a room connected to that exact shoot.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7511ec572a94905"/>
          <a:srcRect xmlns:a="http://schemas.openxmlformats.org/drawingml/2006/main" l="0" t="3801" r="0" b="3801"/>
          <a:stretch xmlns:a="http://schemas.openxmlformats.org/drawingml/2006/main">
            <a:fillRect l="0" t="0" r="0" b="0"/>
          </a:stretch>
        </p:blipFill>
        <p:spPr>
          <a:xfrm xmlns:a="http://schemas.openxmlformats.org/drawingml/2006/main">
            <a:off x="5524500" y="2038350"/>
            <a:ext cx="6096000" cy="3333750"/>
          </a:xfrm>
          <a:prstGeom xmlns:a="http://schemas.openxmlformats.org/drawingml/2006/main" prst="roundRect">
            <a:avLst/>
          </a:prstGeom>
        </p:spPr>
      </p:pic>
    </p:spTree>
    <p:extLst>
      <p:ext uri="{BB962C8B-B14F-4D97-AF65-F5344CB8AC3E}">
        <p14:creationId xmlns:p14="http://schemas.microsoft.com/office/powerpoint/2010/main" val="840494847"/>
      </p:ext>
    </p:extLst>
  </p:cSld>
</p:sld>
</file>

<file path=ppt/slides/slide13.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95F139-1399-4694-971E-ED73FB48A35A}"/>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CDC33AB4-1CDE-453D-872C-AA782796DC9E}"/>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IMPLEMENTATION STATUS</a:t>
            </a:r>
          </a:p>
        </p:txBody>
      </p:sp>
      <p:sp>
        <p:nvSpPr>
          <p:cNvPr id="3" name="">
            <a:extLst xmlns:a="http://schemas.openxmlformats.org/drawingml/2006/main">
              <a:ext uri="{FF2B5EF4-FFF2-40B4-BE49-F238E27FC236}">
                <a16:creationId xmlns:a16="http://schemas.microsoft.com/office/drawing/2014/main" id="{DCC32E08-76D8-42FE-9C41-0F27A4312BC4}"/>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8E3718FB-5DF3-4650-8A71-7AA29B00B349}"/>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The paid journey now reaches the private client room</a:t>
            </a:r>
          </a:p>
        </p:txBody>
      </p:sp>
      <p:sp>
        <p:nvSpPr>
          <p:cNvPr id="5" name="">
            <a:extLst xmlns:a="http://schemas.openxmlformats.org/drawingml/2006/main">
              <a:ext uri="{FF2B5EF4-FFF2-40B4-BE49-F238E27FC236}">
                <a16:creationId xmlns:a16="http://schemas.microsoft.com/office/drawing/2014/main" id="{224C693C-9668-42B1-A2D7-CA5BAF41CAC6}"/>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9DC9A5"/>
                </a:solidFill>
              </a:defRPr>
            </a:pPr>
            <a:r>
              <a:rPr sz="750" b="1" i="0">
                <a:solidFill>
                  <a:srgbClr val="9DC9A5"/>
                </a:solidFill>
              </a:rPr>
              <a:t>BROWSER-VERIFIED</a:t>
            </a:r>
          </a:p>
        </p:txBody>
      </p:sp>
      <p:sp>
        <p:nvSpPr>
          <p:cNvPr id="6" name="">
            <a:extLst xmlns:a="http://schemas.openxmlformats.org/drawingml/2006/main">
              <a:ext uri="{FF2B5EF4-FFF2-40B4-BE49-F238E27FC236}">
                <a16:creationId xmlns:a16="http://schemas.microsoft.com/office/drawing/2014/main" id="{7D5007E1-D301-4101-9F6C-18E7FE2387C4}"/>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F8979DF3-0D76-420C-A2D8-60141A4E7BC6}"/>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Stripe · Webhook · Auth · React · tRPC · Drizzle · Manus</a:t>
            </a:r>
          </a:p>
        </p:txBody>
      </p:sp>
      <p:sp>
        <p:nvSpPr>
          <p:cNvPr id="10" name="">
            <a:extLst xmlns:a="http://schemas.openxmlformats.org/drawingml/2006/main">
              <a:ext uri="{FF2B5EF4-FFF2-40B4-BE49-F238E27FC236}">
                <a16:creationId xmlns:a16="http://schemas.microsoft.com/office/drawing/2014/main" id="{211A1EF3-6368-4F7B-AFF9-5A5E25503340}"/>
              </a:ext>
            </a:extLst>
          </p:cNvPr>
          <p:cNvSpPr>
            <a:spLocks xmlns:a="http://schemas.openxmlformats.org/drawingml/2006/main" noGrp="1"/>
          </p:cNvSpPr>
          <p:nvPr/>
        </p:nvSpPr>
        <p:spPr>
          <a:xfrm xmlns:a="http://schemas.openxmlformats.org/drawingml/2006/main">
            <a:off x="762000" y="56673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9DC9A5"/>
                </a:solidFill>
              </a:defRPr>
            </a:pPr>
            <a:r>
              <a:rPr sz="825" b="1" i="0">
                <a:solidFill>
                  <a:srgbClr val="9DC9A5"/>
                </a:solidFill>
              </a:rPr>
              <a:t>WORKING</a:t>
            </a:r>
          </a:p>
        </p:txBody>
      </p:sp>
      <p:sp>
        <p:nvSpPr>
          <p:cNvPr id="11" name="">
            <a:extLst xmlns:a="http://schemas.openxmlformats.org/drawingml/2006/main">
              <a:ext uri="{FF2B5EF4-FFF2-40B4-BE49-F238E27FC236}">
                <a16:creationId xmlns:a16="http://schemas.microsoft.com/office/drawing/2014/main" id="{852889E6-AAD1-4118-8546-88A4F4215D1A}"/>
              </a:ext>
            </a:extLst>
          </p:cNvPr>
          <p:cNvSpPr>
            <a:spLocks xmlns:a="http://schemas.openxmlformats.org/drawingml/2006/main" noGrp="1"/>
          </p:cNvSpPr>
          <p:nvPr/>
        </p:nvSpPr>
        <p:spPr>
          <a:xfrm xmlns:a="http://schemas.openxmlformats.org/drawingml/2006/main">
            <a:off x="1524000" y="56388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F1E8DA"/>
                </a:solidFill>
              </a:defRPr>
            </a:pPr>
            <a:r>
              <a:rPr sz="1125" b="0" i="0">
                <a:solidFill>
                  <a:srgbClr val="F1E8DA"/>
                </a:solidFill>
              </a:rPr>
              <a:t>Payment → onboarding → dashboard → shoot → private link</a:t>
            </a:r>
          </a:p>
        </p:txBody>
      </p:sp>
      <p:sp>
        <p:nvSpPr>
          <p:cNvPr id="12" name="">
            <a:extLst xmlns:a="http://schemas.openxmlformats.org/drawingml/2006/main">
              <a:ext uri="{FF2B5EF4-FFF2-40B4-BE49-F238E27FC236}">
                <a16:creationId xmlns:a16="http://schemas.microsoft.com/office/drawing/2014/main" id="{C475D97F-8D03-4427-87BC-4489F2ADA58B}"/>
              </a:ext>
            </a:extLst>
          </p:cNvPr>
          <p:cNvSpPr>
            <a:spLocks xmlns:a="http://schemas.openxmlformats.org/drawingml/2006/main" noGrp="1"/>
          </p:cNvSpPr>
          <p:nvPr/>
        </p:nvSpPr>
        <p:spPr>
          <a:xfrm xmlns:a="http://schemas.openxmlformats.org/drawingml/2006/main">
            <a:off x="6334125" y="56673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E6A3A3"/>
                </a:solidFill>
              </a:defRPr>
            </a:pPr>
            <a:r>
              <a:rPr sz="825" b="1" i="0">
                <a:solidFill>
                  <a:srgbClr val="E6A3A3"/>
                </a:solidFill>
              </a:rPr>
              <a:t>NEXT</a:t>
            </a:r>
          </a:p>
        </p:txBody>
      </p:sp>
      <p:sp>
        <p:nvSpPr>
          <p:cNvPr id="13" name="">
            <a:extLst xmlns:a="http://schemas.openxmlformats.org/drawingml/2006/main">
              <a:ext uri="{FF2B5EF4-FFF2-40B4-BE49-F238E27FC236}">
                <a16:creationId xmlns:a16="http://schemas.microsoft.com/office/drawing/2014/main" id="{49983F65-01AC-48DD-87E6-DCD119FCC88E}"/>
              </a:ext>
            </a:extLst>
          </p:cNvPr>
          <p:cNvSpPr>
            <a:spLocks xmlns:a="http://schemas.openxmlformats.org/drawingml/2006/main" noGrp="1"/>
          </p:cNvSpPr>
          <p:nvPr/>
        </p:nvSpPr>
        <p:spPr>
          <a:xfrm xmlns:a="http://schemas.openxmlformats.org/drawingml/2006/main">
            <a:off x="6810375" y="56388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F1E8DA"/>
                </a:solidFill>
              </a:defRPr>
            </a:pPr>
            <a:r>
              <a:rPr sz="1125" b="0" i="0">
                <a:solidFill>
                  <a:srgbClr val="F1E8DA"/>
                </a:solidFill>
              </a:rPr>
              <a:t>Voice · timed email delivery · generated moodboard</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81cc2efc61479f"/>
          <a:srcRect xmlns:a="http://schemas.openxmlformats.org/drawingml/2006/main" l="11615" t="0" r="11615" b="0"/>
          <a:stretch xmlns:a="http://schemas.openxmlformats.org/drawingml/2006/main">
            <a:fillRect l="0" t="0" r="0" b="0"/>
          </a:stretch>
        </p:blipFill>
        <p:spPr>
          <a:xfrm xmlns:a="http://schemas.openxmlformats.org/drawingml/2006/main">
            <a:off x="947576" y="1809750"/>
            <a:ext cx="4305623" cy="3714750"/>
          </a:xfrm>
          <a:prstGeom xmlns:a="http://schemas.openxmlformats.org/drawingml/2006/main" prst="round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e898edd0f5c4d98"/>
          <a:srcRect xmlns:a="http://schemas.openxmlformats.org/drawingml/2006/main" l="0" t="2575" r="0" b="2575"/>
          <a:stretch xmlns:a="http://schemas.openxmlformats.org/drawingml/2006/main">
            <a:fillRect l="0" t="0" r="0" b="0"/>
          </a:stretch>
        </p:blipFill>
        <p:spPr>
          <a:xfrm xmlns:a="http://schemas.openxmlformats.org/drawingml/2006/main">
            <a:off x="6096000" y="2116461"/>
            <a:ext cx="5524500" cy="3101329"/>
          </a:xfrm>
          <a:prstGeom xmlns:a="http://schemas.openxmlformats.org/drawingml/2006/main" prst="roundRect">
            <a:avLst/>
          </a:prstGeom>
        </p:spPr>
      </p:pic>
    </p:spTree>
    <p:extLst>
      <p:ext uri="{BB962C8B-B14F-4D97-AF65-F5344CB8AC3E}">
        <p14:creationId xmlns:p14="http://schemas.microsoft.com/office/powerpoint/2010/main" val="2115651388"/>
      </p:ext>
    </p:extLst>
  </p:cSld>
</p:sld>
</file>

<file path=ppt/slides/slide14.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1F73F7-84A8-4D3B-AEFB-9F7DB6CCC8CA}"/>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B0D5C331-26B1-43EF-93BB-DE9AC95D83F2}"/>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DEMO STRATEGY</a:t>
            </a:r>
          </a:p>
        </p:txBody>
      </p:sp>
      <p:sp>
        <p:nvSpPr>
          <p:cNvPr id="3" name="">
            <a:extLst xmlns:a="http://schemas.openxmlformats.org/drawingml/2006/main">
              <a:ext uri="{FF2B5EF4-FFF2-40B4-BE49-F238E27FC236}">
                <a16:creationId xmlns:a16="http://schemas.microsoft.com/office/drawing/2014/main" id="{C998E25F-26F3-48FB-A465-7432B6E9E66D}"/>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933DD0F8-DA2F-433F-A2B0-D8DEDA342507}"/>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The safest classroom demo separates proof from production</a:t>
            </a:r>
          </a:p>
        </p:txBody>
      </p:sp>
      <p:sp>
        <p:nvSpPr>
          <p:cNvPr id="5" name="">
            <a:extLst xmlns:a="http://schemas.openxmlformats.org/drawingml/2006/main">
              <a:ext uri="{FF2B5EF4-FFF2-40B4-BE49-F238E27FC236}">
                <a16:creationId xmlns:a16="http://schemas.microsoft.com/office/drawing/2014/main" id="{61F5E00C-22B2-4E03-8CBB-E28B4A1182BB}"/>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RECOMMENDED</a:t>
            </a:r>
          </a:p>
        </p:txBody>
      </p:sp>
      <p:sp>
        <p:nvSpPr>
          <p:cNvPr id="6" name="">
            <a:extLst xmlns:a="http://schemas.openxmlformats.org/drawingml/2006/main">
              <a:ext uri="{FF2B5EF4-FFF2-40B4-BE49-F238E27FC236}">
                <a16:creationId xmlns:a16="http://schemas.microsoft.com/office/drawing/2014/main" id="{FAA42B41-812F-4A2B-B33C-5EC4A537EDCA}"/>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365DCBF9-7112-4DA7-A767-A917C5AE3763}"/>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Manus private preview · Demo mode</a:t>
            </a:r>
          </a:p>
        </p:txBody>
      </p:sp>
      <p:sp>
        <p:nvSpPr>
          <p:cNvPr id="8" name="">
            <a:extLst xmlns:a="http://schemas.openxmlformats.org/drawingml/2006/main">
              <a:ext uri="{FF2B5EF4-FFF2-40B4-BE49-F238E27FC236}">
                <a16:creationId xmlns:a16="http://schemas.microsoft.com/office/drawing/2014/main" id="{F656FB72-A4CF-4B76-A0AD-31DCA72F04F9}"/>
              </a:ext>
            </a:extLst>
          </p:cNvPr>
          <p:cNvSpPr>
            <a:spLocks xmlns:a="http://schemas.openxmlformats.org/drawingml/2006/main" noGrp="1"/>
          </p:cNvSpPr>
          <p:nvPr/>
        </p:nvSpPr>
        <p:spPr>
          <a:xfrm xmlns:a="http://schemas.openxmlformats.org/drawingml/2006/main">
            <a:off x="552450" y="1857375"/>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COMMERCIAL PROOF</a:t>
            </a:r>
          </a:p>
        </p:txBody>
      </p:sp>
      <p:sp>
        <p:nvSpPr>
          <p:cNvPr id="9" name="">
            <a:extLst xmlns:a="http://schemas.openxmlformats.org/drawingml/2006/main">
              <a:ext uri="{FF2B5EF4-FFF2-40B4-BE49-F238E27FC236}">
                <a16:creationId xmlns:a16="http://schemas.microsoft.com/office/drawing/2014/main" id="{02AB1942-13D1-4E79-9D59-D5752137BA3D}"/>
              </a:ext>
            </a:extLst>
          </p:cNvPr>
          <p:cNvSpPr>
            <a:spLocks xmlns:a="http://schemas.openxmlformats.org/drawingml/2006/main" noGrp="1"/>
          </p:cNvSpPr>
          <p:nvPr/>
        </p:nvSpPr>
        <p:spPr>
          <a:xfrm xmlns:a="http://schemas.openxmlformats.org/drawingml/2006/main">
            <a:off x="552450" y="2286000"/>
            <a:ext cx="4476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100" b="0" i="0">
                <a:solidFill>
                  <a:srgbClr val="F1E8DA"/>
                </a:solidFill>
              </a:defRPr>
            </a:pPr>
            <a:r>
              <a:rPr sz="2100" b="0" i="0">
                <a:solidFill>
                  <a:srgbClr val="F1E8DA"/>
                </a:solidFill>
              </a:rPr>
              <a:t>Show the real Stripe-hosted checkout and the €0 MIRADEMO confirmation as evidence of the payment integration.</a:t>
            </a:r>
          </a:p>
        </p:txBody>
      </p:sp>
      <p:sp>
        <p:nvSpPr>
          <p:cNvPr id="10" name="">
            <a:extLst xmlns:a="http://schemas.openxmlformats.org/drawingml/2006/main">
              <a:ext uri="{FF2B5EF4-FFF2-40B4-BE49-F238E27FC236}">
                <a16:creationId xmlns:a16="http://schemas.microsoft.com/office/drawing/2014/main" id="{547141A9-58D1-4FF1-8E40-81D52084E035}"/>
              </a:ext>
            </a:extLst>
          </p:cNvPr>
          <p:cNvSpPr>
            <a:spLocks xmlns:a="http://schemas.openxmlformats.org/drawingml/2006/main" noGrp="1"/>
          </p:cNvSpPr>
          <p:nvPr/>
        </p:nvSpPr>
        <p:spPr>
          <a:xfrm xmlns:a="http://schemas.openxmlformats.org/drawingml/2006/main">
            <a:off x="6477000" y="1857375"/>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DEMO CONTINUITY</a:t>
            </a:r>
          </a:p>
        </p:txBody>
      </p:sp>
      <p:sp>
        <p:nvSpPr>
          <p:cNvPr id="11" name="">
            <a:extLst xmlns:a="http://schemas.openxmlformats.org/drawingml/2006/main">
              <a:ext uri="{FF2B5EF4-FFF2-40B4-BE49-F238E27FC236}">
                <a16:creationId xmlns:a16="http://schemas.microsoft.com/office/drawing/2014/main" id="{58A3782F-026C-4D41-916D-A09E39BBC8B9}"/>
              </a:ext>
            </a:extLst>
          </p:cNvPr>
          <p:cNvSpPr>
            <a:spLocks xmlns:a="http://schemas.openxmlformats.org/drawingml/2006/main" noGrp="1"/>
          </p:cNvSpPr>
          <p:nvPr/>
        </p:nvSpPr>
        <p:spPr>
          <a:xfrm xmlns:a="http://schemas.openxmlformats.org/drawingml/2006/main">
            <a:off x="6477000" y="2286000"/>
            <a:ext cx="4667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100" b="0" i="0">
                <a:solidFill>
                  <a:srgbClr val="F1E8DA"/>
                </a:solidFill>
              </a:defRPr>
            </a:pPr>
            <a:r>
              <a:rPr sz="2100" b="0" i="0">
                <a:solidFill>
                  <a:srgbClr val="F1E8DA"/>
                </a:solidFill>
              </a:rPr>
              <a:t>Use a clearly labelled demo-only access button to continue into the dashboard without pretending that payment activated the account.</a:t>
            </a:r>
          </a:p>
        </p:txBody>
      </p:sp>
      <p:sp>
        <p:nvSpPr>
          <p:cNvPr id="12" name="">
            <a:extLst xmlns:a="http://schemas.openxmlformats.org/drawingml/2006/main">
              <a:ext uri="{FF2B5EF4-FFF2-40B4-BE49-F238E27FC236}">
                <a16:creationId xmlns:a16="http://schemas.microsoft.com/office/drawing/2014/main" id="{7901BB57-CCA2-43D4-9100-D739847A27C6}"/>
              </a:ext>
            </a:extLst>
          </p:cNvPr>
          <p:cNvSpPr>
            <a:spLocks xmlns:a="http://schemas.openxmlformats.org/drawingml/2006/main" noGrp="1"/>
          </p:cNvSpPr>
          <p:nvPr/>
        </p:nvSpPr>
        <p:spPr>
          <a:xfrm xmlns:a="http://schemas.openxmlformats.org/drawingml/2006/main">
            <a:off x="6477000" y="44005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1" i="0">
                <a:solidFill>
                  <a:srgbClr val="E6A3A3"/>
                </a:solidFill>
              </a:defRPr>
            </a:pPr>
            <a:r>
              <a:rPr sz="1350" b="1" i="0">
                <a:solidFill>
                  <a:srgbClr val="E6A3A3"/>
                </a:solidFill>
              </a:rPr>
              <a:t>Never enable the bypass in production.</a:t>
            </a:r>
          </a:p>
        </p:txBody>
      </p:sp>
    </p:spTree>
    <p:extLst>
      <p:ext uri="{BB962C8B-B14F-4D97-AF65-F5344CB8AC3E}">
        <p14:creationId xmlns:p14="http://schemas.microsoft.com/office/powerpoint/2010/main" val="31313010"/>
      </p:ext>
    </p:extLst>
  </p:cSld>
</p:sld>
</file>

<file path=ppt/slides/slide15.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83ACDF-BC3F-4206-B6C9-0DDB5A185C63}"/>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29EED7A3-FEFF-455C-AAB9-609B626E65F9}"/>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AUTOMATION POC</a:t>
            </a:r>
          </a:p>
        </p:txBody>
      </p:sp>
      <p:sp>
        <p:nvSpPr>
          <p:cNvPr id="3" name="">
            <a:extLst xmlns:a="http://schemas.openxmlformats.org/drawingml/2006/main">
              <a:ext uri="{FF2B5EF4-FFF2-40B4-BE49-F238E27FC236}">
                <a16:creationId xmlns:a16="http://schemas.microsoft.com/office/drawing/2014/main" id="{33F237CF-5C5E-40BD-ADF7-5C63EB280670}"/>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64EA4856-A7F9-4467-8F1B-AFC50A0D4B07}"/>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n8n orchestrates the future moodboard pipeline</a:t>
            </a:r>
          </a:p>
        </p:txBody>
      </p:sp>
      <p:sp>
        <p:nvSpPr>
          <p:cNvPr id="5" name="">
            <a:extLst xmlns:a="http://schemas.openxmlformats.org/drawingml/2006/main">
              <a:ext uri="{FF2B5EF4-FFF2-40B4-BE49-F238E27FC236}">
                <a16:creationId xmlns:a16="http://schemas.microsoft.com/office/drawing/2014/main" id="{460BB254-0ACE-4608-9FDF-46628ABA3146}"/>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EVIDENCE NEEDED</a:t>
            </a:r>
          </a:p>
        </p:txBody>
      </p:sp>
      <p:sp>
        <p:nvSpPr>
          <p:cNvPr id="6" name="">
            <a:extLst xmlns:a="http://schemas.openxmlformats.org/drawingml/2006/main">
              <a:ext uri="{FF2B5EF4-FFF2-40B4-BE49-F238E27FC236}">
                <a16:creationId xmlns:a16="http://schemas.microsoft.com/office/drawing/2014/main" id="{41109CBA-4A74-4F3F-8C24-54629B8B01D3}"/>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5F641ED8-070E-483A-9C31-158C1E6333EE}"/>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n8n · API workflow · File storage</a:t>
            </a:r>
          </a:p>
        </p:txBody>
      </p:sp>
      <p:sp>
        <p:nvSpPr>
          <p:cNvPr id="8" name="">
            <a:extLst xmlns:a="http://schemas.openxmlformats.org/drawingml/2006/main">
              <a:ext uri="{FF2B5EF4-FFF2-40B4-BE49-F238E27FC236}">
                <a16:creationId xmlns:a16="http://schemas.microsoft.com/office/drawing/2014/main" id="{38EE959A-5351-4146-A67E-743845E85569}"/>
              </a:ext>
            </a:extLst>
          </p:cNvPr>
          <p:cNvSpPr>
            <a:spLocks xmlns:a="http://schemas.openxmlformats.org/drawingml/2006/main" noGrp="1"/>
          </p:cNvSpPr>
          <p:nvPr/>
        </p:nvSpPr>
        <p:spPr>
          <a:xfrm xmlns:a="http://schemas.openxmlformats.org/drawingml/2006/main">
            <a:off x="590550" y="22383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8000"/>
              </a:lnSpc>
              <a:buNone/>
              <a:defRPr sz="2100" b="1" i="0">
                <a:solidFill>
                  <a:srgbClr val="D7BB86"/>
                </a:solidFill>
              </a:defRPr>
            </a:pPr>
            <a:r>
              <a:rPr sz="2100" b="1" i="0">
                <a:solidFill>
                  <a:srgbClr val="D7BB86"/>
                </a:solidFill>
              </a:rPr>
              <a:t>1</a:t>
            </a:r>
          </a:p>
        </p:txBody>
      </p:sp>
      <p:sp>
        <p:nvSpPr>
          <p:cNvPr id="9" name="">
            <a:extLst xmlns:a="http://schemas.openxmlformats.org/drawingml/2006/main">
              <a:ext uri="{FF2B5EF4-FFF2-40B4-BE49-F238E27FC236}">
                <a16:creationId xmlns:a16="http://schemas.microsoft.com/office/drawing/2014/main" id="{10F2E19D-B11F-4CBB-AE1A-92DFD870256E}"/>
              </a:ext>
            </a:extLst>
          </p:cNvPr>
          <p:cNvSpPr>
            <a:spLocks xmlns:a="http://schemas.openxmlformats.org/drawingml/2006/main" noGrp="1"/>
          </p:cNvSpPr>
          <p:nvPr/>
        </p:nvSpPr>
        <p:spPr>
          <a:xfrm xmlns:a="http://schemas.openxmlformats.org/drawingml/2006/main">
            <a:off x="1114425" y="2447925"/>
            <a:ext cx="1428750" cy="0"/>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10" name="">
            <a:extLst xmlns:a="http://schemas.openxmlformats.org/drawingml/2006/main">
              <a:ext uri="{FF2B5EF4-FFF2-40B4-BE49-F238E27FC236}">
                <a16:creationId xmlns:a16="http://schemas.microsoft.com/office/drawing/2014/main" id="{D549F88D-741B-448B-83DF-7328115698B5}"/>
              </a:ext>
            </a:extLst>
          </p:cNvPr>
          <p:cNvSpPr>
            <a:spLocks xmlns:a="http://schemas.openxmlformats.org/drawingml/2006/main" noGrp="1"/>
          </p:cNvSpPr>
          <p:nvPr/>
        </p:nvSpPr>
        <p:spPr>
          <a:xfrm xmlns:a="http://schemas.openxmlformats.org/drawingml/2006/main">
            <a:off x="590550" y="290512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F1E8DA"/>
                </a:solidFill>
              </a:defRPr>
            </a:pPr>
            <a:r>
              <a:rPr sz="1350" b="1" i="0">
                <a:solidFill>
                  <a:srgbClr val="F1E8DA"/>
                </a:solidFill>
              </a:rPr>
              <a:t>Receive client brief</a:t>
            </a:r>
          </a:p>
        </p:txBody>
      </p:sp>
      <p:sp>
        <p:nvSpPr>
          <p:cNvPr id="11" name="">
            <a:extLst xmlns:a="http://schemas.openxmlformats.org/drawingml/2006/main">
              <a:ext uri="{FF2B5EF4-FFF2-40B4-BE49-F238E27FC236}">
                <a16:creationId xmlns:a16="http://schemas.microsoft.com/office/drawing/2014/main" id="{DCCACF7B-5116-4A79-8860-0BB57C12D222}"/>
              </a:ext>
            </a:extLst>
          </p:cNvPr>
          <p:cNvSpPr>
            <a:spLocks xmlns:a="http://schemas.openxmlformats.org/drawingml/2006/main" noGrp="1"/>
          </p:cNvSpPr>
          <p:nvPr/>
        </p:nvSpPr>
        <p:spPr>
          <a:xfrm xmlns:a="http://schemas.openxmlformats.org/drawingml/2006/main">
            <a:off x="2800350" y="22383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8000"/>
              </a:lnSpc>
              <a:buNone/>
              <a:defRPr sz="2100" b="1" i="0">
                <a:solidFill>
                  <a:srgbClr val="D7BB86"/>
                </a:solidFill>
              </a:defRPr>
            </a:pPr>
            <a:r>
              <a:rPr sz="2100" b="1" i="0">
                <a:solidFill>
                  <a:srgbClr val="D7BB86"/>
                </a:solidFill>
              </a:rPr>
              <a:t>2</a:t>
            </a:r>
          </a:p>
        </p:txBody>
      </p:sp>
      <p:sp>
        <p:nvSpPr>
          <p:cNvPr id="12" name="">
            <a:extLst xmlns:a="http://schemas.openxmlformats.org/drawingml/2006/main">
              <a:ext uri="{FF2B5EF4-FFF2-40B4-BE49-F238E27FC236}">
                <a16:creationId xmlns:a16="http://schemas.microsoft.com/office/drawing/2014/main" id="{17344D35-8B0D-42B5-8ED3-0A61305DEAE6}"/>
              </a:ext>
            </a:extLst>
          </p:cNvPr>
          <p:cNvSpPr>
            <a:spLocks xmlns:a="http://schemas.openxmlformats.org/drawingml/2006/main" noGrp="1"/>
          </p:cNvSpPr>
          <p:nvPr/>
        </p:nvSpPr>
        <p:spPr>
          <a:xfrm xmlns:a="http://schemas.openxmlformats.org/drawingml/2006/main">
            <a:off x="3324225" y="2447925"/>
            <a:ext cx="1428750" cy="0"/>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13" name="">
            <a:extLst xmlns:a="http://schemas.openxmlformats.org/drawingml/2006/main">
              <a:ext uri="{FF2B5EF4-FFF2-40B4-BE49-F238E27FC236}">
                <a16:creationId xmlns:a16="http://schemas.microsoft.com/office/drawing/2014/main" id="{C415B2F0-CB4B-49EB-9F04-2199A42A8ECD}"/>
              </a:ext>
            </a:extLst>
          </p:cNvPr>
          <p:cNvSpPr>
            <a:spLocks xmlns:a="http://schemas.openxmlformats.org/drawingml/2006/main" noGrp="1"/>
          </p:cNvSpPr>
          <p:nvPr/>
        </p:nvSpPr>
        <p:spPr>
          <a:xfrm xmlns:a="http://schemas.openxmlformats.org/drawingml/2006/main">
            <a:off x="2800350" y="290512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F1E8DA"/>
                </a:solidFill>
              </a:defRPr>
            </a:pPr>
            <a:r>
              <a:rPr sz="1350" b="1" i="0">
                <a:solidFill>
                  <a:srgbClr val="F1E8DA"/>
                </a:solidFill>
              </a:rPr>
              <a:t>Validate consent</a:t>
            </a:r>
          </a:p>
        </p:txBody>
      </p:sp>
      <p:sp>
        <p:nvSpPr>
          <p:cNvPr id="14" name="">
            <a:extLst xmlns:a="http://schemas.openxmlformats.org/drawingml/2006/main">
              <a:ext uri="{FF2B5EF4-FFF2-40B4-BE49-F238E27FC236}">
                <a16:creationId xmlns:a16="http://schemas.microsoft.com/office/drawing/2014/main" id="{7D0BC4D1-C62D-4A12-B129-B42301C5D44A}"/>
              </a:ext>
            </a:extLst>
          </p:cNvPr>
          <p:cNvSpPr>
            <a:spLocks xmlns:a="http://schemas.openxmlformats.org/drawingml/2006/main" noGrp="1"/>
          </p:cNvSpPr>
          <p:nvPr/>
        </p:nvSpPr>
        <p:spPr>
          <a:xfrm xmlns:a="http://schemas.openxmlformats.org/drawingml/2006/main">
            <a:off x="5010150" y="22383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8000"/>
              </a:lnSpc>
              <a:buNone/>
              <a:defRPr sz="2100" b="1" i="0">
                <a:solidFill>
                  <a:srgbClr val="D7BB86"/>
                </a:solidFill>
              </a:defRPr>
            </a:pPr>
            <a:r>
              <a:rPr sz="2100" b="1" i="0">
                <a:solidFill>
                  <a:srgbClr val="D7BB86"/>
                </a:solidFill>
              </a:rPr>
              <a:t>3</a:t>
            </a:r>
          </a:p>
        </p:txBody>
      </p:sp>
      <p:sp>
        <p:nvSpPr>
          <p:cNvPr id="15" name="">
            <a:extLst xmlns:a="http://schemas.openxmlformats.org/drawingml/2006/main">
              <a:ext uri="{FF2B5EF4-FFF2-40B4-BE49-F238E27FC236}">
                <a16:creationId xmlns:a16="http://schemas.microsoft.com/office/drawing/2014/main" id="{45963749-760A-4AC2-A3E2-E2E969CD7892}"/>
              </a:ext>
            </a:extLst>
          </p:cNvPr>
          <p:cNvSpPr>
            <a:spLocks xmlns:a="http://schemas.openxmlformats.org/drawingml/2006/main" noGrp="1"/>
          </p:cNvSpPr>
          <p:nvPr/>
        </p:nvSpPr>
        <p:spPr>
          <a:xfrm xmlns:a="http://schemas.openxmlformats.org/drawingml/2006/main">
            <a:off x="5534025" y="2447925"/>
            <a:ext cx="1428750" cy="0"/>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16" name="">
            <a:extLst xmlns:a="http://schemas.openxmlformats.org/drawingml/2006/main">
              <a:ext uri="{FF2B5EF4-FFF2-40B4-BE49-F238E27FC236}">
                <a16:creationId xmlns:a16="http://schemas.microsoft.com/office/drawing/2014/main" id="{893B3791-0988-4076-A8AE-11B143C25501}"/>
              </a:ext>
            </a:extLst>
          </p:cNvPr>
          <p:cNvSpPr>
            <a:spLocks xmlns:a="http://schemas.openxmlformats.org/drawingml/2006/main" noGrp="1"/>
          </p:cNvSpPr>
          <p:nvPr/>
        </p:nvSpPr>
        <p:spPr>
          <a:xfrm xmlns:a="http://schemas.openxmlformats.org/drawingml/2006/main">
            <a:off x="5010150" y="290512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F1E8DA"/>
                </a:solidFill>
              </a:defRPr>
            </a:pPr>
            <a:r>
              <a:rPr sz="1350" b="1" i="0">
                <a:solidFill>
                  <a:srgbClr val="F1E8DA"/>
                </a:solidFill>
              </a:rPr>
              <a:t>Structure prompt</a:t>
            </a:r>
          </a:p>
        </p:txBody>
      </p:sp>
      <p:sp>
        <p:nvSpPr>
          <p:cNvPr id="17" name="">
            <a:extLst xmlns:a="http://schemas.openxmlformats.org/drawingml/2006/main">
              <a:ext uri="{FF2B5EF4-FFF2-40B4-BE49-F238E27FC236}">
                <a16:creationId xmlns:a16="http://schemas.microsoft.com/office/drawing/2014/main" id="{45BEC083-B653-4D34-BA40-E6E7CD5C7016}"/>
              </a:ext>
            </a:extLst>
          </p:cNvPr>
          <p:cNvSpPr>
            <a:spLocks xmlns:a="http://schemas.openxmlformats.org/drawingml/2006/main" noGrp="1"/>
          </p:cNvSpPr>
          <p:nvPr/>
        </p:nvSpPr>
        <p:spPr>
          <a:xfrm xmlns:a="http://schemas.openxmlformats.org/drawingml/2006/main">
            <a:off x="7219950" y="22383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8000"/>
              </a:lnSpc>
              <a:buNone/>
              <a:defRPr sz="2100" b="1" i="0">
                <a:solidFill>
                  <a:srgbClr val="D7BB86"/>
                </a:solidFill>
              </a:defRPr>
            </a:pPr>
            <a:r>
              <a:rPr sz="2100" b="1" i="0">
                <a:solidFill>
                  <a:srgbClr val="D7BB86"/>
                </a:solidFill>
              </a:rPr>
              <a:t>4</a:t>
            </a:r>
          </a:p>
        </p:txBody>
      </p:sp>
      <p:sp>
        <p:nvSpPr>
          <p:cNvPr id="18" name="">
            <a:extLst xmlns:a="http://schemas.openxmlformats.org/drawingml/2006/main">
              <a:ext uri="{FF2B5EF4-FFF2-40B4-BE49-F238E27FC236}">
                <a16:creationId xmlns:a16="http://schemas.microsoft.com/office/drawing/2014/main" id="{629E4E35-CC61-4F5B-B91C-027A54EA625F}"/>
              </a:ext>
            </a:extLst>
          </p:cNvPr>
          <p:cNvSpPr>
            <a:spLocks xmlns:a="http://schemas.openxmlformats.org/drawingml/2006/main" noGrp="1"/>
          </p:cNvSpPr>
          <p:nvPr/>
        </p:nvSpPr>
        <p:spPr>
          <a:xfrm xmlns:a="http://schemas.openxmlformats.org/drawingml/2006/main">
            <a:off x="7743825" y="2447925"/>
            <a:ext cx="1428750" cy="0"/>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19" name="">
            <a:extLst xmlns:a="http://schemas.openxmlformats.org/drawingml/2006/main">
              <a:ext uri="{FF2B5EF4-FFF2-40B4-BE49-F238E27FC236}">
                <a16:creationId xmlns:a16="http://schemas.microsoft.com/office/drawing/2014/main" id="{B4AA2E17-A1C3-465C-A5F9-DE9B24A8779C}"/>
              </a:ext>
            </a:extLst>
          </p:cNvPr>
          <p:cNvSpPr>
            <a:spLocks xmlns:a="http://schemas.openxmlformats.org/drawingml/2006/main" noGrp="1"/>
          </p:cNvSpPr>
          <p:nvPr/>
        </p:nvSpPr>
        <p:spPr>
          <a:xfrm xmlns:a="http://schemas.openxmlformats.org/drawingml/2006/main">
            <a:off x="7219950" y="290512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F1E8DA"/>
                </a:solidFill>
              </a:defRPr>
            </a:pPr>
            <a:r>
              <a:rPr sz="1350" b="1" i="0">
                <a:solidFill>
                  <a:srgbClr val="F1E8DA"/>
                </a:solidFill>
              </a:rPr>
              <a:t>Generate five images</a:t>
            </a:r>
          </a:p>
        </p:txBody>
      </p:sp>
      <p:sp>
        <p:nvSpPr>
          <p:cNvPr id="20" name="">
            <a:extLst xmlns:a="http://schemas.openxmlformats.org/drawingml/2006/main">
              <a:ext uri="{FF2B5EF4-FFF2-40B4-BE49-F238E27FC236}">
                <a16:creationId xmlns:a16="http://schemas.microsoft.com/office/drawing/2014/main" id="{33D85687-B332-476A-9949-596B6A5BE2A8}"/>
              </a:ext>
            </a:extLst>
          </p:cNvPr>
          <p:cNvSpPr>
            <a:spLocks xmlns:a="http://schemas.openxmlformats.org/drawingml/2006/main" noGrp="1"/>
          </p:cNvSpPr>
          <p:nvPr/>
        </p:nvSpPr>
        <p:spPr>
          <a:xfrm xmlns:a="http://schemas.openxmlformats.org/drawingml/2006/main">
            <a:off x="9429750" y="22383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lnSpc>
                <a:spcPct val="108000"/>
              </a:lnSpc>
              <a:buNone/>
              <a:defRPr sz="2100" b="1" i="0">
                <a:solidFill>
                  <a:srgbClr val="D7BB86"/>
                </a:solidFill>
              </a:defRPr>
            </a:pPr>
            <a:r>
              <a:rPr sz="2100" b="1" i="0">
                <a:solidFill>
                  <a:srgbClr val="D7BB86"/>
                </a:solidFill>
              </a:rPr>
              <a:t>5</a:t>
            </a:r>
          </a:p>
        </p:txBody>
      </p:sp>
      <p:sp>
        <p:nvSpPr>
          <p:cNvPr id="21" name="">
            <a:extLst xmlns:a="http://schemas.openxmlformats.org/drawingml/2006/main">
              <a:ext uri="{FF2B5EF4-FFF2-40B4-BE49-F238E27FC236}">
                <a16:creationId xmlns:a16="http://schemas.microsoft.com/office/drawing/2014/main" id="{B4DA603E-8AA9-48C8-8FA7-E3134CD0F922}"/>
              </a:ext>
            </a:extLst>
          </p:cNvPr>
          <p:cNvSpPr>
            <a:spLocks xmlns:a="http://schemas.openxmlformats.org/drawingml/2006/main" noGrp="1"/>
          </p:cNvSpPr>
          <p:nvPr/>
        </p:nvSpPr>
        <p:spPr>
          <a:xfrm xmlns:a="http://schemas.openxmlformats.org/drawingml/2006/main">
            <a:off x="9953625" y="2447925"/>
            <a:ext cx="1428750" cy="0"/>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22" name="">
            <a:extLst xmlns:a="http://schemas.openxmlformats.org/drawingml/2006/main">
              <a:ext uri="{FF2B5EF4-FFF2-40B4-BE49-F238E27FC236}">
                <a16:creationId xmlns:a16="http://schemas.microsoft.com/office/drawing/2014/main" id="{9729E5E1-A79A-4DE3-91CD-EAE31CA8F9BC}"/>
              </a:ext>
            </a:extLst>
          </p:cNvPr>
          <p:cNvSpPr>
            <a:spLocks xmlns:a="http://schemas.openxmlformats.org/drawingml/2006/main" noGrp="1"/>
          </p:cNvSpPr>
          <p:nvPr/>
        </p:nvSpPr>
        <p:spPr>
          <a:xfrm xmlns:a="http://schemas.openxmlformats.org/drawingml/2006/main">
            <a:off x="9429750" y="2905125"/>
            <a:ext cx="1762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1350" b="1" i="0">
                <a:solidFill>
                  <a:srgbClr val="F1E8DA"/>
                </a:solidFill>
              </a:defRPr>
            </a:pPr>
            <a:r>
              <a:rPr sz="1350" b="1" i="0">
                <a:solidFill>
                  <a:srgbClr val="F1E8DA"/>
                </a:solidFill>
              </a:rPr>
              <a:t>Store + notify</a:t>
            </a:r>
          </a:p>
        </p:txBody>
      </p:sp>
      <p:sp>
        <p:nvSpPr>
          <p:cNvPr id="23" name="">
            <a:extLst xmlns:a="http://schemas.openxmlformats.org/drawingml/2006/main">
              <a:ext uri="{FF2B5EF4-FFF2-40B4-BE49-F238E27FC236}">
                <a16:creationId xmlns:a16="http://schemas.microsoft.com/office/drawing/2014/main" id="{31F3BE5B-339F-491B-B0B0-B86FFE92A6C1}"/>
              </a:ext>
            </a:extLst>
          </p:cNvPr>
          <p:cNvSpPr>
            <a:spLocks xmlns:a="http://schemas.openxmlformats.org/drawingml/2006/main" noGrp="1"/>
          </p:cNvSpPr>
          <p:nvPr/>
        </p:nvSpPr>
        <p:spPr>
          <a:xfrm xmlns:a="http://schemas.openxmlformats.org/drawingml/2006/main">
            <a:off x="552450" y="4429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Round 1 evidence required</a:t>
            </a:r>
          </a:p>
        </p:txBody>
      </p:sp>
      <p:sp>
        <p:nvSpPr>
          <p:cNvPr id="24" name="">
            <a:extLst xmlns:a="http://schemas.openxmlformats.org/drawingml/2006/main">
              <a:ext uri="{FF2B5EF4-FFF2-40B4-BE49-F238E27FC236}">
                <a16:creationId xmlns:a16="http://schemas.microsoft.com/office/drawing/2014/main" id="{61188307-5005-4F58-A7A3-3EFF794CAD16}"/>
              </a:ext>
            </a:extLst>
          </p:cNvPr>
          <p:cNvSpPr>
            <a:spLocks xmlns:a="http://schemas.openxmlformats.org/drawingml/2006/main" noGrp="1"/>
          </p:cNvSpPr>
          <p:nvPr/>
        </p:nvSpPr>
        <p:spPr>
          <a:xfrm xmlns:a="http://schemas.openxmlformats.org/drawingml/2006/main">
            <a:off x="552450" y="48577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Exported n8n workflow or annotated screenshots, plus limits versus production.</a:t>
            </a:r>
          </a:p>
        </p:txBody>
      </p:sp>
    </p:spTree>
    <p:extLst>
      <p:ext uri="{BB962C8B-B14F-4D97-AF65-F5344CB8AC3E}">
        <p14:creationId xmlns:p14="http://schemas.microsoft.com/office/powerpoint/2010/main" val="460769481"/>
      </p:ext>
    </p:extLst>
  </p:cSld>
</p:sld>
</file>

<file path=ppt/slides/slide16.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9D2058-452C-4125-8DD3-AE043D3F81DE}"/>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D557008D-7CEB-4398-AB69-CFC1386FDF41}"/>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MONITORING</a:t>
            </a:r>
          </a:p>
        </p:txBody>
      </p:sp>
      <p:sp>
        <p:nvSpPr>
          <p:cNvPr id="3" name="">
            <a:extLst xmlns:a="http://schemas.openxmlformats.org/drawingml/2006/main">
              <a:ext uri="{FF2B5EF4-FFF2-40B4-BE49-F238E27FC236}">
                <a16:creationId xmlns:a16="http://schemas.microsoft.com/office/drawing/2014/main" id="{9205BD25-F4AF-4032-8B69-E1CF3F7B67F7}"/>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383D32DD-CF52-4200-97C9-F98AF2AEB135}"/>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Observability makes AI behaviour explainable</a:t>
            </a:r>
          </a:p>
        </p:txBody>
      </p:sp>
      <p:sp>
        <p:nvSpPr>
          <p:cNvPr id="5" name="">
            <a:extLst xmlns:a="http://schemas.openxmlformats.org/drawingml/2006/main">
              <a:ext uri="{FF2B5EF4-FFF2-40B4-BE49-F238E27FC236}">
                <a16:creationId xmlns:a16="http://schemas.microsoft.com/office/drawing/2014/main" id="{6AEC486D-CF95-417D-9A67-ADE7EE143453}"/>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EVIDENCE NEEDED</a:t>
            </a:r>
          </a:p>
        </p:txBody>
      </p:sp>
      <p:sp>
        <p:nvSpPr>
          <p:cNvPr id="6" name="">
            <a:extLst xmlns:a="http://schemas.openxmlformats.org/drawingml/2006/main">
              <a:ext uri="{FF2B5EF4-FFF2-40B4-BE49-F238E27FC236}">
                <a16:creationId xmlns:a16="http://schemas.microsoft.com/office/drawing/2014/main" id="{941A199A-F9F1-4A25-845B-01656C30F64E}"/>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B6FC4205-C8E4-4956-BBA7-067FE7B25C83}"/>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LangSmith · Evaluation dataset</a:t>
            </a:r>
          </a:p>
        </p:txBody>
      </p:sp>
      <p:sp>
        <p:nvSpPr>
          <p:cNvPr id="8" name="">
            <a:extLst xmlns:a="http://schemas.openxmlformats.org/drawingml/2006/main">
              <a:ext uri="{FF2B5EF4-FFF2-40B4-BE49-F238E27FC236}">
                <a16:creationId xmlns:a16="http://schemas.microsoft.com/office/drawing/2014/main" id="{89953D82-A6FC-4981-AB3C-42719A8B5566}"/>
              </a:ext>
            </a:extLst>
          </p:cNvPr>
          <p:cNvSpPr>
            <a:spLocks xmlns:a="http://schemas.openxmlformats.org/drawingml/2006/main" noGrp="1"/>
          </p:cNvSpPr>
          <p:nvPr/>
        </p:nvSpPr>
        <p:spPr>
          <a:xfrm xmlns:a="http://schemas.openxmlformats.org/drawingml/2006/main">
            <a:off x="571500" y="1952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TRACE</a:t>
            </a:r>
          </a:p>
        </p:txBody>
      </p:sp>
      <p:sp>
        <p:nvSpPr>
          <p:cNvPr id="9" name="">
            <a:extLst xmlns:a="http://schemas.openxmlformats.org/drawingml/2006/main">
              <a:ext uri="{FF2B5EF4-FFF2-40B4-BE49-F238E27FC236}">
                <a16:creationId xmlns:a16="http://schemas.microsoft.com/office/drawing/2014/main" id="{9633B42D-F9FB-4B8F-997C-D5A984FA1879}"/>
              </a:ext>
            </a:extLst>
          </p:cNvPr>
          <p:cNvSpPr>
            <a:spLocks xmlns:a="http://schemas.openxmlformats.org/drawingml/2006/main" noGrp="1"/>
          </p:cNvSpPr>
          <p:nvPr/>
        </p:nvSpPr>
        <p:spPr>
          <a:xfrm xmlns:a="http://schemas.openxmlformats.org/drawingml/2006/main">
            <a:off x="571500" y="23241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What prompt, context and model produced the output?</a:t>
            </a:r>
          </a:p>
        </p:txBody>
      </p:sp>
      <p:sp>
        <p:nvSpPr>
          <p:cNvPr id="10" name="">
            <a:extLst xmlns:a="http://schemas.openxmlformats.org/drawingml/2006/main">
              <a:ext uri="{FF2B5EF4-FFF2-40B4-BE49-F238E27FC236}">
                <a16:creationId xmlns:a16="http://schemas.microsoft.com/office/drawing/2014/main" id="{3E23FDCF-4657-43FE-BA4A-3C933E992FC2}"/>
              </a:ext>
            </a:extLst>
          </p:cNvPr>
          <p:cNvSpPr>
            <a:spLocks xmlns:a="http://schemas.openxmlformats.org/drawingml/2006/main" noGrp="1"/>
          </p:cNvSpPr>
          <p:nvPr/>
        </p:nvSpPr>
        <p:spPr>
          <a:xfrm xmlns:a="http://schemas.openxmlformats.org/drawingml/2006/main">
            <a:off x="4286250" y="1952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EVALUATE</a:t>
            </a:r>
          </a:p>
        </p:txBody>
      </p:sp>
      <p:sp>
        <p:nvSpPr>
          <p:cNvPr id="11" name="">
            <a:extLst xmlns:a="http://schemas.openxmlformats.org/drawingml/2006/main">
              <a:ext uri="{FF2B5EF4-FFF2-40B4-BE49-F238E27FC236}">
                <a16:creationId xmlns:a16="http://schemas.microsoft.com/office/drawing/2014/main" id="{47D795AE-30DA-4C82-8EB6-F1870962EF27}"/>
              </a:ext>
            </a:extLst>
          </p:cNvPr>
          <p:cNvSpPr>
            <a:spLocks xmlns:a="http://schemas.openxmlformats.org/drawingml/2006/main" noGrp="1"/>
          </p:cNvSpPr>
          <p:nvPr/>
        </p:nvSpPr>
        <p:spPr>
          <a:xfrm xmlns:a="http://schemas.openxmlformats.org/drawingml/2006/main">
            <a:off x="4286250" y="2324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Did the result follow the brief, remain safe and stay useful?</a:t>
            </a:r>
          </a:p>
        </p:txBody>
      </p:sp>
      <p:sp>
        <p:nvSpPr>
          <p:cNvPr id="12" name="">
            <a:extLst xmlns:a="http://schemas.openxmlformats.org/drawingml/2006/main">
              <a:ext uri="{FF2B5EF4-FFF2-40B4-BE49-F238E27FC236}">
                <a16:creationId xmlns:a16="http://schemas.microsoft.com/office/drawing/2014/main" id="{DD303433-2198-48AE-8C2B-98A2DEDB252A}"/>
              </a:ext>
            </a:extLst>
          </p:cNvPr>
          <p:cNvSpPr>
            <a:spLocks xmlns:a="http://schemas.openxmlformats.org/drawingml/2006/main" noGrp="1"/>
          </p:cNvSpPr>
          <p:nvPr/>
        </p:nvSpPr>
        <p:spPr>
          <a:xfrm xmlns:a="http://schemas.openxmlformats.org/drawingml/2006/main">
            <a:off x="8001000" y="19526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IMPROVE</a:t>
            </a:r>
          </a:p>
        </p:txBody>
      </p:sp>
      <p:sp>
        <p:nvSpPr>
          <p:cNvPr id="13" name="">
            <a:extLst xmlns:a="http://schemas.openxmlformats.org/drawingml/2006/main">
              <a:ext uri="{FF2B5EF4-FFF2-40B4-BE49-F238E27FC236}">
                <a16:creationId xmlns:a16="http://schemas.microsoft.com/office/drawing/2014/main" id="{B96C16D8-17EB-4CAD-87FA-1FB2676E536A}"/>
              </a:ext>
            </a:extLst>
          </p:cNvPr>
          <p:cNvSpPr>
            <a:spLocks xmlns:a="http://schemas.openxmlformats.org/drawingml/2006/main" noGrp="1"/>
          </p:cNvSpPr>
          <p:nvPr/>
        </p:nvSpPr>
        <p:spPr>
          <a:xfrm xmlns:a="http://schemas.openxmlformats.org/drawingml/2006/main">
            <a:off x="8001000" y="2324100"/>
            <a:ext cx="304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Which failures should change prompts, rules or human review?</a:t>
            </a:r>
          </a:p>
        </p:txBody>
      </p:sp>
      <p:sp>
        <p:nvSpPr>
          <p:cNvPr id="14" name="">
            <a:extLst xmlns:a="http://schemas.openxmlformats.org/drawingml/2006/main">
              <a:ext uri="{FF2B5EF4-FFF2-40B4-BE49-F238E27FC236}">
                <a16:creationId xmlns:a16="http://schemas.microsoft.com/office/drawing/2014/main" id="{0A7DC52C-C314-4718-944F-ED26882193F6}"/>
              </a:ext>
            </a:extLst>
          </p:cNvPr>
          <p:cNvSpPr>
            <a:spLocks xmlns:a="http://schemas.openxmlformats.org/drawingml/2006/main" noGrp="1"/>
          </p:cNvSpPr>
          <p:nvPr/>
        </p:nvSpPr>
        <p:spPr>
          <a:xfrm xmlns:a="http://schemas.openxmlformats.org/drawingml/2006/main">
            <a:off x="571500" y="3714750"/>
            <a:ext cx="104775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5" name="">
            <a:extLst xmlns:a="http://schemas.openxmlformats.org/drawingml/2006/main">
              <a:ext uri="{FF2B5EF4-FFF2-40B4-BE49-F238E27FC236}">
                <a16:creationId xmlns:a16="http://schemas.microsoft.com/office/drawing/2014/main" id="{AF4389BD-D6D1-4355-837E-15E3A8ABA9D9}"/>
              </a:ext>
            </a:extLst>
          </p:cNvPr>
          <p:cNvSpPr>
            <a:spLocks xmlns:a="http://schemas.openxmlformats.org/drawingml/2006/main" noGrp="1"/>
          </p:cNvSpPr>
          <p:nvPr/>
        </p:nvSpPr>
        <p:spPr>
          <a:xfrm xmlns:a="http://schemas.openxmlformats.org/drawingml/2006/main">
            <a:off x="571500" y="4286250"/>
            <a:ext cx="1000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950" b="0" i="0">
                <a:solidFill>
                  <a:srgbClr val="BDB5AA"/>
                </a:solidFill>
              </a:defRPr>
            </a:pPr>
            <a:r>
              <a:rPr sz="1950" b="0" i="0">
                <a:solidFill>
                  <a:srgbClr val="BDB5AA"/>
                </a:solidFill>
              </a:rPr>
              <a:t>Round 1 evidence: dataset/experiment link, or screenshots plus a short transparency note.</a:t>
            </a:r>
          </a:p>
        </p:txBody>
      </p:sp>
    </p:spTree>
    <p:extLst>
      <p:ext uri="{BB962C8B-B14F-4D97-AF65-F5344CB8AC3E}">
        <p14:creationId xmlns:p14="http://schemas.microsoft.com/office/powerpoint/2010/main" val="1977854173"/>
      </p:ext>
    </p:extLst>
  </p:cSld>
</p:sld>
</file>

<file path=ppt/slides/slide17.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C212545-ECA2-4CD5-8070-D4507F09BFB4}"/>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20DF4667-6402-45BC-9E3D-2F598C7094B0}"/>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97B"/>
                </a:solidFill>
              </a:defRPr>
            </a:pPr>
            <a:r>
              <a:rPr sz="825" b="1" i="0">
                <a:solidFill>
                  <a:srgbClr val="D7B97B"/>
                </a:solidFill>
              </a:rPr>
              <a:t>AI EVALUATION</a:t>
            </a:r>
          </a:p>
        </p:txBody>
      </p:sp>
      <p:sp>
        <p:nvSpPr>
          <p:cNvPr id="3" name="">
            <a:extLst xmlns:a="http://schemas.openxmlformats.org/drawingml/2006/main">
              <a:ext uri="{FF2B5EF4-FFF2-40B4-BE49-F238E27FC236}">
                <a16:creationId xmlns:a16="http://schemas.microsoft.com/office/drawing/2014/main" id="{40C02C29-DB25-4461-9BFA-473372459B64}"/>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578EC88F-9760-45CD-9401-5C361849B50E}"/>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100" b="0" i="0">
                <a:solidFill>
                  <a:srgbClr val="F1EBE2"/>
                </a:solidFill>
              </a:defRPr>
            </a:pPr>
            <a:r>
              <a:rPr sz="2100" b="0" i="0">
                <a:solidFill>
                  <a:srgbClr val="F1EBE2"/>
                </a:solidFill>
              </a:rPr>
              <a:t>CREATIVE AI NEEDS MORE THAN A BEAUTIFUL OUTPUT.</a:t>
            </a:r>
          </a:p>
        </p:txBody>
      </p:sp>
      <p:sp>
        <p:nvSpPr>
          <p:cNvPr id="5" name="">
            <a:extLst xmlns:a="http://schemas.openxmlformats.org/drawingml/2006/main">
              <a:ext uri="{FF2B5EF4-FFF2-40B4-BE49-F238E27FC236}">
                <a16:creationId xmlns:a16="http://schemas.microsoft.com/office/drawing/2014/main" id="{68C87EC6-8124-40A1-9176-90EAE6C2081E}"/>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94CCA2"/>
                </a:solidFill>
              </a:defRPr>
            </a:pPr>
            <a:r>
              <a:rPr sz="750" b="1" i="0">
                <a:solidFill>
                  <a:srgbClr val="94CCA2"/>
                </a:solidFill>
              </a:rPr>
              <a:t>VERIFIED LAB EVIDENCE</a:t>
            </a:r>
          </a:p>
        </p:txBody>
      </p:sp>
      <p:sp>
        <p:nvSpPr>
          <p:cNvPr id="6" name="">
            <a:extLst xmlns:a="http://schemas.openxmlformats.org/drawingml/2006/main">
              <a:ext uri="{FF2B5EF4-FFF2-40B4-BE49-F238E27FC236}">
                <a16:creationId xmlns:a16="http://schemas.microsoft.com/office/drawing/2014/main" id="{D7404856-3ADF-466F-9920-AF293B401E3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B364BB7F-4A76-4A9C-B050-5CDED923BF76}"/>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675" b="1" i="0">
                <a:solidFill>
                  <a:srgbClr val="B8B0A6"/>
                </a:solidFill>
              </a:defRPr>
            </a:pPr>
            <a:r>
              <a:rPr sz="675" b="1" i="0">
                <a:solidFill>
                  <a:srgbClr val="B8B0A6"/>
                </a:solidFill>
              </a:rPr>
              <a:t>EVIDENCE · Custom MIRA LLM-as-judge · OpenAI API · LangSmith observability · Human approval</a:t>
            </a:r>
          </a:p>
        </p:txBody>
      </p:sp>
      <p:sp>
        <p:nvSpPr>
          <p:cNvPr id="8" name="">
            <a:extLst xmlns:a="http://schemas.openxmlformats.org/drawingml/2006/main">
              <a:ext uri="{FF2B5EF4-FFF2-40B4-BE49-F238E27FC236}">
                <a16:creationId xmlns:a16="http://schemas.microsoft.com/office/drawing/2014/main" id="{4EB41076-15F9-44EC-AA25-F733A0DFFED7}"/>
              </a:ext>
            </a:extLst>
          </p:cNvPr>
          <p:cNvSpPr>
            <a:spLocks xmlns:a="http://schemas.openxmlformats.org/drawingml/2006/main" noGrp="1"/>
          </p:cNvSpPr>
          <p:nvPr/>
        </p:nvSpPr>
        <p:spPr>
          <a:xfrm xmlns:a="http://schemas.openxmlformats.org/drawingml/2006/main">
            <a:off x="552450" y="2000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01</a:t>
            </a:r>
          </a:p>
        </p:txBody>
      </p:sp>
      <p:sp>
        <p:nvSpPr>
          <p:cNvPr id="9" name="">
            <a:extLst xmlns:a="http://schemas.openxmlformats.org/drawingml/2006/main">
              <a:ext uri="{FF2B5EF4-FFF2-40B4-BE49-F238E27FC236}">
                <a16:creationId xmlns:a16="http://schemas.microsoft.com/office/drawing/2014/main" id="{8CF1E367-5945-41E8-A8EC-78C1862601C4}"/>
              </a:ext>
            </a:extLst>
          </p:cNvPr>
          <p:cNvSpPr>
            <a:spLocks xmlns:a="http://schemas.openxmlformats.org/drawingml/2006/main" noGrp="1"/>
          </p:cNvSpPr>
          <p:nvPr/>
        </p:nvSpPr>
        <p:spPr>
          <a:xfrm xmlns:a="http://schemas.openxmlformats.org/drawingml/2006/main">
            <a:off x="971550" y="1971675"/>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F1EBE2"/>
                </a:solidFill>
              </a:defRPr>
            </a:pPr>
            <a:r>
              <a:rPr sz="1125" b="1" i="0">
                <a:solidFill>
                  <a:srgbClr val="F1EBE2"/>
                </a:solidFill>
              </a:rPr>
              <a:t>Preference fidelity</a:t>
            </a:r>
          </a:p>
        </p:txBody>
      </p:sp>
      <p:sp>
        <p:nvSpPr>
          <p:cNvPr id="10" name="">
            <a:extLst xmlns:a="http://schemas.openxmlformats.org/drawingml/2006/main">
              <a:ext uri="{FF2B5EF4-FFF2-40B4-BE49-F238E27FC236}">
                <a16:creationId xmlns:a16="http://schemas.microsoft.com/office/drawing/2014/main" id="{405390B5-F9FA-4BE8-850B-72AE576A8B1A}"/>
              </a:ext>
            </a:extLst>
          </p:cNvPr>
          <p:cNvSpPr>
            <a:spLocks xmlns:a="http://schemas.openxmlformats.org/drawingml/2006/main" noGrp="1"/>
          </p:cNvSpPr>
          <p:nvPr/>
        </p:nvSpPr>
        <p:spPr>
          <a:xfrm xmlns:a="http://schemas.openxmlformats.org/drawingml/2006/main">
            <a:off x="552450" y="1428750"/>
            <a:ext cx="10782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050" b="0" i="0">
                <a:solidFill>
                  <a:srgbClr val="B8B0A6"/>
                </a:solidFill>
              </a:defRPr>
            </a:pPr>
            <a:r>
              <a:rPr sz="1050" b="0" i="0">
                <a:solidFill>
                  <a:srgbClr val="B8B0A6"/>
                </a:solidFill>
              </a:rPr>
              <a:t>MIRA’s evaluation tests whether the system follows client evidence, preserves preferences and creates one coherent five-frame campaign.</a:t>
            </a:r>
          </a:p>
        </p:txBody>
      </p:sp>
      <p:sp>
        <p:nvSpPr>
          <p:cNvPr id="11" name="">
            <a:extLst xmlns:a="http://schemas.openxmlformats.org/drawingml/2006/main">
              <a:ext uri="{FF2B5EF4-FFF2-40B4-BE49-F238E27FC236}">
                <a16:creationId xmlns:a16="http://schemas.microsoft.com/office/drawing/2014/main" id="{D869D120-362D-43B7-9E03-F63DCBDD0C7D}"/>
              </a:ext>
            </a:extLst>
          </p:cNvPr>
          <p:cNvSpPr>
            <a:spLocks xmlns:a="http://schemas.openxmlformats.org/drawingml/2006/main" noGrp="1"/>
          </p:cNvSpPr>
          <p:nvPr/>
        </p:nvSpPr>
        <p:spPr>
          <a:xfrm xmlns:a="http://schemas.openxmlformats.org/drawingml/2006/main">
            <a:off x="552450" y="2524125"/>
            <a:ext cx="2857500" cy="0"/>
          </a:xfrm>
          <a:prstGeom xmlns:a="http://schemas.openxmlformats.org/drawingml/2006/main" prst="line">
            <a:avLst/>
          </a:prstGeom>
          <a:noFill xmlns:a="http://schemas.openxmlformats.org/drawingml/2006/main"/>
          <a:ln xmlns:a="http://schemas.openxmlformats.org/drawingml/2006/main" w="9525">
            <a:solidFill>
              <a:srgbClr val="3A3732"/>
            </a:solidFill>
            <a:prstDash val="solid"/>
          </a:ln>
        </p:spPr>
      </p:sp>
      <p:sp>
        <p:nvSpPr>
          <p:cNvPr id="12" name="">
            <a:extLst xmlns:a="http://schemas.openxmlformats.org/drawingml/2006/main">
              <a:ext uri="{FF2B5EF4-FFF2-40B4-BE49-F238E27FC236}">
                <a16:creationId xmlns:a16="http://schemas.microsoft.com/office/drawing/2014/main" id="{6A8E1BD9-0B4D-44E3-B2EF-8FC651061988}"/>
              </a:ext>
            </a:extLst>
          </p:cNvPr>
          <p:cNvSpPr>
            <a:spLocks xmlns:a="http://schemas.openxmlformats.org/drawingml/2006/main" noGrp="1"/>
          </p:cNvSpPr>
          <p:nvPr/>
        </p:nvSpPr>
        <p:spPr>
          <a:xfrm xmlns:a="http://schemas.openxmlformats.org/drawingml/2006/main">
            <a:off x="4667250" y="19526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02</a:t>
            </a:r>
          </a:p>
        </p:txBody>
      </p:sp>
      <p:sp>
        <p:nvSpPr>
          <p:cNvPr id="13" name="">
            <a:extLst xmlns:a="http://schemas.openxmlformats.org/drawingml/2006/main">
              <a:ext uri="{FF2B5EF4-FFF2-40B4-BE49-F238E27FC236}">
                <a16:creationId xmlns:a16="http://schemas.microsoft.com/office/drawing/2014/main" id="{768F1D83-2C17-462D-A09A-5E7DD59A58F7}"/>
              </a:ext>
            </a:extLst>
          </p:cNvPr>
          <p:cNvSpPr>
            <a:spLocks xmlns:a="http://schemas.openxmlformats.org/drawingml/2006/main" noGrp="1"/>
          </p:cNvSpPr>
          <p:nvPr/>
        </p:nvSpPr>
        <p:spPr>
          <a:xfrm xmlns:a="http://schemas.openxmlformats.org/drawingml/2006/main">
            <a:off x="5086350" y="19240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F1EBE2"/>
                </a:solidFill>
              </a:defRPr>
            </a:pPr>
            <a:r>
              <a:rPr sz="1125" b="1" i="0">
                <a:solidFill>
                  <a:srgbClr val="F1EBE2"/>
                </a:solidFill>
              </a:rPr>
              <a:t>Context preservation</a:t>
            </a:r>
          </a:p>
        </p:txBody>
      </p:sp>
      <p:sp>
        <p:nvSpPr>
          <p:cNvPr id="14" name="">
            <a:extLst xmlns:a="http://schemas.openxmlformats.org/drawingml/2006/main">
              <a:ext uri="{FF2B5EF4-FFF2-40B4-BE49-F238E27FC236}">
                <a16:creationId xmlns:a16="http://schemas.microsoft.com/office/drawing/2014/main" id="{E1ABD9D4-ADB3-4A61-99EF-33FA155C1C7D}"/>
              </a:ext>
            </a:extLst>
          </p:cNvPr>
          <p:cNvSpPr>
            <a:spLocks xmlns:a="http://schemas.openxmlformats.org/drawingml/2006/main" noGrp="1"/>
          </p:cNvSpPr>
          <p:nvPr/>
        </p:nvSpPr>
        <p:spPr>
          <a:xfrm xmlns:a="http://schemas.openxmlformats.org/drawingml/2006/main">
            <a:off x="552450" y="2905125"/>
            <a:ext cx="3143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94CCA2"/>
                </a:solidFill>
              </a:defRPr>
            </a:pPr>
            <a:r>
              <a:rPr sz="1125" b="1" i="0">
                <a:solidFill>
                  <a:srgbClr val="94CCA2"/>
                </a:solidFill>
              </a:rPr>
              <a:t>4.2 / 5</a:t>
            </a:r>
          </a:p>
          <a:p xmlns:a="http://schemas.openxmlformats.org/drawingml/2006/main">
            <a:pPr algn="l">
              <a:lnSpc>
                <a:spcPct val="108000"/>
              </a:lnSpc>
              <a:buNone/>
              <a:defRPr sz="1125" b="1" i="0">
                <a:solidFill>
                  <a:srgbClr val="94CCA2"/>
                </a:solidFill>
              </a:defRPr>
            </a:pPr>
            <a:r>
              <a:rPr sz="1125" b="1" i="0">
                <a:solidFill>
                  <a:srgbClr val="94CCA2"/>
                </a:solidFill>
              </a:rPr>
              <a:t>5 cases · 0 failures</a:t>
            </a:r>
          </a:p>
          <a:p xmlns:a="http://schemas.openxmlformats.org/drawingml/2006/main">
            <a:pPr algn="l">
              <a:lnSpc>
                <a:spcPct val="108000"/>
              </a:lnSpc>
              <a:buNone/>
              <a:defRPr sz="1125" b="1" i="0">
                <a:solidFill>
                  <a:srgbClr val="94CCA2"/>
                </a:solidFill>
              </a:defRPr>
            </a:pPr>
            <a:r>
              <a:rPr sz="1125" b="1" i="0">
                <a:solidFill>
                  <a:srgbClr val="94CCA2"/>
                </a:solidFill>
              </a:rPr>
              <a:t>Consistency 5/5</a:t>
            </a:r>
          </a:p>
          <a:p xmlns:a="http://schemas.openxmlformats.org/drawingml/2006/main">
            <a:pPr algn="l">
              <a:lnSpc>
                <a:spcPct val="108000"/>
              </a:lnSpc>
              <a:buNone/>
              <a:defRPr sz="1125" b="1" i="0">
                <a:solidFill>
                  <a:srgbClr val="94CCA2"/>
                </a:solidFill>
              </a:defRPr>
            </a:pPr>
            <a:r>
              <a:rPr sz="1125" b="1" i="0">
                <a:solidFill>
                  <a:srgbClr val="94CCA2"/>
                </a:solidFill>
              </a:rPr>
              <a:t>Hallucination 3/5 · improvement area</a:t>
            </a:r>
          </a:p>
        </p:txBody>
      </p:sp>
      <p:sp>
        <p:nvSpPr>
          <p:cNvPr id="15" name="">
            <a:extLst xmlns:a="http://schemas.openxmlformats.org/drawingml/2006/main">
              <a:ext uri="{FF2B5EF4-FFF2-40B4-BE49-F238E27FC236}">
                <a16:creationId xmlns:a16="http://schemas.microsoft.com/office/drawing/2014/main" id="{9B72A7F0-93AB-42F8-AFDC-2A205355189C}"/>
              </a:ext>
            </a:extLst>
          </p:cNvPr>
          <p:cNvSpPr>
            <a:spLocks xmlns:a="http://schemas.openxmlformats.org/drawingml/2006/main" noGrp="1"/>
          </p:cNvSpPr>
          <p:nvPr/>
        </p:nvSpPr>
        <p:spPr>
          <a:xfrm xmlns:a="http://schemas.openxmlformats.org/drawingml/2006/main">
            <a:off x="4667250" y="2476500"/>
            <a:ext cx="2857500" cy="0"/>
          </a:xfrm>
          <a:prstGeom xmlns:a="http://schemas.openxmlformats.org/drawingml/2006/main" prst="line">
            <a:avLst/>
          </a:prstGeom>
          <a:noFill xmlns:a="http://schemas.openxmlformats.org/drawingml/2006/main"/>
          <a:ln xmlns:a="http://schemas.openxmlformats.org/drawingml/2006/main" w="9525">
            <a:solidFill>
              <a:srgbClr val="3A3732"/>
            </a:solidFill>
            <a:prstDash val="solid"/>
          </a:ln>
        </p:spPr>
      </p:sp>
      <p:sp>
        <p:nvSpPr>
          <p:cNvPr id="16" name="">
            <a:extLst xmlns:a="http://schemas.openxmlformats.org/drawingml/2006/main">
              <a:ext uri="{FF2B5EF4-FFF2-40B4-BE49-F238E27FC236}">
                <a16:creationId xmlns:a16="http://schemas.microsoft.com/office/drawing/2014/main" id="{7A734CF9-6EAA-4BF7-8D1D-367CD94001D8}"/>
              </a:ext>
            </a:extLst>
          </p:cNvPr>
          <p:cNvSpPr>
            <a:spLocks xmlns:a="http://schemas.openxmlformats.org/drawingml/2006/main" noGrp="1"/>
          </p:cNvSpPr>
          <p:nvPr/>
        </p:nvSpPr>
        <p:spPr>
          <a:xfrm xmlns:a="http://schemas.openxmlformats.org/drawingml/2006/main">
            <a:off x="8477250" y="2000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03</a:t>
            </a:r>
          </a:p>
        </p:txBody>
      </p:sp>
      <p:sp>
        <p:nvSpPr>
          <p:cNvPr id="17" name="">
            <a:extLst xmlns:a="http://schemas.openxmlformats.org/drawingml/2006/main">
              <a:ext uri="{FF2B5EF4-FFF2-40B4-BE49-F238E27FC236}">
                <a16:creationId xmlns:a16="http://schemas.microsoft.com/office/drawing/2014/main" id="{18BC1A63-5885-4114-9C03-BB188AFE94F4}"/>
              </a:ext>
            </a:extLst>
          </p:cNvPr>
          <p:cNvSpPr>
            <a:spLocks xmlns:a="http://schemas.openxmlformats.org/drawingml/2006/main" noGrp="1"/>
          </p:cNvSpPr>
          <p:nvPr/>
        </p:nvSpPr>
        <p:spPr>
          <a:xfrm xmlns:a="http://schemas.openxmlformats.org/drawingml/2006/main">
            <a:off x="8896350" y="1971675"/>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F1EBE2"/>
                </a:solidFill>
              </a:defRPr>
            </a:pPr>
            <a:r>
              <a:rPr sz="1125" b="1" i="0">
                <a:solidFill>
                  <a:srgbClr val="F1EBE2"/>
                </a:solidFill>
              </a:rPr>
              <a:t>Specificity and usefulness</a:t>
            </a:r>
          </a:p>
        </p:txBody>
      </p:sp>
      <p:sp>
        <p:nvSpPr>
          <p:cNvPr id="18" name="">
            <a:extLst xmlns:a="http://schemas.openxmlformats.org/drawingml/2006/main">
              <a:ext uri="{FF2B5EF4-FFF2-40B4-BE49-F238E27FC236}">
                <a16:creationId xmlns:a16="http://schemas.microsoft.com/office/drawing/2014/main" id="{09ED41D3-7122-4545-9DE9-5CBBF0C7390B}"/>
              </a:ext>
            </a:extLst>
          </p:cNvPr>
          <p:cNvSpPr>
            <a:spLocks xmlns:a="http://schemas.openxmlformats.org/drawingml/2006/main" noGrp="1"/>
          </p:cNvSpPr>
          <p:nvPr/>
        </p:nvSpPr>
        <p:spPr>
          <a:xfrm xmlns:a="http://schemas.openxmlformats.org/drawingml/2006/main">
            <a:off x="8477250" y="3095625"/>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050" b="1" i="0">
                <a:solidFill>
                  <a:srgbClr val="D7B97B"/>
                </a:solidFill>
              </a:defRPr>
            </a:pPr>
            <a:r>
              <a:rPr sz="1050" b="1" i="0">
                <a:solidFill>
                  <a:srgbClr val="D7B97B"/>
                </a:solidFill>
              </a:rPr>
              <a:t>PHOTOGRAPHER APPROVAL</a:t>
            </a:r>
          </a:p>
          <a:p xmlns:a="http://schemas.openxmlformats.org/drawingml/2006/main">
            <a:pPr algn="l">
              <a:lnSpc>
                <a:spcPct val="108000"/>
              </a:lnSpc>
              <a:buNone/>
              <a:defRPr sz="1050" b="1" i="0">
                <a:solidFill>
                  <a:srgbClr val="D7B97B"/>
                </a:solidFill>
              </a:defRPr>
            </a:pPr>
            <a:r>
              <a:rPr sz="1050" b="1" i="0">
                <a:solidFill>
                  <a:srgbClr val="D7B97B"/>
                </a:solidFill>
              </a:rPr>
              <a:t>Human review of the moodboard and final shoot plan</a:t>
            </a:r>
          </a:p>
        </p:txBody>
      </p:sp>
      <p:sp>
        <p:nvSpPr>
          <p:cNvPr id="19" name="">
            <a:extLst xmlns:a="http://schemas.openxmlformats.org/drawingml/2006/main">
              <a:ext uri="{FF2B5EF4-FFF2-40B4-BE49-F238E27FC236}">
                <a16:creationId xmlns:a16="http://schemas.microsoft.com/office/drawing/2014/main" id="{167B4B51-51E4-44D2-AC59-10B242EBED9F}"/>
              </a:ext>
            </a:extLst>
          </p:cNvPr>
          <p:cNvSpPr>
            <a:spLocks xmlns:a="http://schemas.openxmlformats.org/drawingml/2006/main" noGrp="1"/>
          </p:cNvSpPr>
          <p:nvPr/>
        </p:nvSpPr>
        <p:spPr>
          <a:xfrm xmlns:a="http://schemas.openxmlformats.org/drawingml/2006/main">
            <a:off x="8477250" y="2524125"/>
            <a:ext cx="2857500" cy="0"/>
          </a:xfrm>
          <a:prstGeom xmlns:a="http://schemas.openxmlformats.org/drawingml/2006/main" prst="line">
            <a:avLst/>
          </a:prstGeom>
          <a:noFill xmlns:a="http://schemas.openxmlformats.org/drawingml/2006/main"/>
          <a:ln xmlns:a="http://schemas.openxmlformats.org/drawingml/2006/main" w="9525">
            <a:solidFill>
              <a:srgbClr val="3A3732"/>
            </a:solidFill>
            <a:prstDash val="solid"/>
          </a:ln>
        </p:spPr>
      </p:sp>
      <p:sp>
        <p:nvSpPr>
          <p:cNvPr id="20" name="">
            <a:extLst xmlns:a="http://schemas.openxmlformats.org/drawingml/2006/main">
              <a:ext uri="{FF2B5EF4-FFF2-40B4-BE49-F238E27FC236}">
                <a16:creationId xmlns:a16="http://schemas.microsoft.com/office/drawing/2014/main" id="{E7360DE1-A8AD-45F5-B35A-8CDAD9F43D93}"/>
              </a:ext>
            </a:extLst>
          </p:cNvPr>
          <p:cNvSpPr>
            <a:spLocks xmlns:a="http://schemas.openxmlformats.org/drawingml/2006/main" noGrp="1"/>
          </p:cNvSpPr>
          <p:nvPr/>
        </p:nvSpPr>
        <p:spPr>
          <a:xfrm xmlns:a="http://schemas.openxmlformats.org/drawingml/2006/main">
            <a:off x="1952625" y="4667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04</a:t>
            </a:r>
          </a:p>
        </p:txBody>
      </p:sp>
      <p:sp>
        <p:nvSpPr>
          <p:cNvPr id="21" name="">
            <a:extLst xmlns:a="http://schemas.openxmlformats.org/drawingml/2006/main">
              <a:ext uri="{FF2B5EF4-FFF2-40B4-BE49-F238E27FC236}">
                <a16:creationId xmlns:a16="http://schemas.microsoft.com/office/drawing/2014/main" id="{77C4D2E2-DA7A-4083-8958-F6ECFF8EF489}"/>
              </a:ext>
            </a:extLst>
          </p:cNvPr>
          <p:cNvSpPr>
            <a:spLocks xmlns:a="http://schemas.openxmlformats.org/drawingml/2006/main" noGrp="1"/>
          </p:cNvSpPr>
          <p:nvPr/>
        </p:nvSpPr>
        <p:spPr>
          <a:xfrm xmlns:a="http://schemas.openxmlformats.org/drawingml/2006/main">
            <a:off x="2371725" y="4638675"/>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F1EBE2"/>
                </a:solidFill>
              </a:defRPr>
            </a:pPr>
            <a:r>
              <a:rPr sz="1125" b="1" i="0">
                <a:solidFill>
                  <a:srgbClr val="F1EBE2"/>
                </a:solidFill>
              </a:rPr>
              <a:t>Hallucination resistance</a:t>
            </a:r>
          </a:p>
        </p:txBody>
      </p:sp>
      <p:sp>
        <p:nvSpPr>
          <p:cNvPr id="22" name="">
            <a:extLst xmlns:a="http://schemas.openxmlformats.org/drawingml/2006/main">
              <a:ext uri="{FF2B5EF4-FFF2-40B4-BE49-F238E27FC236}">
                <a16:creationId xmlns:a16="http://schemas.microsoft.com/office/drawing/2014/main" id="{71E05DCB-9577-4C56-BDBE-EFCCE4D8D400}"/>
              </a:ext>
            </a:extLst>
          </p:cNvPr>
          <p:cNvSpPr>
            <a:spLocks xmlns:a="http://schemas.openxmlformats.org/drawingml/2006/main" noGrp="1"/>
          </p:cNvSpPr>
          <p:nvPr/>
        </p:nvSpPr>
        <p:spPr>
          <a:xfrm xmlns:a="http://schemas.openxmlformats.org/drawingml/2006/main">
            <a:off x="552450" y="5381625"/>
            <a:ext cx="4905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F1EBE2"/>
                </a:solidFill>
              </a:defRPr>
            </a:pPr>
            <a:r>
              <a:rPr sz="825" b="1" i="0">
                <a:solidFill>
                  <a:srgbClr val="F1EBE2"/>
                </a:solidFill>
              </a:rPr>
              <a:t>CUSTOM EVALUATION LAB</a:t>
            </a:r>
          </a:p>
          <a:p xmlns:a="http://schemas.openxmlformats.org/drawingml/2006/main">
            <a:pPr algn="l">
              <a:lnSpc>
                <a:spcPct val="108000"/>
              </a:lnSpc>
              <a:buNone/>
              <a:defRPr sz="825" b="1" i="0">
                <a:solidFill>
                  <a:srgbClr val="F1EBE2"/>
                </a:solidFill>
              </a:defRPr>
            </a:pPr>
            <a:r>
              <a:rPr sz="825" b="1" i="0">
                <a:solidFill>
                  <a:srgbClr val="F1EBE2"/>
                </a:solidFill>
              </a:rPr>
              <a:t>OpenAI API + MIRA LLM-as-judge rubric</a:t>
            </a:r>
          </a:p>
        </p:txBody>
      </p:sp>
      <p:sp>
        <p:nvSpPr>
          <p:cNvPr id="23" name="">
            <a:extLst xmlns:a="http://schemas.openxmlformats.org/drawingml/2006/main">
              <a:ext uri="{FF2B5EF4-FFF2-40B4-BE49-F238E27FC236}">
                <a16:creationId xmlns:a16="http://schemas.microsoft.com/office/drawing/2014/main" id="{BA54EC08-514E-429F-888A-2AB2CE6AEADD}"/>
              </a:ext>
            </a:extLst>
          </p:cNvPr>
          <p:cNvSpPr>
            <a:spLocks xmlns:a="http://schemas.openxmlformats.org/drawingml/2006/main" noGrp="1"/>
          </p:cNvSpPr>
          <p:nvPr/>
        </p:nvSpPr>
        <p:spPr>
          <a:xfrm xmlns:a="http://schemas.openxmlformats.org/drawingml/2006/main">
            <a:off x="1952625" y="5191125"/>
            <a:ext cx="3143250" cy="0"/>
          </a:xfrm>
          <a:prstGeom xmlns:a="http://schemas.openxmlformats.org/drawingml/2006/main" prst="line">
            <a:avLst/>
          </a:prstGeom>
          <a:noFill xmlns:a="http://schemas.openxmlformats.org/drawingml/2006/main"/>
          <a:ln xmlns:a="http://schemas.openxmlformats.org/drawingml/2006/main" w="9525">
            <a:solidFill>
              <a:srgbClr val="3A3732"/>
            </a:solidFill>
            <a:prstDash val="solid"/>
          </a:ln>
        </p:spPr>
      </p:sp>
      <p:sp>
        <p:nvSpPr>
          <p:cNvPr id="24" name="">
            <a:extLst xmlns:a="http://schemas.openxmlformats.org/drawingml/2006/main">
              <a:ext uri="{FF2B5EF4-FFF2-40B4-BE49-F238E27FC236}">
                <a16:creationId xmlns:a16="http://schemas.microsoft.com/office/drawing/2014/main" id="{501FC687-30E3-426A-95E1-0C0E4CE57AD6}"/>
              </a:ext>
            </a:extLst>
          </p:cNvPr>
          <p:cNvSpPr>
            <a:spLocks xmlns:a="http://schemas.openxmlformats.org/drawingml/2006/main" noGrp="1"/>
          </p:cNvSpPr>
          <p:nvPr/>
        </p:nvSpPr>
        <p:spPr>
          <a:xfrm xmlns:a="http://schemas.openxmlformats.org/drawingml/2006/main">
            <a:off x="7096125" y="4667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05</a:t>
            </a:r>
          </a:p>
        </p:txBody>
      </p:sp>
      <p:sp>
        <p:nvSpPr>
          <p:cNvPr id="25" name="">
            <a:extLst xmlns:a="http://schemas.openxmlformats.org/drawingml/2006/main">
              <a:ext uri="{FF2B5EF4-FFF2-40B4-BE49-F238E27FC236}">
                <a16:creationId xmlns:a16="http://schemas.microsoft.com/office/drawing/2014/main" id="{6D9C191F-EC11-4477-B44C-7F325E8008BD}"/>
              </a:ext>
            </a:extLst>
          </p:cNvPr>
          <p:cNvSpPr>
            <a:spLocks xmlns:a="http://schemas.openxmlformats.org/drawingml/2006/main" noGrp="1"/>
          </p:cNvSpPr>
          <p:nvPr/>
        </p:nvSpPr>
        <p:spPr>
          <a:xfrm xmlns:a="http://schemas.openxmlformats.org/drawingml/2006/main">
            <a:off x="7515225" y="4638675"/>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F1EBE2"/>
                </a:solidFill>
              </a:defRPr>
            </a:pPr>
            <a:r>
              <a:rPr sz="1125" b="1" i="0">
                <a:solidFill>
                  <a:srgbClr val="F1EBE2"/>
                </a:solidFill>
              </a:rPr>
              <a:t>Five-frame campaign coherence</a:t>
            </a:r>
          </a:p>
        </p:txBody>
      </p:sp>
      <p:sp>
        <p:nvSpPr>
          <p:cNvPr id="26" name="">
            <a:extLst xmlns:a="http://schemas.openxmlformats.org/drawingml/2006/main">
              <a:ext uri="{FF2B5EF4-FFF2-40B4-BE49-F238E27FC236}">
                <a16:creationId xmlns:a16="http://schemas.microsoft.com/office/drawing/2014/main" id="{AAFDCEB7-A727-41B7-A16E-728BBBF51B91}"/>
              </a:ext>
            </a:extLst>
          </p:cNvPr>
          <p:cNvSpPr>
            <a:spLocks xmlns:a="http://schemas.openxmlformats.org/drawingml/2006/main" noGrp="1"/>
          </p:cNvSpPr>
          <p:nvPr/>
        </p:nvSpPr>
        <p:spPr>
          <a:xfrm xmlns:a="http://schemas.openxmlformats.org/drawingml/2006/main">
            <a:off x="6238875" y="5381625"/>
            <a:ext cx="509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F1EBE2"/>
                </a:solidFill>
              </a:defRPr>
            </a:pPr>
            <a:r>
              <a:rPr sz="825" b="1" i="0">
                <a:solidFill>
                  <a:srgbClr val="F1EBE2"/>
                </a:solidFill>
              </a:rPr>
              <a:t>LANGSMITH</a:t>
            </a:r>
          </a:p>
          <a:p xmlns:a="http://schemas.openxmlformats.org/drawingml/2006/main">
            <a:pPr algn="l">
              <a:lnSpc>
                <a:spcPct val="108000"/>
              </a:lnSpc>
              <a:buNone/>
              <a:defRPr sz="825" b="1" i="0">
                <a:solidFill>
                  <a:srgbClr val="F1EBE2"/>
                </a:solidFill>
              </a:defRPr>
            </a:pPr>
            <a:r>
              <a:rPr sz="825" b="1" i="0">
                <a:solidFill>
                  <a:srgbClr val="F1EBE2"/>
                </a:solidFill>
              </a:rPr>
              <a:t>Traces AI stages, prompt version, latency, errors and token usage</a:t>
            </a:r>
          </a:p>
        </p:txBody>
      </p:sp>
      <p:sp>
        <p:nvSpPr>
          <p:cNvPr id="27" name="">
            <a:extLst xmlns:a="http://schemas.openxmlformats.org/drawingml/2006/main">
              <a:ext uri="{FF2B5EF4-FFF2-40B4-BE49-F238E27FC236}">
                <a16:creationId xmlns:a16="http://schemas.microsoft.com/office/drawing/2014/main" id="{4D87368C-2B1A-4354-B515-9C17A7E7E98C}"/>
              </a:ext>
            </a:extLst>
          </p:cNvPr>
          <p:cNvSpPr>
            <a:spLocks xmlns:a="http://schemas.openxmlformats.org/drawingml/2006/main" noGrp="1"/>
          </p:cNvSpPr>
          <p:nvPr/>
        </p:nvSpPr>
        <p:spPr>
          <a:xfrm xmlns:a="http://schemas.openxmlformats.org/drawingml/2006/main">
            <a:off x="7096125" y="5191125"/>
            <a:ext cx="3810000" cy="0"/>
          </a:xfrm>
          <a:prstGeom xmlns:a="http://schemas.openxmlformats.org/drawingml/2006/main" prst="line">
            <a:avLst/>
          </a:prstGeom>
          <a:noFill xmlns:a="http://schemas.openxmlformats.org/drawingml/2006/main"/>
          <a:ln xmlns:a="http://schemas.openxmlformats.org/drawingml/2006/main" w="9525">
            <a:solidFill>
              <a:srgbClr val="3A3732"/>
            </a:solidFill>
            <a:prstDash val="solid"/>
          </a:ln>
        </p:spPr>
      </p:sp>
      <p:sp>
        <p:nvSpPr>
          <p:cNvPr id="28" name="">
            <a:extLst xmlns:a="http://schemas.openxmlformats.org/drawingml/2006/main">
              <a:ext uri="{FF2B5EF4-FFF2-40B4-BE49-F238E27FC236}">
                <a16:creationId xmlns:a16="http://schemas.microsoft.com/office/drawing/2014/main" id="{C547E6AC-2A38-4346-A8AA-A75109DA76C8}"/>
              </a:ext>
            </a:extLst>
          </p:cNvPr>
          <p:cNvSpPr>
            <a:spLocks xmlns:a="http://schemas.openxmlformats.org/drawingml/2006/main" noGrp="1"/>
          </p:cNvSpPr>
          <p:nvPr/>
        </p:nvSpPr>
        <p:spPr>
          <a:xfrm xmlns:a="http://schemas.openxmlformats.org/drawingml/2006/main">
            <a:off x="5000625" y="29146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97B"/>
                </a:solidFill>
              </a:defRPr>
            </a:pPr>
            <a:r>
              <a:rPr sz="825" b="1" i="0">
                <a:solidFill>
                  <a:srgbClr val="D7B97B"/>
                </a:solidFill>
              </a:rPr>
              <a:t>MIRA OUTPUT</a:t>
            </a:r>
          </a:p>
        </p:txBody>
      </p:sp>
      <p:sp>
        <p:nvSpPr>
          <p:cNvPr id="29" name="">
            <a:extLst xmlns:a="http://schemas.openxmlformats.org/drawingml/2006/main">
              <a:ext uri="{FF2B5EF4-FFF2-40B4-BE49-F238E27FC236}">
                <a16:creationId xmlns:a16="http://schemas.microsoft.com/office/drawing/2014/main" id="{CAB9C148-CB8F-403A-8BD7-FC1AA8FE2B23}"/>
              </a:ext>
            </a:extLst>
          </p:cNvPr>
          <p:cNvSpPr>
            <a:spLocks xmlns:a="http://schemas.openxmlformats.org/drawingml/2006/main" noGrp="1"/>
          </p:cNvSpPr>
          <p:nvPr/>
        </p:nvSpPr>
        <p:spPr>
          <a:xfrm xmlns:a="http://schemas.openxmlformats.org/drawingml/2006/main">
            <a:off x="4191000" y="3219450"/>
            <a:ext cx="3810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75" b="1" i="0">
                <a:solidFill>
                  <a:srgbClr val="F1EBE2"/>
                </a:solidFill>
              </a:defRPr>
            </a:pPr>
            <a:r>
              <a:rPr sz="1575" b="1" i="0">
                <a:solidFill>
                  <a:srgbClr val="F1EBE2"/>
                </a:solidFill>
              </a:rPr>
              <a:t>ONE COHERENT</a:t>
            </a:r>
          </a:p>
          <a:p xmlns:a="http://schemas.openxmlformats.org/drawingml/2006/main">
            <a:pPr algn="l">
              <a:lnSpc>
                <a:spcPct val="108000"/>
              </a:lnSpc>
              <a:buNone/>
              <a:defRPr sz="1575" b="1" i="0">
                <a:solidFill>
                  <a:srgbClr val="F1EBE2"/>
                </a:solidFill>
              </a:defRPr>
            </a:pPr>
            <a:r>
              <a:rPr sz="1575" b="1" i="0">
                <a:solidFill>
                  <a:srgbClr val="F1EBE2"/>
                </a:solidFill>
              </a:rPr>
              <a:t>FIVE-FRAME CAMPAIGN</a:t>
            </a:r>
          </a:p>
        </p:txBody>
      </p:sp>
      <p:sp>
        <p:nvSpPr>
          <p:cNvPr id="30" name="">
            <a:extLst xmlns:a="http://schemas.openxmlformats.org/drawingml/2006/main">
              <a:ext uri="{FF2B5EF4-FFF2-40B4-BE49-F238E27FC236}">
                <a16:creationId xmlns:a16="http://schemas.microsoft.com/office/drawing/2014/main" id="{1213731C-2A2F-44CC-91CF-D81EAAB31D5F}"/>
              </a:ext>
            </a:extLst>
          </p:cNvPr>
          <p:cNvSpPr>
            <a:spLocks xmlns:a="http://schemas.openxmlformats.org/drawingml/2006/main" noGrp="1"/>
          </p:cNvSpPr>
          <p:nvPr/>
        </p:nvSpPr>
        <p:spPr>
          <a:xfrm xmlns:a="http://schemas.openxmlformats.org/drawingml/2006/main">
            <a:off x="4381500" y="39814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0" i="0">
                <a:solidFill>
                  <a:srgbClr val="B8B0A6"/>
                </a:solidFill>
              </a:defRPr>
            </a:pPr>
            <a:r>
              <a:rPr sz="900" b="0" i="0">
                <a:solidFill>
                  <a:srgbClr val="B8B0A6"/>
                </a:solidFill>
              </a:rPr>
              <a:t>Creative direction follows the client’s evidence and visual preferences.</a:t>
            </a:r>
          </a:p>
        </p:txBody>
      </p:sp>
      <p:sp>
        <p:nvSpPr>
          <p:cNvPr id="31" name="">
            <a:extLst xmlns:a="http://schemas.openxmlformats.org/drawingml/2006/main">
              <a:ext uri="{FF2B5EF4-FFF2-40B4-BE49-F238E27FC236}">
                <a16:creationId xmlns:a16="http://schemas.microsoft.com/office/drawing/2014/main" id="{D386F018-E886-40F4-9DFA-C693983319C9}"/>
              </a:ext>
            </a:extLst>
          </p:cNvPr>
          <p:cNvSpPr>
            <a:spLocks xmlns:a="http://schemas.openxmlformats.org/drawingml/2006/main" noGrp="1"/>
          </p:cNvSpPr>
          <p:nvPr/>
        </p:nvSpPr>
        <p:spPr>
          <a:xfrm xmlns:a="http://schemas.openxmlformats.org/drawingml/2006/main">
            <a:off x="4191000" y="4572000"/>
            <a:ext cx="3810000" cy="0"/>
          </a:xfrm>
          <a:prstGeom xmlns:a="http://schemas.openxmlformats.org/drawingml/2006/main" prst="line">
            <a:avLst/>
          </a:prstGeom>
          <a:noFill xmlns:a="http://schemas.openxmlformats.org/drawingml/2006/main"/>
          <a:ln xmlns:a="http://schemas.openxmlformats.org/drawingml/2006/main" w="19050">
            <a:solidFill>
              <a:srgbClr val="D7B97B"/>
            </a:solidFill>
            <a:prstDash val="solid"/>
          </a:ln>
        </p:spPr>
      </p:sp>
    </p:spTree>
    <p:extLst>
      <p:ext uri="{BB962C8B-B14F-4D97-AF65-F5344CB8AC3E}">
        <p14:creationId xmlns:p14="http://schemas.microsoft.com/office/powerpoint/2010/main" val="1856188159"/>
      </p:ext>
    </p:extLst>
  </p:cSld>
</p:sld>
</file>

<file path=ppt/slides/slide18.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C212545-ECA2-4CD5-8070-D4507F09BFB4}"/>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20DF4667-6402-45BC-9E3D-2F598C7094B0}"/>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BI DASHBOARD</a:t>
            </a:r>
          </a:p>
        </p:txBody>
      </p:sp>
      <p:sp>
        <p:nvSpPr>
          <p:cNvPr id="3" name="">
            <a:extLst xmlns:a="http://schemas.openxmlformats.org/drawingml/2006/main">
              <a:ext uri="{FF2B5EF4-FFF2-40B4-BE49-F238E27FC236}">
                <a16:creationId xmlns:a16="http://schemas.microsoft.com/office/drawing/2014/main" id="{40C02C29-DB25-4461-9BFA-473372459B64}"/>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578EC88F-9760-45CD-9401-5C361849B50E}"/>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The dashboard should measure readiness, quality and efficiency</a:t>
            </a:r>
          </a:p>
        </p:txBody>
      </p:sp>
      <p:sp>
        <p:nvSpPr>
          <p:cNvPr id="5" name="">
            <a:extLst xmlns:a="http://schemas.openxmlformats.org/drawingml/2006/main">
              <a:ext uri="{FF2B5EF4-FFF2-40B4-BE49-F238E27FC236}">
                <a16:creationId xmlns:a16="http://schemas.microsoft.com/office/drawing/2014/main" id="{68C87EC6-8124-40A1-9176-90EAE6C2081E}"/>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PLANNED</a:t>
            </a:r>
          </a:p>
        </p:txBody>
      </p:sp>
      <p:sp>
        <p:nvSpPr>
          <p:cNvPr id="6" name="">
            <a:extLst xmlns:a="http://schemas.openxmlformats.org/drawingml/2006/main">
              <a:ext uri="{FF2B5EF4-FFF2-40B4-BE49-F238E27FC236}">
                <a16:creationId xmlns:a16="http://schemas.microsoft.com/office/drawing/2014/main" id="{D7404856-3ADF-466F-9920-AF293B401E37}"/>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B364BB7F-4A76-4A9C-B050-5CDED923BF76}"/>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Power BI or agreed alternative</a:t>
            </a:r>
          </a:p>
        </p:txBody>
      </p:sp>
      <p:sp>
        <p:nvSpPr>
          <p:cNvPr id="8" name="">
            <a:extLst xmlns:a="http://schemas.openxmlformats.org/drawingml/2006/main">
              <a:ext uri="{FF2B5EF4-FFF2-40B4-BE49-F238E27FC236}">
                <a16:creationId xmlns:a16="http://schemas.microsoft.com/office/drawing/2014/main" id="{4EB41076-15F9-44EC-AA25-F733A0DFFED7}"/>
              </a:ext>
            </a:extLst>
          </p:cNvPr>
          <p:cNvSpPr>
            <a:spLocks xmlns:a="http://schemas.openxmlformats.org/drawingml/2006/main" noGrp="1"/>
          </p:cNvSpPr>
          <p:nvPr/>
        </p:nvSpPr>
        <p:spPr>
          <a:xfrm xmlns:a="http://schemas.openxmlformats.org/drawingml/2006/main">
            <a:off x="552450" y="18097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B86"/>
                </a:solidFill>
              </a:defRPr>
            </a:pPr>
            <a:r>
              <a:rPr sz="825" b="1" i="0">
                <a:solidFill>
                  <a:srgbClr val="D7BB86"/>
                </a:solidFill>
              </a:rPr>
              <a:t>01</a:t>
            </a:r>
          </a:p>
        </p:txBody>
      </p:sp>
      <p:sp>
        <p:nvSpPr>
          <p:cNvPr id="9" name="">
            <a:extLst xmlns:a="http://schemas.openxmlformats.org/drawingml/2006/main">
              <a:ext uri="{FF2B5EF4-FFF2-40B4-BE49-F238E27FC236}">
                <a16:creationId xmlns:a16="http://schemas.microsoft.com/office/drawing/2014/main" id="{8CF1E367-5945-41E8-A8EC-78C1862601C4}"/>
              </a:ext>
            </a:extLst>
          </p:cNvPr>
          <p:cNvSpPr>
            <a:spLocks xmlns:a="http://schemas.openxmlformats.org/drawingml/2006/main" noGrp="1"/>
          </p:cNvSpPr>
          <p:nvPr/>
        </p:nvSpPr>
        <p:spPr>
          <a:xfrm xmlns:a="http://schemas.openxmlformats.org/drawingml/2006/main">
            <a:off x="952500" y="17716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Completion rate</a:t>
            </a:r>
          </a:p>
        </p:txBody>
      </p:sp>
      <p:sp>
        <p:nvSpPr>
          <p:cNvPr id="10" name="">
            <a:extLst xmlns:a="http://schemas.openxmlformats.org/drawingml/2006/main">
              <a:ext uri="{FF2B5EF4-FFF2-40B4-BE49-F238E27FC236}">
                <a16:creationId xmlns:a16="http://schemas.microsoft.com/office/drawing/2014/main" id="{405390B5-F9FA-4BE8-850B-72AE576A8B1A}"/>
              </a:ext>
            </a:extLst>
          </p:cNvPr>
          <p:cNvSpPr>
            <a:spLocks xmlns:a="http://schemas.openxmlformats.org/drawingml/2006/main" noGrp="1"/>
          </p:cNvSpPr>
          <p:nvPr/>
        </p:nvSpPr>
        <p:spPr>
          <a:xfrm xmlns:a="http://schemas.openxmlformats.org/drawingml/2006/main">
            <a:off x="952500" y="21431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Clients who finish preparation</a:t>
            </a:r>
          </a:p>
        </p:txBody>
      </p:sp>
      <p:sp>
        <p:nvSpPr>
          <p:cNvPr id="11" name="">
            <a:extLst xmlns:a="http://schemas.openxmlformats.org/drawingml/2006/main">
              <a:ext uri="{FF2B5EF4-FFF2-40B4-BE49-F238E27FC236}">
                <a16:creationId xmlns:a16="http://schemas.microsoft.com/office/drawing/2014/main" id="{D869D120-362D-43B7-9E03-F63DCBDD0C7D}"/>
              </a:ext>
            </a:extLst>
          </p:cNvPr>
          <p:cNvSpPr>
            <a:spLocks xmlns:a="http://schemas.openxmlformats.org/drawingml/2006/main" noGrp="1"/>
          </p:cNvSpPr>
          <p:nvPr/>
        </p:nvSpPr>
        <p:spPr>
          <a:xfrm xmlns:a="http://schemas.openxmlformats.org/drawingml/2006/main">
            <a:off x="552450" y="2809875"/>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2" name="">
            <a:extLst xmlns:a="http://schemas.openxmlformats.org/drawingml/2006/main">
              <a:ext uri="{FF2B5EF4-FFF2-40B4-BE49-F238E27FC236}">
                <a16:creationId xmlns:a16="http://schemas.microsoft.com/office/drawing/2014/main" id="{6A8E1BD9-0B4D-44E3-B2EF-8FC651061988}"/>
              </a:ext>
            </a:extLst>
          </p:cNvPr>
          <p:cNvSpPr>
            <a:spLocks xmlns:a="http://schemas.openxmlformats.org/drawingml/2006/main" noGrp="1"/>
          </p:cNvSpPr>
          <p:nvPr/>
        </p:nvSpPr>
        <p:spPr>
          <a:xfrm xmlns:a="http://schemas.openxmlformats.org/drawingml/2006/main">
            <a:off x="4267200" y="18097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B86"/>
                </a:solidFill>
              </a:defRPr>
            </a:pPr>
            <a:r>
              <a:rPr sz="825" b="1" i="0">
                <a:solidFill>
                  <a:srgbClr val="D7BB86"/>
                </a:solidFill>
              </a:rPr>
              <a:t>02</a:t>
            </a:r>
          </a:p>
        </p:txBody>
      </p:sp>
      <p:sp>
        <p:nvSpPr>
          <p:cNvPr id="13" name="">
            <a:extLst xmlns:a="http://schemas.openxmlformats.org/drawingml/2006/main">
              <a:ext uri="{FF2B5EF4-FFF2-40B4-BE49-F238E27FC236}">
                <a16:creationId xmlns:a16="http://schemas.microsoft.com/office/drawing/2014/main" id="{768F1D83-2C17-462D-A09A-5E7DD59A58F7}"/>
              </a:ext>
            </a:extLst>
          </p:cNvPr>
          <p:cNvSpPr>
            <a:spLocks xmlns:a="http://schemas.openxmlformats.org/drawingml/2006/main" noGrp="1"/>
          </p:cNvSpPr>
          <p:nvPr/>
        </p:nvSpPr>
        <p:spPr>
          <a:xfrm xmlns:a="http://schemas.openxmlformats.org/drawingml/2006/main">
            <a:off x="4667250" y="17716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Time to readiness</a:t>
            </a:r>
          </a:p>
        </p:txBody>
      </p:sp>
      <p:sp>
        <p:nvSpPr>
          <p:cNvPr id="14" name="">
            <a:extLst xmlns:a="http://schemas.openxmlformats.org/drawingml/2006/main">
              <a:ext uri="{FF2B5EF4-FFF2-40B4-BE49-F238E27FC236}">
                <a16:creationId xmlns:a16="http://schemas.microsoft.com/office/drawing/2014/main" id="{E1ABD9D4-ADB3-4A61-99EF-33FA155C1C7D}"/>
              </a:ext>
            </a:extLst>
          </p:cNvPr>
          <p:cNvSpPr>
            <a:spLocks xmlns:a="http://schemas.openxmlformats.org/drawingml/2006/main" noGrp="1"/>
          </p:cNvSpPr>
          <p:nvPr/>
        </p:nvSpPr>
        <p:spPr>
          <a:xfrm xmlns:a="http://schemas.openxmlformats.org/drawingml/2006/main">
            <a:off x="4667250" y="21431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Invite to completed brief</a:t>
            </a:r>
          </a:p>
        </p:txBody>
      </p:sp>
      <p:sp>
        <p:nvSpPr>
          <p:cNvPr id="15" name="">
            <a:extLst xmlns:a="http://schemas.openxmlformats.org/drawingml/2006/main">
              <a:ext uri="{FF2B5EF4-FFF2-40B4-BE49-F238E27FC236}">
                <a16:creationId xmlns:a16="http://schemas.microsoft.com/office/drawing/2014/main" id="{9B72A7F0-93AB-42F8-AFDC-2A205355189C}"/>
              </a:ext>
            </a:extLst>
          </p:cNvPr>
          <p:cNvSpPr>
            <a:spLocks xmlns:a="http://schemas.openxmlformats.org/drawingml/2006/main" noGrp="1"/>
          </p:cNvSpPr>
          <p:nvPr/>
        </p:nvSpPr>
        <p:spPr>
          <a:xfrm xmlns:a="http://schemas.openxmlformats.org/drawingml/2006/main">
            <a:off x="4267200" y="2809875"/>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6" name="">
            <a:extLst xmlns:a="http://schemas.openxmlformats.org/drawingml/2006/main">
              <a:ext uri="{FF2B5EF4-FFF2-40B4-BE49-F238E27FC236}">
                <a16:creationId xmlns:a16="http://schemas.microsoft.com/office/drawing/2014/main" id="{7A734CF9-6EAA-4BF7-8D1D-367CD94001D8}"/>
              </a:ext>
            </a:extLst>
          </p:cNvPr>
          <p:cNvSpPr>
            <a:spLocks xmlns:a="http://schemas.openxmlformats.org/drawingml/2006/main" noGrp="1"/>
          </p:cNvSpPr>
          <p:nvPr/>
        </p:nvSpPr>
        <p:spPr>
          <a:xfrm xmlns:a="http://schemas.openxmlformats.org/drawingml/2006/main">
            <a:off x="7981950" y="18097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B86"/>
                </a:solidFill>
              </a:defRPr>
            </a:pPr>
            <a:r>
              <a:rPr sz="825" b="1" i="0">
                <a:solidFill>
                  <a:srgbClr val="D7BB86"/>
                </a:solidFill>
              </a:rPr>
              <a:t>03</a:t>
            </a:r>
          </a:p>
        </p:txBody>
      </p:sp>
      <p:sp>
        <p:nvSpPr>
          <p:cNvPr id="17" name="">
            <a:extLst xmlns:a="http://schemas.openxmlformats.org/drawingml/2006/main">
              <a:ext uri="{FF2B5EF4-FFF2-40B4-BE49-F238E27FC236}">
                <a16:creationId xmlns:a16="http://schemas.microsoft.com/office/drawing/2014/main" id="{18BC1A63-5885-4114-9C03-BB188AFE94F4}"/>
              </a:ext>
            </a:extLst>
          </p:cNvPr>
          <p:cNvSpPr>
            <a:spLocks xmlns:a="http://schemas.openxmlformats.org/drawingml/2006/main" noGrp="1"/>
          </p:cNvSpPr>
          <p:nvPr/>
        </p:nvSpPr>
        <p:spPr>
          <a:xfrm xmlns:a="http://schemas.openxmlformats.org/drawingml/2006/main">
            <a:off x="8382000" y="17716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Missing-detail rate</a:t>
            </a:r>
          </a:p>
        </p:txBody>
      </p:sp>
      <p:sp>
        <p:nvSpPr>
          <p:cNvPr id="18" name="">
            <a:extLst xmlns:a="http://schemas.openxmlformats.org/drawingml/2006/main">
              <a:ext uri="{FF2B5EF4-FFF2-40B4-BE49-F238E27FC236}">
                <a16:creationId xmlns:a16="http://schemas.microsoft.com/office/drawing/2014/main" id="{09ED41D3-7122-4545-9DE9-5CBBF0C7390B}"/>
              </a:ext>
            </a:extLst>
          </p:cNvPr>
          <p:cNvSpPr>
            <a:spLocks xmlns:a="http://schemas.openxmlformats.org/drawingml/2006/main" noGrp="1"/>
          </p:cNvSpPr>
          <p:nvPr/>
        </p:nvSpPr>
        <p:spPr>
          <a:xfrm xmlns:a="http://schemas.openxmlformats.org/drawingml/2006/main">
            <a:off x="8382000" y="214312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Shoots needing follow-up</a:t>
            </a:r>
          </a:p>
        </p:txBody>
      </p:sp>
      <p:sp>
        <p:nvSpPr>
          <p:cNvPr id="19" name="">
            <a:extLst xmlns:a="http://schemas.openxmlformats.org/drawingml/2006/main">
              <a:ext uri="{FF2B5EF4-FFF2-40B4-BE49-F238E27FC236}">
                <a16:creationId xmlns:a16="http://schemas.microsoft.com/office/drawing/2014/main" id="{167B4B51-51E4-44D2-AC59-10B242EBED9F}"/>
              </a:ext>
            </a:extLst>
          </p:cNvPr>
          <p:cNvSpPr>
            <a:spLocks xmlns:a="http://schemas.openxmlformats.org/drawingml/2006/main" noGrp="1"/>
          </p:cNvSpPr>
          <p:nvPr/>
        </p:nvSpPr>
        <p:spPr>
          <a:xfrm xmlns:a="http://schemas.openxmlformats.org/drawingml/2006/main">
            <a:off x="7981950" y="2809875"/>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0" name="">
            <a:extLst xmlns:a="http://schemas.openxmlformats.org/drawingml/2006/main">
              <a:ext uri="{FF2B5EF4-FFF2-40B4-BE49-F238E27FC236}">
                <a16:creationId xmlns:a16="http://schemas.microsoft.com/office/drawing/2014/main" id="{E7360DE1-A8AD-45F5-B35A-8CDAD9F43D93}"/>
              </a:ext>
            </a:extLst>
          </p:cNvPr>
          <p:cNvSpPr>
            <a:spLocks xmlns:a="http://schemas.openxmlformats.org/drawingml/2006/main" noGrp="1"/>
          </p:cNvSpPr>
          <p:nvPr/>
        </p:nvSpPr>
        <p:spPr>
          <a:xfrm xmlns:a="http://schemas.openxmlformats.org/drawingml/2006/main">
            <a:off x="552450" y="3571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B86"/>
                </a:solidFill>
              </a:defRPr>
            </a:pPr>
            <a:r>
              <a:rPr sz="825" b="1" i="0">
                <a:solidFill>
                  <a:srgbClr val="D7BB86"/>
                </a:solidFill>
              </a:rPr>
              <a:t>04</a:t>
            </a:r>
          </a:p>
        </p:txBody>
      </p:sp>
      <p:sp>
        <p:nvSpPr>
          <p:cNvPr id="21" name="">
            <a:extLst xmlns:a="http://schemas.openxmlformats.org/drawingml/2006/main">
              <a:ext uri="{FF2B5EF4-FFF2-40B4-BE49-F238E27FC236}">
                <a16:creationId xmlns:a16="http://schemas.microsoft.com/office/drawing/2014/main" id="{77C4D2E2-DA7A-4083-8958-F6ECFF8EF489}"/>
              </a:ext>
            </a:extLst>
          </p:cNvPr>
          <p:cNvSpPr>
            <a:spLocks xmlns:a="http://schemas.openxmlformats.org/drawingml/2006/main" noGrp="1"/>
          </p:cNvSpPr>
          <p:nvPr/>
        </p:nvSpPr>
        <p:spPr>
          <a:xfrm xmlns:a="http://schemas.openxmlformats.org/drawingml/2006/main">
            <a:off x="952500" y="353377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Moodboard approval</a:t>
            </a:r>
          </a:p>
        </p:txBody>
      </p:sp>
      <p:sp>
        <p:nvSpPr>
          <p:cNvPr id="22" name="">
            <a:extLst xmlns:a="http://schemas.openxmlformats.org/drawingml/2006/main">
              <a:ext uri="{FF2B5EF4-FFF2-40B4-BE49-F238E27FC236}">
                <a16:creationId xmlns:a16="http://schemas.microsoft.com/office/drawing/2014/main" id="{71E05DCB-9577-4C56-BDBE-EFCCE4D8D400}"/>
              </a:ext>
            </a:extLst>
          </p:cNvPr>
          <p:cNvSpPr>
            <a:spLocks xmlns:a="http://schemas.openxmlformats.org/drawingml/2006/main" noGrp="1"/>
          </p:cNvSpPr>
          <p:nvPr/>
        </p:nvSpPr>
        <p:spPr>
          <a:xfrm xmlns:a="http://schemas.openxmlformats.org/drawingml/2006/main">
            <a:off x="952500" y="3905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Accepted without regeneration</a:t>
            </a:r>
          </a:p>
        </p:txBody>
      </p:sp>
      <p:sp>
        <p:nvSpPr>
          <p:cNvPr id="23" name="">
            <a:extLst xmlns:a="http://schemas.openxmlformats.org/drawingml/2006/main">
              <a:ext uri="{FF2B5EF4-FFF2-40B4-BE49-F238E27FC236}">
                <a16:creationId xmlns:a16="http://schemas.microsoft.com/office/drawing/2014/main" id="{BA54EC08-514E-429F-888A-2AB2CE6AEADD}"/>
              </a:ext>
            </a:extLst>
          </p:cNvPr>
          <p:cNvSpPr>
            <a:spLocks xmlns:a="http://schemas.openxmlformats.org/drawingml/2006/main" noGrp="1"/>
          </p:cNvSpPr>
          <p:nvPr/>
        </p:nvSpPr>
        <p:spPr>
          <a:xfrm xmlns:a="http://schemas.openxmlformats.org/drawingml/2006/main">
            <a:off x="552450" y="4572000"/>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4" name="">
            <a:extLst xmlns:a="http://schemas.openxmlformats.org/drawingml/2006/main">
              <a:ext uri="{FF2B5EF4-FFF2-40B4-BE49-F238E27FC236}">
                <a16:creationId xmlns:a16="http://schemas.microsoft.com/office/drawing/2014/main" id="{501FC687-30E3-426A-95E1-0C0E4CE57AD6}"/>
              </a:ext>
            </a:extLst>
          </p:cNvPr>
          <p:cNvSpPr>
            <a:spLocks xmlns:a="http://schemas.openxmlformats.org/drawingml/2006/main" noGrp="1"/>
          </p:cNvSpPr>
          <p:nvPr/>
        </p:nvSpPr>
        <p:spPr>
          <a:xfrm xmlns:a="http://schemas.openxmlformats.org/drawingml/2006/main">
            <a:off x="4267200" y="3571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B86"/>
                </a:solidFill>
              </a:defRPr>
            </a:pPr>
            <a:r>
              <a:rPr sz="825" b="1" i="0">
                <a:solidFill>
                  <a:srgbClr val="D7BB86"/>
                </a:solidFill>
              </a:rPr>
              <a:t>05</a:t>
            </a:r>
          </a:p>
        </p:txBody>
      </p:sp>
      <p:sp>
        <p:nvSpPr>
          <p:cNvPr id="25" name="">
            <a:extLst xmlns:a="http://schemas.openxmlformats.org/drawingml/2006/main">
              <a:ext uri="{FF2B5EF4-FFF2-40B4-BE49-F238E27FC236}">
                <a16:creationId xmlns:a16="http://schemas.microsoft.com/office/drawing/2014/main" id="{6D9C191F-EC11-4477-B44C-7F325E8008BD}"/>
              </a:ext>
            </a:extLst>
          </p:cNvPr>
          <p:cNvSpPr>
            <a:spLocks xmlns:a="http://schemas.openxmlformats.org/drawingml/2006/main" noGrp="1"/>
          </p:cNvSpPr>
          <p:nvPr/>
        </p:nvSpPr>
        <p:spPr>
          <a:xfrm xmlns:a="http://schemas.openxmlformats.org/drawingml/2006/main">
            <a:off x="4667250" y="353377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Cycle time</a:t>
            </a:r>
          </a:p>
        </p:txBody>
      </p:sp>
      <p:sp>
        <p:nvSpPr>
          <p:cNvPr id="26" name="">
            <a:extLst xmlns:a="http://schemas.openxmlformats.org/drawingml/2006/main">
              <a:ext uri="{FF2B5EF4-FFF2-40B4-BE49-F238E27FC236}">
                <a16:creationId xmlns:a16="http://schemas.microsoft.com/office/drawing/2014/main" id="{AAFDCEB7-A727-41B7-A16E-728BBBF51B91}"/>
              </a:ext>
            </a:extLst>
          </p:cNvPr>
          <p:cNvSpPr>
            <a:spLocks xmlns:a="http://schemas.openxmlformats.org/drawingml/2006/main" noGrp="1"/>
          </p:cNvSpPr>
          <p:nvPr/>
        </p:nvSpPr>
        <p:spPr>
          <a:xfrm xmlns:a="http://schemas.openxmlformats.org/drawingml/2006/main">
            <a:off x="4667250" y="3905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Brief to photographer review</a:t>
            </a:r>
          </a:p>
        </p:txBody>
      </p:sp>
      <p:sp>
        <p:nvSpPr>
          <p:cNvPr id="27" name="">
            <a:extLst xmlns:a="http://schemas.openxmlformats.org/drawingml/2006/main">
              <a:ext uri="{FF2B5EF4-FFF2-40B4-BE49-F238E27FC236}">
                <a16:creationId xmlns:a16="http://schemas.microsoft.com/office/drawing/2014/main" id="{4D87368C-2B1A-4354-B515-9C17A7E7E98C}"/>
              </a:ext>
            </a:extLst>
          </p:cNvPr>
          <p:cNvSpPr>
            <a:spLocks xmlns:a="http://schemas.openxmlformats.org/drawingml/2006/main" noGrp="1"/>
          </p:cNvSpPr>
          <p:nvPr/>
        </p:nvSpPr>
        <p:spPr>
          <a:xfrm xmlns:a="http://schemas.openxmlformats.org/drawingml/2006/main">
            <a:off x="4267200" y="4572000"/>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8" name="">
            <a:extLst xmlns:a="http://schemas.openxmlformats.org/drawingml/2006/main">
              <a:ext uri="{FF2B5EF4-FFF2-40B4-BE49-F238E27FC236}">
                <a16:creationId xmlns:a16="http://schemas.microsoft.com/office/drawing/2014/main" id="{C547E6AC-2A38-4346-A8AA-A75109DA76C8}"/>
              </a:ext>
            </a:extLst>
          </p:cNvPr>
          <p:cNvSpPr>
            <a:spLocks xmlns:a="http://schemas.openxmlformats.org/drawingml/2006/main" noGrp="1"/>
          </p:cNvSpPr>
          <p:nvPr/>
        </p:nvSpPr>
        <p:spPr>
          <a:xfrm xmlns:a="http://schemas.openxmlformats.org/drawingml/2006/main">
            <a:off x="7981950" y="3571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825" b="1" i="0">
                <a:solidFill>
                  <a:srgbClr val="D7BB86"/>
                </a:solidFill>
              </a:defRPr>
            </a:pPr>
            <a:r>
              <a:rPr sz="825" b="1" i="0">
                <a:solidFill>
                  <a:srgbClr val="D7BB86"/>
                </a:solidFill>
              </a:rPr>
              <a:t>06</a:t>
            </a:r>
          </a:p>
        </p:txBody>
      </p:sp>
      <p:sp>
        <p:nvSpPr>
          <p:cNvPr id="29" name="">
            <a:extLst xmlns:a="http://schemas.openxmlformats.org/drawingml/2006/main">
              <a:ext uri="{FF2B5EF4-FFF2-40B4-BE49-F238E27FC236}">
                <a16:creationId xmlns:a16="http://schemas.microsoft.com/office/drawing/2014/main" id="{CAB9C148-CB8F-403A-8BD7-FC1AA8FE2B23}"/>
              </a:ext>
            </a:extLst>
          </p:cNvPr>
          <p:cNvSpPr>
            <a:spLocks xmlns:a="http://schemas.openxmlformats.org/drawingml/2006/main" noGrp="1"/>
          </p:cNvSpPr>
          <p:nvPr/>
        </p:nvSpPr>
        <p:spPr>
          <a:xfrm xmlns:a="http://schemas.openxmlformats.org/drawingml/2006/main">
            <a:off x="8382000" y="353377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AI exception rate</a:t>
            </a:r>
          </a:p>
        </p:txBody>
      </p:sp>
      <p:sp>
        <p:nvSpPr>
          <p:cNvPr id="30" name="">
            <a:extLst xmlns:a="http://schemas.openxmlformats.org/drawingml/2006/main">
              <a:ext uri="{FF2B5EF4-FFF2-40B4-BE49-F238E27FC236}">
                <a16:creationId xmlns:a16="http://schemas.microsoft.com/office/drawing/2014/main" id="{1213731C-2A2F-44CC-91CF-D81EAAB31D5F}"/>
              </a:ext>
            </a:extLst>
          </p:cNvPr>
          <p:cNvSpPr>
            <a:spLocks xmlns:a="http://schemas.openxmlformats.org/drawingml/2006/main" noGrp="1"/>
          </p:cNvSpPr>
          <p:nvPr/>
        </p:nvSpPr>
        <p:spPr>
          <a:xfrm xmlns:a="http://schemas.openxmlformats.org/drawingml/2006/main">
            <a:off x="8382000" y="3905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Cases escalated to human review</a:t>
            </a:r>
          </a:p>
        </p:txBody>
      </p:sp>
      <p:sp>
        <p:nvSpPr>
          <p:cNvPr id="31" name="">
            <a:extLst xmlns:a="http://schemas.openxmlformats.org/drawingml/2006/main">
              <a:ext uri="{FF2B5EF4-FFF2-40B4-BE49-F238E27FC236}">
                <a16:creationId xmlns:a16="http://schemas.microsoft.com/office/drawing/2014/main" id="{D386F018-E886-40F4-9DFA-C693983319C9}"/>
              </a:ext>
            </a:extLst>
          </p:cNvPr>
          <p:cNvSpPr>
            <a:spLocks xmlns:a="http://schemas.openxmlformats.org/drawingml/2006/main" noGrp="1"/>
          </p:cNvSpPr>
          <p:nvPr/>
        </p:nvSpPr>
        <p:spPr>
          <a:xfrm xmlns:a="http://schemas.openxmlformats.org/drawingml/2006/main">
            <a:off x="7981950" y="4572000"/>
            <a:ext cx="3286125"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Tree>
    <p:extLst>
      <p:ext uri="{BB962C8B-B14F-4D97-AF65-F5344CB8AC3E}">
        <p14:creationId xmlns:p14="http://schemas.microsoft.com/office/powerpoint/2010/main" val="1856188159"/>
      </p:ext>
    </p:extLst>
  </p:cSld>
</p:sld>
</file>

<file path=ppt/slides/slide19.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17F1BAF-1A5F-42F6-B966-5B02EDBF0450}"/>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A62720B9-F444-47ED-80B2-3F72916F6F24}"/>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RESPONSIBLE AI</a:t>
            </a:r>
          </a:p>
        </p:txBody>
      </p:sp>
      <p:sp>
        <p:nvSpPr>
          <p:cNvPr id="3" name="">
            <a:extLst xmlns:a="http://schemas.openxmlformats.org/drawingml/2006/main">
              <a:ext uri="{FF2B5EF4-FFF2-40B4-BE49-F238E27FC236}">
                <a16:creationId xmlns:a16="http://schemas.microsoft.com/office/drawing/2014/main" id="{CF5F831B-5F11-4CF5-A7C5-FDAFE4F59BD2}"/>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00E4A009-36FA-4E77-BA8C-8CBEFC86D24A}"/>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Consent and human review define the responsible boundary</a:t>
            </a:r>
          </a:p>
        </p:txBody>
      </p:sp>
      <p:sp>
        <p:nvSpPr>
          <p:cNvPr id="5" name="">
            <a:extLst xmlns:a="http://schemas.openxmlformats.org/drawingml/2006/main">
              <a:ext uri="{FF2B5EF4-FFF2-40B4-BE49-F238E27FC236}">
                <a16:creationId xmlns:a16="http://schemas.microsoft.com/office/drawing/2014/main" id="{3CEC83DA-CB58-417F-9CE9-0645C273E054}"/>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DESIGNED CONTROL</a:t>
            </a:r>
          </a:p>
        </p:txBody>
      </p:sp>
      <p:sp>
        <p:nvSpPr>
          <p:cNvPr id="6" name="">
            <a:extLst xmlns:a="http://schemas.openxmlformats.org/drawingml/2006/main">
              <a:ext uri="{FF2B5EF4-FFF2-40B4-BE49-F238E27FC236}">
                <a16:creationId xmlns:a16="http://schemas.microsoft.com/office/drawing/2014/main" id="{C6CEAB6B-6591-4E92-A030-238678645A92}"/>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7AFD54D4-920B-405A-9ABE-DC2B49BEF7BA}"/>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Consent UI · Auth · Audit logic</a:t>
            </a:r>
          </a:p>
        </p:txBody>
      </p:sp>
      <p:sp>
        <p:nvSpPr>
          <p:cNvPr id="8" name="">
            <a:extLst xmlns:a="http://schemas.openxmlformats.org/drawingml/2006/main">
              <a:ext uri="{FF2B5EF4-FFF2-40B4-BE49-F238E27FC236}">
                <a16:creationId xmlns:a16="http://schemas.microsoft.com/office/drawing/2014/main" id="{0FA62EFF-E89E-4D65-83AC-74A952645EBB}"/>
              </a:ext>
            </a:extLst>
          </p:cNvPr>
          <p:cNvSpPr>
            <a:spLocks xmlns:a="http://schemas.openxmlformats.org/drawingml/2006/main" noGrp="1"/>
          </p:cNvSpPr>
          <p:nvPr/>
        </p:nvSpPr>
        <p:spPr>
          <a:xfrm xmlns:a="http://schemas.openxmlformats.org/drawingml/2006/main">
            <a:off x="552450" y="1809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BEFORE AI</a:t>
            </a:r>
          </a:p>
        </p:txBody>
      </p:sp>
      <p:sp>
        <p:nvSpPr>
          <p:cNvPr id="9" name="">
            <a:extLst xmlns:a="http://schemas.openxmlformats.org/drawingml/2006/main">
              <a:ext uri="{FF2B5EF4-FFF2-40B4-BE49-F238E27FC236}">
                <a16:creationId xmlns:a16="http://schemas.microsoft.com/office/drawing/2014/main" id="{B6852685-23E3-461F-A233-462824DF4E97}"/>
              </a:ext>
            </a:extLst>
          </p:cNvPr>
          <p:cNvSpPr>
            <a:spLocks xmlns:a="http://schemas.openxmlformats.org/drawingml/2006/main" noGrp="1"/>
          </p:cNvSpPr>
          <p:nvPr/>
        </p:nvSpPr>
        <p:spPr>
          <a:xfrm xmlns:a="http://schemas.openxmlformats.org/drawingml/2006/main">
            <a:off x="552450" y="22098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025" b="0" i="0">
                <a:solidFill>
                  <a:srgbClr val="F1E8DA"/>
                </a:solidFill>
              </a:defRPr>
            </a:pPr>
            <a:r>
              <a:rPr sz="2025" b="0" i="0">
                <a:solidFill>
                  <a:srgbClr val="F1E8DA"/>
                </a:solidFill>
              </a:rPr>
              <a:t>Explicit consent</a:t>
            </a:r>
          </a:p>
          <a:p xmlns:a="http://schemas.openxmlformats.org/drawingml/2006/main">
            <a:pPr algn="l">
              <a:lnSpc>
                <a:spcPct val="108000"/>
              </a:lnSpc>
              <a:buNone/>
              <a:defRPr sz="2025" b="0" i="0">
                <a:solidFill>
                  <a:srgbClr val="F1E8DA"/>
                </a:solidFill>
              </a:defRPr>
            </a:pPr>
            <a:r>
              <a:rPr sz="2025" b="0" i="0">
                <a:solidFill>
                  <a:srgbClr val="F1E8DA"/>
                </a:solidFill>
              </a:rPr>
              <a:t>Purpose explained</a:t>
            </a:r>
          </a:p>
          <a:p xmlns:a="http://schemas.openxmlformats.org/drawingml/2006/main">
            <a:pPr algn="l">
              <a:lnSpc>
                <a:spcPct val="108000"/>
              </a:lnSpc>
              <a:buNone/>
              <a:defRPr sz="2025" b="0" i="0">
                <a:solidFill>
                  <a:srgbClr val="F1E8DA"/>
                </a:solidFill>
              </a:defRPr>
            </a:pPr>
            <a:r>
              <a:rPr sz="2025" b="0" i="0">
                <a:solidFill>
                  <a:srgbClr val="F1E8DA"/>
                </a:solidFill>
              </a:rPr>
              <a:t>Minimum necessary inputs</a:t>
            </a:r>
          </a:p>
        </p:txBody>
      </p:sp>
      <p:sp>
        <p:nvSpPr>
          <p:cNvPr id="10" name="">
            <a:extLst xmlns:a="http://schemas.openxmlformats.org/drawingml/2006/main">
              <a:ext uri="{FF2B5EF4-FFF2-40B4-BE49-F238E27FC236}">
                <a16:creationId xmlns:a16="http://schemas.microsoft.com/office/drawing/2014/main" id="{CE3248FF-0EE3-49A2-AA82-16E4B612F1E8}"/>
              </a:ext>
            </a:extLst>
          </p:cNvPr>
          <p:cNvSpPr>
            <a:spLocks xmlns:a="http://schemas.openxmlformats.org/drawingml/2006/main" noGrp="1"/>
          </p:cNvSpPr>
          <p:nvPr/>
        </p:nvSpPr>
        <p:spPr>
          <a:xfrm xmlns:a="http://schemas.openxmlformats.org/drawingml/2006/main">
            <a:off x="4333875" y="1809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DURING AI</a:t>
            </a:r>
          </a:p>
        </p:txBody>
      </p:sp>
      <p:sp>
        <p:nvSpPr>
          <p:cNvPr id="11" name="">
            <a:extLst xmlns:a="http://schemas.openxmlformats.org/drawingml/2006/main">
              <a:ext uri="{FF2B5EF4-FFF2-40B4-BE49-F238E27FC236}">
                <a16:creationId xmlns:a16="http://schemas.microsoft.com/office/drawing/2014/main" id="{0D0ACE79-319D-4364-A7E2-F30F37E8CEC4}"/>
              </a:ext>
            </a:extLst>
          </p:cNvPr>
          <p:cNvSpPr>
            <a:spLocks xmlns:a="http://schemas.openxmlformats.org/drawingml/2006/main" noGrp="1"/>
          </p:cNvSpPr>
          <p:nvPr/>
        </p:nvSpPr>
        <p:spPr>
          <a:xfrm xmlns:a="http://schemas.openxmlformats.org/drawingml/2006/main">
            <a:off x="4333875" y="22098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025" b="0" i="0">
                <a:solidFill>
                  <a:srgbClr val="F1E8DA"/>
                </a:solidFill>
              </a:defRPr>
            </a:pPr>
            <a:r>
              <a:rPr sz="2025" b="0" i="0">
                <a:solidFill>
                  <a:srgbClr val="F1E8DA"/>
                </a:solidFill>
              </a:rPr>
              <a:t>Traceable prompts</a:t>
            </a:r>
          </a:p>
          <a:p xmlns:a="http://schemas.openxmlformats.org/drawingml/2006/main">
            <a:pPr algn="l">
              <a:lnSpc>
                <a:spcPct val="108000"/>
              </a:lnSpc>
              <a:buNone/>
              <a:defRPr sz="2025" b="0" i="0">
                <a:solidFill>
                  <a:srgbClr val="F1E8DA"/>
                </a:solidFill>
              </a:defRPr>
            </a:pPr>
            <a:r>
              <a:rPr sz="2025" b="0" i="0">
                <a:solidFill>
                  <a:srgbClr val="F1E8DA"/>
                </a:solidFill>
              </a:rPr>
              <a:t>No payment decisions</a:t>
            </a:r>
          </a:p>
          <a:p xmlns:a="http://schemas.openxmlformats.org/drawingml/2006/main">
            <a:pPr algn="l">
              <a:lnSpc>
                <a:spcPct val="108000"/>
              </a:lnSpc>
              <a:buNone/>
              <a:defRPr sz="2025" b="0" i="0">
                <a:solidFill>
                  <a:srgbClr val="F1E8DA"/>
                </a:solidFill>
              </a:defRPr>
            </a:pPr>
            <a:r>
              <a:rPr sz="2025" b="0" i="0">
                <a:solidFill>
                  <a:srgbClr val="F1E8DA"/>
                </a:solidFill>
              </a:rPr>
              <a:t>Safe failure states</a:t>
            </a:r>
          </a:p>
        </p:txBody>
      </p:sp>
      <p:sp>
        <p:nvSpPr>
          <p:cNvPr id="12" name="">
            <a:extLst xmlns:a="http://schemas.openxmlformats.org/drawingml/2006/main">
              <a:ext uri="{FF2B5EF4-FFF2-40B4-BE49-F238E27FC236}">
                <a16:creationId xmlns:a16="http://schemas.microsoft.com/office/drawing/2014/main" id="{B91D3F07-DBD4-4460-A3B3-A8AFF94D2722}"/>
              </a:ext>
            </a:extLst>
          </p:cNvPr>
          <p:cNvSpPr>
            <a:spLocks xmlns:a="http://schemas.openxmlformats.org/drawingml/2006/main" noGrp="1"/>
          </p:cNvSpPr>
          <p:nvPr/>
        </p:nvSpPr>
        <p:spPr>
          <a:xfrm xmlns:a="http://schemas.openxmlformats.org/drawingml/2006/main">
            <a:off x="8096250" y="1809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75" b="1" i="0">
                <a:solidFill>
                  <a:srgbClr val="D7BB86"/>
                </a:solidFill>
              </a:defRPr>
            </a:pPr>
            <a:r>
              <a:rPr sz="975" b="1" i="0">
                <a:solidFill>
                  <a:srgbClr val="D7BB86"/>
                </a:solidFill>
              </a:rPr>
              <a:t>AFTER AI</a:t>
            </a:r>
          </a:p>
        </p:txBody>
      </p:sp>
      <p:sp>
        <p:nvSpPr>
          <p:cNvPr id="13" name="">
            <a:extLst xmlns:a="http://schemas.openxmlformats.org/drawingml/2006/main">
              <a:ext uri="{FF2B5EF4-FFF2-40B4-BE49-F238E27FC236}">
                <a16:creationId xmlns:a16="http://schemas.microsoft.com/office/drawing/2014/main" id="{79B71638-7E0A-4344-91A1-9BDEC0DC28CA}"/>
              </a:ext>
            </a:extLst>
          </p:cNvPr>
          <p:cNvSpPr>
            <a:spLocks xmlns:a="http://schemas.openxmlformats.org/drawingml/2006/main" noGrp="1"/>
          </p:cNvSpPr>
          <p:nvPr/>
        </p:nvSpPr>
        <p:spPr>
          <a:xfrm xmlns:a="http://schemas.openxmlformats.org/drawingml/2006/main">
            <a:off x="8096250" y="2209800"/>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025" b="0" i="0">
                <a:solidFill>
                  <a:srgbClr val="F1E8DA"/>
                </a:solidFill>
              </a:defRPr>
            </a:pPr>
            <a:r>
              <a:rPr sz="2025" b="0" i="0">
                <a:solidFill>
                  <a:srgbClr val="F1E8DA"/>
                </a:solidFill>
              </a:rPr>
              <a:t>Photographer reviews</a:t>
            </a:r>
          </a:p>
          <a:p xmlns:a="http://schemas.openxmlformats.org/drawingml/2006/main">
            <a:pPr algn="l">
              <a:lnSpc>
                <a:spcPct val="108000"/>
              </a:lnSpc>
              <a:buNone/>
              <a:defRPr sz="2025" b="0" i="0">
                <a:solidFill>
                  <a:srgbClr val="F1E8DA"/>
                </a:solidFill>
              </a:defRPr>
            </a:pPr>
            <a:r>
              <a:rPr sz="2025" b="0" i="0">
                <a:solidFill>
                  <a:srgbClr val="F1E8DA"/>
                </a:solidFill>
              </a:rPr>
              <a:t>Client can correct details</a:t>
            </a:r>
          </a:p>
          <a:p xmlns:a="http://schemas.openxmlformats.org/drawingml/2006/main">
            <a:pPr algn="l">
              <a:lnSpc>
                <a:spcPct val="108000"/>
              </a:lnSpc>
              <a:buNone/>
              <a:defRPr sz="2025" b="0" i="0">
                <a:solidFill>
                  <a:srgbClr val="F1E8DA"/>
                </a:solidFill>
              </a:defRPr>
            </a:pPr>
            <a:r>
              <a:rPr sz="2025" b="0" i="0">
                <a:solidFill>
                  <a:srgbClr val="F1E8DA"/>
                </a:solidFill>
              </a:rPr>
              <a:t>Outputs remain editable</a:t>
            </a:r>
          </a:p>
        </p:txBody>
      </p:sp>
      <p:sp>
        <p:nvSpPr>
          <p:cNvPr id="14" name="">
            <a:extLst xmlns:a="http://schemas.openxmlformats.org/drawingml/2006/main">
              <a:ext uri="{FF2B5EF4-FFF2-40B4-BE49-F238E27FC236}">
                <a16:creationId xmlns:a16="http://schemas.microsoft.com/office/drawing/2014/main" id="{D92B011C-D280-41D1-85A0-1E9032961037}"/>
              </a:ext>
            </a:extLst>
          </p:cNvPr>
          <p:cNvSpPr>
            <a:spLocks xmlns:a="http://schemas.openxmlformats.org/drawingml/2006/main" noGrp="1"/>
          </p:cNvSpPr>
          <p:nvPr/>
        </p:nvSpPr>
        <p:spPr>
          <a:xfrm xmlns:a="http://schemas.openxmlformats.org/drawingml/2006/main">
            <a:off x="552450" y="48101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8000"/>
              </a:lnSpc>
              <a:buNone/>
              <a:defRPr sz="2250" b="0" i="1">
                <a:solidFill>
                  <a:srgbClr val="BDB5AA"/>
                </a:solidFill>
              </a:defRPr>
            </a:pPr>
            <a:r>
              <a:rPr sz="2250" b="0" i="1">
                <a:solidFill>
                  <a:srgbClr val="BDB5AA"/>
                </a:solidFill>
              </a:rPr>
              <a:t>AI proposes direction. People approve the work.</a:t>
            </a:r>
          </a:p>
        </p:txBody>
      </p:sp>
    </p:spTree>
    <p:extLst>
      <p:ext uri="{BB962C8B-B14F-4D97-AF65-F5344CB8AC3E}">
        <p14:creationId xmlns:p14="http://schemas.microsoft.com/office/powerpoint/2010/main" val="1090277302"/>
      </p:ext>
    </p:extLst>
  </p:cSld>
</p:sld>
</file>

<file path=ppt/slides/slide20.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01505E1-E943-4753-94DE-FDB35CFB8B8A}"/>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9A81EE78-20DB-4D81-98E4-F8D9B38DFCB4}"/>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PLAN</a:t>
            </a:r>
          </a:p>
        </p:txBody>
      </p:sp>
      <p:sp>
        <p:nvSpPr>
          <p:cNvPr id="3" name="">
            <a:extLst xmlns:a="http://schemas.openxmlformats.org/drawingml/2006/main">
              <a:ext uri="{FF2B5EF4-FFF2-40B4-BE49-F238E27FC236}">
                <a16:creationId xmlns:a16="http://schemas.microsoft.com/office/drawing/2014/main" id="{81559E28-36B2-4CA4-8BA5-FAEF45BA0F37}"/>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04BFAB1B-2FAF-4FB3-8CC2-77C595365F88}"/>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A focused build can reach a credible Round 2 MVP</a:t>
            </a:r>
          </a:p>
        </p:txBody>
      </p:sp>
      <p:sp>
        <p:nvSpPr>
          <p:cNvPr id="5" name="">
            <a:extLst xmlns:a="http://schemas.openxmlformats.org/drawingml/2006/main">
              <a:ext uri="{FF2B5EF4-FFF2-40B4-BE49-F238E27FC236}">
                <a16:creationId xmlns:a16="http://schemas.microsoft.com/office/drawing/2014/main" id="{00E6016F-FC72-464A-B1F7-CDAD82620870}"/>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ESTIMATE</a:t>
            </a:r>
          </a:p>
        </p:txBody>
      </p:sp>
      <p:sp>
        <p:nvSpPr>
          <p:cNvPr id="6" name="">
            <a:extLst xmlns:a="http://schemas.openxmlformats.org/drawingml/2006/main">
              <a:ext uri="{FF2B5EF4-FFF2-40B4-BE49-F238E27FC236}">
                <a16:creationId xmlns:a16="http://schemas.microsoft.com/office/drawing/2014/main" id="{2C61174F-6276-494F-B9A4-94B1AF5DD0A6}"/>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B4DB0629-7644-41EC-AB08-A1F18EF88B0D}"/>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GitHub · Manus · n8n · LangSmith</a:t>
            </a:r>
          </a:p>
        </p:txBody>
      </p:sp>
      <p:sp>
        <p:nvSpPr>
          <p:cNvPr id="8" name="">
            <a:extLst xmlns:a="http://schemas.openxmlformats.org/drawingml/2006/main">
              <a:ext uri="{FF2B5EF4-FFF2-40B4-BE49-F238E27FC236}">
                <a16:creationId xmlns:a16="http://schemas.microsoft.com/office/drawing/2014/main" id="{46CC1626-753E-4523-8B7E-26DD2BD56CD6}"/>
              </a:ext>
            </a:extLst>
          </p:cNvPr>
          <p:cNvSpPr>
            <a:spLocks xmlns:a="http://schemas.openxmlformats.org/drawingml/2006/main" noGrp="1"/>
          </p:cNvSpPr>
          <p:nvPr/>
        </p:nvSpPr>
        <p:spPr>
          <a:xfrm xmlns:a="http://schemas.openxmlformats.org/drawingml/2006/main">
            <a:off x="571500" y="166687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1</a:t>
            </a:r>
          </a:p>
        </p:txBody>
      </p:sp>
      <p:sp>
        <p:nvSpPr>
          <p:cNvPr id="9" name="">
            <a:extLst xmlns:a="http://schemas.openxmlformats.org/drawingml/2006/main">
              <a:ext uri="{FF2B5EF4-FFF2-40B4-BE49-F238E27FC236}">
                <a16:creationId xmlns:a16="http://schemas.microsoft.com/office/drawing/2014/main" id="{E3496603-2B05-4956-9EA1-3DAC431A4CC7}"/>
              </a:ext>
            </a:extLst>
          </p:cNvPr>
          <p:cNvSpPr>
            <a:spLocks xmlns:a="http://schemas.openxmlformats.org/drawingml/2006/main" noGrp="1"/>
          </p:cNvSpPr>
          <p:nvPr/>
        </p:nvSpPr>
        <p:spPr>
          <a:xfrm xmlns:a="http://schemas.openxmlformats.org/drawingml/2006/main">
            <a:off x="1000125" y="16478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1" i="0">
                <a:solidFill>
                  <a:srgbClr val="F1E8DA"/>
                </a:solidFill>
              </a:defRPr>
            </a:pPr>
            <a:r>
              <a:rPr sz="1425" b="1" i="0">
                <a:solidFill>
                  <a:srgbClr val="F1E8DA"/>
                </a:solidFill>
              </a:rPr>
              <a:t>Stabilise</a:t>
            </a:r>
          </a:p>
        </p:txBody>
      </p:sp>
      <p:sp>
        <p:nvSpPr>
          <p:cNvPr id="10" name="">
            <a:extLst xmlns:a="http://schemas.openxmlformats.org/drawingml/2006/main">
              <a:ext uri="{FF2B5EF4-FFF2-40B4-BE49-F238E27FC236}">
                <a16:creationId xmlns:a16="http://schemas.microsoft.com/office/drawing/2014/main" id="{F9AB0BA6-8DFB-4211-95C3-7A992ECA502A}"/>
              </a:ext>
            </a:extLst>
          </p:cNvPr>
          <p:cNvSpPr>
            <a:spLocks xmlns:a="http://schemas.openxmlformats.org/drawingml/2006/main" noGrp="1"/>
          </p:cNvSpPr>
          <p:nvPr/>
        </p:nvSpPr>
        <p:spPr>
          <a:xfrm xmlns:a="http://schemas.openxmlformats.org/drawingml/2006/main">
            <a:off x="2714625" y="1647825"/>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0" i="0">
                <a:solidFill>
                  <a:srgbClr val="F1E8DA"/>
                </a:solidFill>
              </a:defRPr>
            </a:pPr>
            <a:r>
              <a:rPr sz="1350" b="0" i="0">
                <a:solidFill>
                  <a:srgbClr val="F1E8DA"/>
                </a:solidFill>
              </a:rPr>
              <a:t>Demo access + dashboard route</a:t>
            </a:r>
          </a:p>
        </p:txBody>
      </p:sp>
      <p:sp>
        <p:nvSpPr>
          <p:cNvPr id="11" name="">
            <a:extLst xmlns:a="http://schemas.openxmlformats.org/drawingml/2006/main">
              <a:ext uri="{FF2B5EF4-FFF2-40B4-BE49-F238E27FC236}">
                <a16:creationId xmlns:a16="http://schemas.microsoft.com/office/drawing/2014/main" id="{02783F50-DD14-490E-8372-ED00625B85BF}"/>
              </a:ext>
            </a:extLst>
          </p:cNvPr>
          <p:cNvSpPr>
            <a:spLocks xmlns:a="http://schemas.openxmlformats.org/drawingml/2006/main" noGrp="1"/>
          </p:cNvSpPr>
          <p:nvPr/>
        </p:nvSpPr>
        <p:spPr>
          <a:xfrm xmlns:a="http://schemas.openxmlformats.org/drawingml/2006/main">
            <a:off x="9906000" y="16478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1200" b="1" i="0">
                <a:solidFill>
                  <a:srgbClr val="BDB5AA"/>
                </a:solidFill>
              </a:defRPr>
            </a:pPr>
            <a:r>
              <a:rPr sz="1200" b="1" i="0">
                <a:solidFill>
                  <a:srgbClr val="BDB5AA"/>
                </a:solidFill>
              </a:rPr>
              <a:t>1–2 days</a:t>
            </a:r>
          </a:p>
        </p:txBody>
      </p:sp>
      <p:sp>
        <p:nvSpPr>
          <p:cNvPr id="12" name="">
            <a:extLst xmlns:a="http://schemas.openxmlformats.org/drawingml/2006/main">
              <a:ext uri="{FF2B5EF4-FFF2-40B4-BE49-F238E27FC236}">
                <a16:creationId xmlns:a16="http://schemas.microsoft.com/office/drawing/2014/main" id="{C22A07B1-7A5C-4AAC-93B4-3BBB32BF81CF}"/>
              </a:ext>
            </a:extLst>
          </p:cNvPr>
          <p:cNvSpPr>
            <a:spLocks xmlns:a="http://schemas.openxmlformats.org/drawingml/2006/main" noGrp="1"/>
          </p:cNvSpPr>
          <p:nvPr/>
        </p:nvSpPr>
        <p:spPr>
          <a:xfrm xmlns:a="http://schemas.openxmlformats.org/drawingml/2006/main">
            <a:off x="571500" y="2162175"/>
            <a:ext cx="1076325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3" name="">
            <a:extLst xmlns:a="http://schemas.openxmlformats.org/drawingml/2006/main">
              <a:ext uri="{FF2B5EF4-FFF2-40B4-BE49-F238E27FC236}">
                <a16:creationId xmlns:a16="http://schemas.microsoft.com/office/drawing/2014/main" id="{F59A1BAD-863A-4153-AE27-F040CD27F408}"/>
              </a:ext>
            </a:extLst>
          </p:cNvPr>
          <p:cNvSpPr>
            <a:spLocks xmlns:a="http://schemas.openxmlformats.org/drawingml/2006/main" noGrp="1"/>
          </p:cNvSpPr>
          <p:nvPr/>
        </p:nvSpPr>
        <p:spPr>
          <a:xfrm xmlns:a="http://schemas.openxmlformats.org/drawingml/2006/main">
            <a:off x="571500" y="248602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2</a:t>
            </a:r>
          </a:p>
        </p:txBody>
      </p:sp>
      <p:sp>
        <p:nvSpPr>
          <p:cNvPr id="14" name="">
            <a:extLst xmlns:a="http://schemas.openxmlformats.org/drawingml/2006/main">
              <a:ext uri="{FF2B5EF4-FFF2-40B4-BE49-F238E27FC236}">
                <a16:creationId xmlns:a16="http://schemas.microsoft.com/office/drawing/2014/main" id="{AFD41380-3E78-4933-BD7F-040C46C72DD5}"/>
              </a:ext>
            </a:extLst>
          </p:cNvPr>
          <p:cNvSpPr>
            <a:spLocks xmlns:a="http://schemas.openxmlformats.org/drawingml/2006/main" noGrp="1"/>
          </p:cNvSpPr>
          <p:nvPr/>
        </p:nvSpPr>
        <p:spPr>
          <a:xfrm xmlns:a="http://schemas.openxmlformats.org/drawingml/2006/main">
            <a:off x="1000125" y="24669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1" i="0">
                <a:solidFill>
                  <a:srgbClr val="F1E8DA"/>
                </a:solidFill>
              </a:defRPr>
            </a:pPr>
            <a:r>
              <a:rPr sz="1425" b="1" i="0">
                <a:solidFill>
                  <a:srgbClr val="F1E8DA"/>
                </a:solidFill>
              </a:rPr>
              <a:t>Connect</a:t>
            </a:r>
          </a:p>
        </p:txBody>
      </p:sp>
      <p:sp>
        <p:nvSpPr>
          <p:cNvPr id="15" name="">
            <a:extLst xmlns:a="http://schemas.openxmlformats.org/drawingml/2006/main">
              <a:ext uri="{FF2B5EF4-FFF2-40B4-BE49-F238E27FC236}">
                <a16:creationId xmlns:a16="http://schemas.microsoft.com/office/drawing/2014/main" id="{CA13A63B-0F30-430B-89A7-64F8FCF94622}"/>
              </a:ext>
            </a:extLst>
          </p:cNvPr>
          <p:cNvSpPr>
            <a:spLocks xmlns:a="http://schemas.openxmlformats.org/drawingml/2006/main" noGrp="1"/>
          </p:cNvSpPr>
          <p:nvPr/>
        </p:nvSpPr>
        <p:spPr>
          <a:xfrm xmlns:a="http://schemas.openxmlformats.org/drawingml/2006/main">
            <a:off x="2714625" y="2466975"/>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0" i="0">
                <a:solidFill>
                  <a:srgbClr val="F1E8DA"/>
                </a:solidFill>
              </a:defRPr>
            </a:pPr>
            <a:r>
              <a:rPr sz="1350" b="0" i="0">
                <a:solidFill>
                  <a:srgbClr val="F1E8DA"/>
                </a:solidFill>
              </a:rPr>
              <a:t>Shoot form + invitations + client room</a:t>
            </a:r>
          </a:p>
        </p:txBody>
      </p:sp>
      <p:sp>
        <p:nvSpPr>
          <p:cNvPr id="16" name="">
            <a:extLst xmlns:a="http://schemas.openxmlformats.org/drawingml/2006/main">
              <a:ext uri="{FF2B5EF4-FFF2-40B4-BE49-F238E27FC236}">
                <a16:creationId xmlns:a16="http://schemas.microsoft.com/office/drawing/2014/main" id="{FB6F787C-442A-4286-9A7A-6CC3DE2FF331}"/>
              </a:ext>
            </a:extLst>
          </p:cNvPr>
          <p:cNvSpPr>
            <a:spLocks xmlns:a="http://schemas.openxmlformats.org/drawingml/2006/main" noGrp="1"/>
          </p:cNvSpPr>
          <p:nvPr/>
        </p:nvSpPr>
        <p:spPr>
          <a:xfrm xmlns:a="http://schemas.openxmlformats.org/drawingml/2006/main">
            <a:off x="9906000" y="24669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1200" b="1" i="0">
                <a:solidFill>
                  <a:srgbClr val="BDB5AA"/>
                </a:solidFill>
              </a:defRPr>
            </a:pPr>
            <a:r>
              <a:rPr sz="1200" b="1" i="0">
                <a:solidFill>
                  <a:srgbClr val="BDB5AA"/>
                </a:solidFill>
              </a:rPr>
              <a:t>2–4 days</a:t>
            </a:r>
          </a:p>
        </p:txBody>
      </p:sp>
      <p:sp>
        <p:nvSpPr>
          <p:cNvPr id="17" name="">
            <a:extLst xmlns:a="http://schemas.openxmlformats.org/drawingml/2006/main">
              <a:ext uri="{FF2B5EF4-FFF2-40B4-BE49-F238E27FC236}">
                <a16:creationId xmlns:a16="http://schemas.microsoft.com/office/drawing/2014/main" id="{CE079D93-AEE6-41BE-A924-54EA1946AA0C}"/>
              </a:ext>
            </a:extLst>
          </p:cNvPr>
          <p:cNvSpPr>
            <a:spLocks xmlns:a="http://schemas.openxmlformats.org/drawingml/2006/main" noGrp="1"/>
          </p:cNvSpPr>
          <p:nvPr/>
        </p:nvSpPr>
        <p:spPr>
          <a:xfrm xmlns:a="http://schemas.openxmlformats.org/drawingml/2006/main">
            <a:off x="571500" y="2981325"/>
            <a:ext cx="1076325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18" name="">
            <a:extLst xmlns:a="http://schemas.openxmlformats.org/drawingml/2006/main">
              <a:ext uri="{FF2B5EF4-FFF2-40B4-BE49-F238E27FC236}">
                <a16:creationId xmlns:a16="http://schemas.microsoft.com/office/drawing/2014/main" id="{8F2CE0D9-9AD2-4F9C-8092-A89E100079BA}"/>
              </a:ext>
            </a:extLst>
          </p:cNvPr>
          <p:cNvSpPr>
            <a:spLocks xmlns:a="http://schemas.openxmlformats.org/drawingml/2006/main" noGrp="1"/>
          </p:cNvSpPr>
          <p:nvPr/>
        </p:nvSpPr>
        <p:spPr>
          <a:xfrm xmlns:a="http://schemas.openxmlformats.org/drawingml/2006/main">
            <a:off x="571500" y="330517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3</a:t>
            </a:r>
          </a:p>
        </p:txBody>
      </p:sp>
      <p:sp>
        <p:nvSpPr>
          <p:cNvPr id="19" name="">
            <a:extLst xmlns:a="http://schemas.openxmlformats.org/drawingml/2006/main">
              <a:ext uri="{FF2B5EF4-FFF2-40B4-BE49-F238E27FC236}">
                <a16:creationId xmlns:a16="http://schemas.microsoft.com/office/drawing/2014/main" id="{AF0349B2-1C5F-480F-98FF-10A8E95BD58E}"/>
              </a:ext>
            </a:extLst>
          </p:cNvPr>
          <p:cNvSpPr>
            <a:spLocks xmlns:a="http://schemas.openxmlformats.org/drawingml/2006/main" noGrp="1"/>
          </p:cNvSpPr>
          <p:nvPr/>
        </p:nvSpPr>
        <p:spPr>
          <a:xfrm xmlns:a="http://schemas.openxmlformats.org/drawingml/2006/main">
            <a:off x="1000125" y="32861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1" i="0">
                <a:solidFill>
                  <a:srgbClr val="F1E8DA"/>
                </a:solidFill>
              </a:defRPr>
            </a:pPr>
            <a:r>
              <a:rPr sz="1425" b="1" i="0">
                <a:solidFill>
                  <a:srgbClr val="F1E8DA"/>
                </a:solidFill>
              </a:rPr>
              <a:t>Add AI</a:t>
            </a:r>
          </a:p>
        </p:txBody>
      </p:sp>
      <p:sp>
        <p:nvSpPr>
          <p:cNvPr id="20" name="">
            <a:extLst xmlns:a="http://schemas.openxmlformats.org/drawingml/2006/main">
              <a:ext uri="{FF2B5EF4-FFF2-40B4-BE49-F238E27FC236}">
                <a16:creationId xmlns:a16="http://schemas.microsoft.com/office/drawing/2014/main" id="{014FA5D4-A95D-4F3C-890B-E91045405358}"/>
              </a:ext>
            </a:extLst>
          </p:cNvPr>
          <p:cNvSpPr>
            <a:spLocks xmlns:a="http://schemas.openxmlformats.org/drawingml/2006/main" noGrp="1"/>
          </p:cNvSpPr>
          <p:nvPr/>
        </p:nvSpPr>
        <p:spPr>
          <a:xfrm xmlns:a="http://schemas.openxmlformats.org/drawingml/2006/main">
            <a:off x="2714625" y="3286125"/>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0" i="0">
                <a:solidFill>
                  <a:srgbClr val="F1E8DA"/>
                </a:solidFill>
              </a:defRPr>
            </a:pPr>
            <a:r>
              <a:rPr sz="1350" b="0" i="0">
                <a:solidFill>
                  <a:srgbClr val="F1E8DA"/>
                </a:solidFill>
              </a:rPr>
              <a:t>Conversation + structured synthesis</a:t>
            </a:r>
          </a:p>
        </p:txBody>
      </p:sp>
      <p:sp>
        <p:nvSpPr>
          <p:cNvPr id="21" name="">
            <a:extLst xmlns:a="http://schemas.openxmlformats.org/drawingml/2006/main">
              <a:ext uri="{FF2B5EF4-FFF2-40B4-BE49-F238E27FC236}">
                <a16:creationId xmlns:a16="http://schemas.microsoft.com/office/drawing/2014/main" id="{C31E2029-779E-4E69-9B03-B814FB60BB26}"/>
              </a:ext>
            </a:extLst>
          </p:cNvPr>
          <p:cNvSpPr>
            <a:spLocks xmlns:a="http://schemas.openxmlformats.org/drawingml/2006/main" noGrp="1"/>
          </p:cNvSpPr>
          <p:nvPr/>
        </p:nvSpPr>
        <p:spPr>
          <a:xfrm xmlns:a="http://schemas.openxmlformats.org/drawingml/2006/main">
            <a:off x="9906000" y="32861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1200" b="1" i="0">
                <a:solidFill>
                  <a:srgbClr val="BDB5AA"/>
                </a:solidFill>
              </a:defRPr>
            </a:pPr>
            <a:r>
              <a:rPr sz="1200" b="1" i="0">
                <a:solidFill>
                  <a:srgbClr val="BDB5AA"/>
                </a:solidFill>
              </a:rPr>
              <a:t>3–5 days</a:t>
            </a:r>
          </a:p>
        </p:txBody>
      </p:sp>
      <p:sp>
        <p:nvSpPr>
          <p:cNvPr id="22" name="">
            <a:extLst xmlns:a="http://schemas.openxmlformats.org/drawingml/2006/main">
              <a:ext uri="{FF2B5EF4-FFF2-40B4-BE49-F238E27FC236}">
                <a16:creationId xmlns:a16="http://schemas.microsoft.com/office/drawing/2014/main" id="{43E777E2-FD55-496F-85BF-37E4CCE0AAFC}"/>
              </a:ext>
            </a:extLst>
          </p:cNvPr>
          <p:cNvSpPr>
            <a:spLocks xmlns:a="http://schemas.openxmlformats.org/drawingml/2006/main" noGrp="1"/>
          </p:cNvSpPr>
          <p:nvPr/>
        </p:nvSpPr>
        <p:spPr>
          <a:xfrm xmlns:a="http://schemas.openxmlformats.org/drawingml/2006/main">
            <a:off x="571500" y="3800475"/>
            <a:ext cx="1076325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3" name="">
            <a:extLst xmlns:a="http://schemas.openxmlformats.org/drawingml/2006/main">
              <a:ext uri="{FF2B5EF4-FFF2-40B4-BE49-F238E27FC236}">
                <a16:creationId xmlns:a16="http://schemas.microsoft.com/office/drawing/2014/main" id="{3366CC3C-DE68-465A-A95E-90C3DFC2B49B}"/>
              </a:ext>
            </a:extLst>
          </p:cNvPr>
          <p:cNvSpPr>
            <a:spLocks xmlns:a="http://schemas.openxmlformats.org/drawingml/2006/main" noGrp="1"/>
          </p:cNvSpPr>
          <p:nvPr/>
        </p:nvSpPr>
        <p:spPr>
          <a:xfrm xmlns:a="http://schemas.openxmlformats.org/drawingml/2006/main">
            <a:off x="571500" y="412432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4</a:t>
            </a:r>
          </a:p>
        </p:txBody>
      </p:sp>
      <p:sp>
        <p:nvSpPr>
          <p:cNvPr id="24" name="">
            <a:extLst xmlns:a="http://schemas.openxmlformats.org/drawingml/2006/main">
              <a:ext uri="{FF2B5EF4-FFF2-40B4-BE49-F238E27FC236}">
                <a16:creationId xmlns:a16="http://schemas.microsoft.com/office/drawing/2014/main" id="{179EC03E-E222-40D1-BF0A-F72449D930D4}"/>
              </a:ext>
            </a:extLst>
          </p:cNvPr>
          <p:cNvSpPr>
            <a:spLocks xmlns:a="http://schemas.openxmlformats.org/drawingml/2006/main" noGrp="1"/>
          </p:cNvSpPr>
          <p:nvPr/>
        </p:nvSpPr>
        <p:spPr>
          <a:xfrm xmlns:a="http://schemas.openxmlformats.org/drawingml/2006/main">
            <a:off x="1000125" y="41052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1" i="0">
                <a:solidFill>
                  <a:srgbClr val="F1E8DA"/>
                </a:solidFill>
              </a:defRPr>
            </a:pPr>
            <a:r>
              <a:rPr sz="1425" b="1" i="0">
                <a:solidFill>
                  <a:srgbClr val="F1E8DA"/>
                </a:solidFill>
              </a:rPr>
              <a:t>Generate</a:t>
            </a:r>
          </a:p>
        </p:txBody>
      </p:sp>
      <p:sp>
        <p:nvSpPr>
          <p:cNvPr id="25" name="">
            <a:extLst xmlns:a="http://schemas.openxmlformats.org/drawingml/2006/main">
              <a:ext uri="{FF2B5EF4-FFF2-40B4-BE49-F238E27FC236}">
                <a16:creationId xmlns:a16="http://schemas.microsoft.com/office/drawing/2014/main" id="{6C9C8D51-993E-4C3E-85C9-1691BF828E7B}"/>
              </a:ext>
            </a:extLst>
          </p:cNvPr>
          <p:cNvSpPr>
            <a:spLocks xmlns:a="http://schemas.openxmlformats.org/drawingml/2006/main" noGrp="1"/>
          </p:cNvSpPr>
          <p:nvPr/>
        </p:nvSpPr>
        <p:spPr>
          <a:xfrm xmlns:a="http://schemas.openxmlformats.org/drawingml/2006/main">
            <a:off x="2714625" y="4105275"/>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0" i="0">
                <a:solidFill>
                  <a:srgbClr val="F1E8DA"/>
                </a:solidFill>
              </a:defRPr>
            </a:pPr>
            <a:r>
              <a:rPr sz="1350" b="0" i="0">
                <a:solidFill>
                  <a:srgbClr val="F1E8DA"/>
                </a:solidFill>
              </a:rPr>
              <a:t>n8n + five-image moodboard</a:t>
            </a:r>
          </a:p>
        </p:txBody>
      </p:sp>
      <p:sp>
        <p:nvSpPr>
          <p:cNvPr id="26" name="">
            <a:extLst xmlns:a="http://schemas.openxmlformats.org/drawingml/2006/main">
              <a:ext uri="{FF2B5EF4-FFF2-40B4-BE49-F238E27FC236}">
                <a16:creationId xmlns:a16="http://schemas.microsoft.com/office/drawing/2014/main" id="{F963FFEA-A3EB-44FA-B5CB-68BAC089A5A8}"/>
              </a:ext>
            </a:extLst>
          </p:cNvPr>
          <p:cNvSpPr>
            <a:spLocks xmlns:a="http://schemas.openxmlformats.org/drawingml/2006/main" noGrp="1"/>
          </p:cNvSpPr>
          <p:nvPr/>
        </p:nvSpPr>
        <p:spPr>
          <a:xfrm xmlns:a="http://schemas.openxmlformats.org/drawingml/2006/main">
            <a:off x="9906000" y="41052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1200" b="1" i="0">
                <a:solidFill>
                  <a:srgbClr val="BDB5AA"/>
                </a:solidFill>
              </a:defRPr>
            </a:pPr>
            <a:r>
              <a:rPr sz="1200" b="1" i="0">
                <a:solidFill>
                  <a:srgbClr val="BDB5AA"/>
                </a:solidFill>
              </a:rPr>
              <a:t>2–4 days</a:t>
            </a:r>
          </a:p>
        </p:txBody>
      </p:sp>
      <p:sp>
        <p:nvSpPr>
          <p:cNvPr id="27" name="">
            <a:extLst xmlns:a="http://schemas.openxmlformats.org/drawingml/2006/main">
              <a:ext uri="{FF2B5EF4-FFF2-40B4-BE49-F238E27FC236}">
                <a16:creationId xmlns:a16="http://schemas.microsoft.com/office/drawing/2014/main" id="{7B992FD2-B217-44EF-948C-BBF41F1944A4}"/>
              </a:ext>
            </a:extLst>
          </p:cNvPr>
          <p:cNvSpPr>
            <a:spLocks xmlns:a="http://schemas.openxmlformats.org/drawingml/2006/main" noGrp="1"/>
          </p:cNvSpPr>
          <p:nvPr/>
        </p:nvSpPr>
        <p:spPr>
          <a:xfrm xmlns:a="http://schemas.openxmlformats.org/drawingml/2006/main">
            <a:off x="571500" y="4619625"/>
            <a:ext cx="1076325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28" name="">
            <a:extLst xmlns:a="http://schemas.openxmlformats.org/drawingml/2006/main">
              <a:ext uri="{FF2B5EF4-FFF2-40B4-BE49-F238E27FC236}">
                <a16:creationId xmlns:a16="http://schemas.microsoft.com/office/drawing/2014/main" id="{040016B1-3A98-4A0C-8F4D-890519DB48DE}"/>
              </a:ext>
            </a:extLst>
          </p:cNvPr>
          <p:cNvSpPr>
            <a:spLocks xmlns:a="http://schemas.openxmlformats.org/drawingml/2006/main" noGrp="1"/>
          </p:cNvSpPr>
          <p:nvPr/>
        </p:nvSpPr>
        <p:spPr>
          <a:xfrm xmlns:a="http://schemas.openxmlformats.org/drawingml/2006/main">
            <a:off x="571500" y="494347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5</a:t>
            </a:r>
          </a:p>
        </p:txBody>
      </p:sp>
      <p:sp>
        <p:nvSpPr>
          <p:cNvPr id="29" name="">
            <a:extLst xmlns:a="http://schemas.openxmlformats.org/drawingml/2006/main">
              <a:ext uri="{FF2B5EF4-FFF2-40B4-BE49-F238E27FC236}">
                <a16:creationId xmlns:a16="http://schemas.microsoft.com/office/drawing/2014/main" id="{DCB896E8-FBBA-4943-BFE2-AA4E7D6752D3}"/>
              </a:ext>
            </a:extLst>
          </p:cNvPr>
          <p:cNvSpPr>
            <a:spLocks xmlns:a="http://schemas.openxmlformats.org/drawingml/2006/main" noGrp="1"/>
          </p:cNvSpPr>
          <p:nvPr/>
        </p:nvSpPr>
        <p:spPr>
          <a:xfrm xmlns:a="http://schemas.openxmlformats.org/drawingml/2006/main">
            <a:off x="1000125" y="49244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1" i="0">
                <a:solidFill>
                  <a:srgbClr val="F1E8DA"/>
                </a:solidFill>
              </a:defRPr>
            </a:pPr>
            <a:r>
              <a:rPr sz="1425" b="1" i="0">
                <a:solidFill>
                  <a:srgbClr val="F1E8DA"/>
                </a:solidFill>
              </a:rPr>
              <a:t>Evidence</a:t>
            </a:r>
          </a:p>
        </p:txBody>
      </p:sp>
      <p:sp>
        <p:nvSpPr>
          <p:cNvPr id="30" name="">
            <a:extLst xmlns:a="http://schemas.openxmlformats.org/drawingml/2006/main">
              <a:ext uri="{FF2B5EF4-FFF2-40B4-BE49-F238E27FC236}">
                <a16:creationId xmlns:a16="http://schemas.microsoft.com/office/drawing/2014/main" id="{0F03DD50-3B46-4D13-A75A-AC764B584486}"/>
              </a:ext>
            </a:extLst>
          </p:cNvPr>
          <p:cNvSpPr>
            <a:spLocks xmlns:a="http://schemas.openxmlformats.org/drawingml/2006/main" noGrp="1"/>
          </p:cNvSpPr>
          <p:nvPr/>
        </p:nvSpPr>
        <p:spPr>
          <a:xfrm xmlns:a="http://schemas.openxmlformats.org/drawingml/2006/main">
            <a:off x="2714625" y="4924425"/>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350" b="0" i="0">
                <a:solidFill>
                  <a:srgbClr val="F1E8DA"/>
                </a:solidFill>
              </a:defRPr>
            </a:pPr>
            <a:r>
              <a:rPr sz="1350" b="0" i="0">
                <a:solidFill>
                  <a:srgbClr val="F1E8DA"/>
                </a:solidFill>
              </a:rPr>
              <a:t>LangSmith, BI, docs and testing</a:t>
            </a:r>
          </a:p>
        </p:txBody>
      </p:sp>
      <p:sp>
        <p:nvSpPr>
          <p:cNvPr id="31" name="">
            <a:extLst xmlns:a="http://schemas.openxmlformats.org/drawingml/2006/main">
              <a:ext uri="{FF2B5EF4-FFF2-40B4-BE49-F238E27FC236}">
                <a16:creationId xmlns:a16="http://schemas.microsoft.com/office/drawing/2014/main" id="{AC8CACFC-AD4B-44FB-8249-F4E0DAA2E7A4}"/>
              </a:ext>
            </a:extLst>
          </p:cNvPr>
          <p:cNvSpPr>
            <a:spLocks xmlns:a="http://schemas.openxmlformats.org/drawingml/2006/main" noGrp="1"/>
          </p:cNvSpPr>
          <p:nvPr/>
        </p:nvSpPr>
        <p:spPr>
          <a:xfrm xmlns:a="http://schemas.openxmlformats.org/drawingml/2006/main">
            <a:off x="9906000" y="49244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1200" b="1" i="0">
                <a:solidFill>
                  <a:srgbClr val="BDB5AA"/>
                </a:solidFill>
              </a:defRPr>
            </a:pPr>
            <a:r>
              <a:rPr sz="1200" b="1" i="0">
                <a:solidFill>
                  <a:srgbClr val="BDB5AA"/>
                </a:solidFill>
              </a:rPr>
              <a:t>2–3 days</a:t>
            </a:r>
          </a:p>
        </p:txBody>
      </p:sp>
      <p:sp>
        <p:nvSpPr>
          <p:cNvPr id="32" name="">
            <a:extLst xmlns:a="http://schemas.openxmlformats.org/drawingml/2006/main">
              <a:ext uri="{FF2B5EF4-FFF2-40B4-BE49-F238E27FC236}">
                <a16:creationId xmlns:a16="http://schemas.microsoft.com/office/drawing/2014/main" id="{D2D46FDB-A7AD-4251-B34A-FC02D58A05A0}"/>
              </a:ext>
            </a:extLst>
          </p:cNvPr>
          <p:cNvSpPr>
            <a:spLocks xmlns:a="http://schemas.openxmlformats.org/drawingml/2006/main" noGrp="1"/>
          </p:cNvSpPr>
          <p:nvPr/>
        </p:nvSpPr>
        <p:spPr>
          <a:xfrm xmlns:a="http://schemas.openxmlformats.org/drawingml/2006/main">
            <a:off x="571500" y="5438775"/>
            <a:ext cx="1076325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Tree>
    <p:extLst>
      <p:ext uri="{BB962C8B-B14F-4D97-AF65-F5344CB8AC3E}">
        <p14:creationId xmlns:p14="http://schemas.microsoft.com/office/powerpoint/2010/main" val="1246183879"/>
      </p:ext>
    </p:extLst>
  </p:cSld>
</p:sld>
</file>

<file path=ppt/slides/slide21.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E7F488-3340-4C31-ABDA-D1FC92F4B089}"/>
              </a:ext>
            </a:extLst>
          </p:cNvPr>
          <p:cNvSpPr>
            <a:spLocks xmlns:a="http://schemas.openxmlformats.org/drawingml/2006/main" noGrp="1"/>
          </p:cNvSpPr>
          <p:nvPr/>
        </p:nvSpPr>
        <p:spPr>
          <a:xfrm xmlns:a="http://schemas.openxmlformats.org/drawingml/2006/main">
            <a:off x="552450" y="2667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425" b="0" i="0">
                <a:solidFill>
                  <a:srgbClr val="F1E8DA"/>
                </a:solidFill>
              </a:defRPr>
            </a:pPr>
            <a:r>
              <a:rPr sz="1425" b="0" i="0">
                <a:solidFill>
                  <a:srgbClr val="F1E8DA"/>
                </a:solidFill>
              </a:rPr>
              <a:t>MIRA</a:t>
            </a:r>
          </a:p>
        </p:txBody>
      </p:sp>
      <p:sp>
        <p:nvSpPr>
          <p:cNvPr id="2" name="">
            <a:extLst xmlns:a="http://schemas.openxmlformats.org/drawingml/2006/main">
              <a:ext uri="{FF2B5EF4-FFF2-40B4-BE49-F238E27FC236}">
                <a16:creationId xmlns:a16="http://schemas.microsoft.com/office/drawing/2014/main" id="{79747A67-07C6-4D42-910B-5635693FDEAC}"/>
              </a:ext>
            </a:extLst>
          </p:cNvPr>
          <p:cNvSpPr>
            <a:spLocks xmlns:a="http://schemas.openxmlformats.org/drawingml/2006/main" noGrp="1"/>
          </p:cNvSpPr>
          <p:nvPr/>
        </p:nvSpPr>
        <p:spPr>
          <a:xfrm xmlns:a="http://schemas.openxmlformats.org/drawingml/2006/main">
            <a:off x="8915400" y="314325"/>
            <a:ext cx="2714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825" b="1" i="0">
                <a:solidFill>
                  <a:srgbClr val="D7BB86"/>
                </a:solidFill>
              </a:defRPr>
            </a:pPr>
            <a:r>
              <a:rPr sz="825" b="1" i="0">
                <a:solidFill>
                  <a:srgbClr val="D7BB86"/>
                </a:solidFill>
              </a:rPr>
              <a:t>DECISION</a:t>
            </a:r>
          </a:p>
        </p:txBody>
      </p:sp>
      <p:sp>
        <p:nvSpPr>
          <p:cNvPr id="3" name="">
            <a:extLst xmlns:a="http://schemas.openxmlformats.org/drawingml/2006/main">
              <a:ext uri="{FF2B5EF4-FFF2-40B4-BE49-F238E27FC236}">
                <a16:creationId xmlns:a16="http://schemas.microsoft.com/office/drawing/2014/main" id="{5F64BBA5-17FC-439B-97D2-DFE4293A0522}"/>
              </a:ext>
            </a:extLst>
          </p:cNvPr>
          <p:cNvSpPr>
            <a:spLocks xmlns:a="http://schemas.openxmlformats.org/drawingml/2006/main" noGrp="1"/>
          </p:cNvSpPr>
          <p:nvPr/>
        </p:nvSpPr>
        <p:spPr>
          <a:xfrm xmlns:a="http://schemas.openxmlformats.org/drawingml/2006/main">
            <a:off x="552450" y="59055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4" name="">
            <a:extLst xmlns:a="http://schemas.openxmlformats.org/drawingml/2006/main">
              <a:ext uri="{FF2B5EF4-FFF2-40B4-BE49-F238E27FC236}">
                <a16:creationId xmlns:a16="http://schemas.microsoft.com/office/drawing/2014/main" id="{2EB11B93-41BA-457A-A72A-198375FD9AC0}"/>
              </a:ext>
            </a:extLst>
          </p:cNvPr>
          <p:cNvSpPr>
            <a:spLocks xmlns:a="http://schemas.openxmlformats.org/drawingml/2006/main" noGrp="1"/>
          </p:cNvSpPr>
          <p:nvPr/>
        </p:nvSpPr>
        <p:spPr>
          <a:xfrm xmlns:a="http://schemas.openxmlformats.org/drawingml/2006/main">
            <a:off x="552450" y="83820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3000" b="0" i="0">
                <a:solidFill>
                  <a:srgbClr val="F1E8DA"/>
                </a:solidFill>
              </a:defRPr>
            </a:pPr>
            <a:r>
              <a:rPr sz="3000" b="0" i="0">
                <a:solidFill>
                  <a:srgbClr val="F1E8DA"/>
                </a:solidFill>
              </a:rPr>
              <a:t>Round 1 proves the direction; Round 2 proves the journey</a:t>
            </a:r>
          </a:p>
        </p:txBody>
      </p:sp>
      <p:sp>
        <p:nvSpPr>
          <p:cNvPr id="5" name="">
            <a:extLst xmlns:a="http://schemas.openxmlformats.org/drawingml/2006/main">
              <a:ext uri="{FF2B5EF4-FFF2-40B4-BE49-F238E27FC236}">
                <a16:creationId xmlns:a16="http://schemas.microsoft.com/office/drawing/2014/main" id="{C2FE7E8F-2B4A-49BB-B094-2749FADD7246}"/>
              </a:ext>
            </a:extLst>
          </p:cNvPr>
          <p:cNvSpPr>
            <a:spLocks xmlns:a="http://schemas.openxmlformats.org/drawingml/2006/main" noGrp="1"/>
          </p:cNvSpPr>
          <p:nvPr/>
        </p:nvSpPr>
        <p:spPr>
          <a:xfrm xmlns:a="http://schemas.openxmlformats.org/drawingml/2006/main">
            <a:off x="10287000" y="9620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8000"/>
              </a:lnSpc>
              <a:buNone/>
              <a:defRPr sz="750" b="1" i="0">
                <a:solidFill>
                  <a:srgbClr val="BDB5AA"/>
                </a:solidFill>
              </a:defRPr>
            </a:pPr>
            <a:r>
              <a:rPr sz="750" b="1" i="0">
                <a:solidFill>
                  <a:srgbClr val="BDB5AA"/>
                </a:solidFill>
              </a:rPr>
              <a:t>KEEP</a:t>
            </a:r>
          </a:p>
        </p:txBody>
      </p:sp>
      <p:sp>
        <p:nvSpPr>
          <p:cNvPr id="6" name="">
            <a:extLst xmlns:a="http://schemas.openxmlformats.org/drawingml/2006/main">
              <a:ext uri="{FF2B5EF4-FFF2-40B4-BE49-F238E27FC236}">
                <a16:creationId xmlns:a16="http://schemas.microsoft.com/office/drawing/2014/main" id="{A3BD67A3-EBDA-47F4-B251-83CF129F7A11}"/>
              </a:ext>
            </a:extLst>
          </p:cNvPr>
          <p:cNvSpPr>
            <a:spLocks xmlns:a="http://schemas.openxmlformats.org/drawingml/2006/main" noGrp="1"/>
          </p:cNvSpPr>
          <p:nvPr/>
        </p:nvSpPr>
        <p:spPr>
          <a:xfrm xmlns:a="http://schemas.openxmlformats.org/drawingml/2006/main">
            <a:off x="552450" y="6324600"/>
            <a:ext cx="110871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7" name="">
            <a:extLst xmlns:a="http://schemas.openxmlformats.org/drawingml/2006/main">
              <a:ext uri="{FF2B5EF4-FFF2-40B4-BE49-F238E27FC236}">
                <a16:creationId xmlns:a16="http://schemas.microsoft.com/office/drawing/2014/main" id="{F3CD9756-4D1A-4FF6-B495-0C55ADDF3B47}"/>
              </a:ext>
            </a:extLst>
          </p:cNvPr>
          <p:cNvSpPr>
            <a:spLocks xmlns:a="http://schemas.openxmlformats.org/drawingml/2006/main" noGrp="1"/>
          </p:cNvSpPr>
          <p:nvPr/>
        </p:nvSpPr>
        <p:spPr>
          <a:xfrm xmlns:a="http://schemas.openxmlformats.org/drawingml/2006/main">
            <a:off x="552450" y="646747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750" b="1" i="0">
                <a:solidFill>
                  <a:srgbClr val="BDB5AA"/>
                </a:solidFill>
              </a:defRPr>
            </a:pPr>
            <a:r>
              <a:rPr sz="750" b="1" i="0">
                <a:solidFill>
                  <a:srgbClr val="BDB5AA"/>
                </a:solidFill>
              </a:rPr>
              <a:t>TOOLS USED · GitHub · Research · Prototype</a:t>
            </a:r>
          </a:p>
        </p:txBody>
      </p:sp>
      <p:sp>
        <p:nvSpPr>
          <p:cNvPr id="8" name="">
            <a:extLst xmlns:a="http://schemas.openxmlformats.org/drawingml/2006/main">
              <a:ext uri="{FF2B5EF4-FFF2-40B4-BE49-F238E27FC236}">
                <a16:creationId xmlns:a16="http://schemas.microsoft.com/office/drawing/2014/main" id="{38621DF1-C79D-4D2C-8EF7-1A98845DC378}"/>
              </a:ext>
            </a:extLst>
          </p:cNvPr>
          <p:cNvSpPr>
            <a:spLocks xmlns:a="http://schemas.openxmlformats.org/drawingml/2006/main" noGrp="1"/>
          </p:cNvSpPr>
          <p:nvPr/>
        </p:nvSpPr>
        <p:spPr>
          <a:xfrm xmlns:a="http://schemas.openxmlformats.org/drawingml/2006/main">
            <a:off x="552450" y="1952625"/>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4650" b="0" i="0">
                <a:solidFill>
                  <a:srgbClr val="D7BB86"/>
                </a:solidFill>
              </a:defRPr>
            </a:pPr>
            <a:r>
              <a:rPr sz="4650" b="0" i="0">
                <a:solidFill>
                  <a:srgbClr val="D7BB86"/>
                </a:solidFill>
              </a:rPr>
              <a:t>KEEP</a:t>
            </a:r>
          </a:p>
        </p:txBody>
      </p:sp>
      <p:sp>
        <p:nvSpPr>
          <p:cNvPr id="9" name="">
            <a:extLst xmlns:a="http://schemas.openxmlformats.org/drawingml/2006/main">
              <a:ext uri="{FF2B5EF4-FFF2-40B4-BE49-F238E27FC236}">
                <a16:creationId xmlns:a16="http://schemas.microsoft.com/office/drawing/2014/main" id="{6CD9D444-A075-460B-B746-448594B109AC}"/>
              </a:ext>
            </a:extLst>
          </p:cNvPr>
          <p:cNvSpPr>
            <a:spLocks xmlns:a="http://schemas.openxmlformats.org/drawingml/2006/main" noGrp="1"/>
          </p:cNvSpPr>
          <p:nvPr/>
        </p:nvSpPr>
        <p:spPr>
          <a:xfrm xmlns:a="http://schemas.openxmlformats.org/drawingml/2006/main">
            <a:off x="552450" y="2857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1" i="0">
                <a:solidFill>
                  <a:srgbClr val="BDB5AA"/>
                </a:solidFill>
              </a:defRPr>
            </a:pPr>
            <a:r>
              <a:rPr sz="1125" b="1" i="0">
                <a:solidFill>
                  <a:srgbClr val="BDB5AA"/>
                </a:solidFill>
              </a:rPr>
              <a:t>Industry and use case</a:t>
            </a:r>
          </a:p>
        </p:txBody>
      </p:sp>
      <p:sp>
        <p:nvSpPr>
          <p:cNvPr id="10" name="">
            <a:extLst xmlns:a="http://schemas.openxmlformats.org/drawingml/2006/main">
              <a:ext uri="{FF2B5EF4-FFF2-40B4-BE49-F238E27FC236}">
                <a16:creationId xmlns:a16="http://schemas.microsoft.com/office/drawing/2014/main" id="{DF1C0319-7948-4E11-9A07-D7EF02168382}"/>
              </a:ext>
            </a:extLst>
          </p:cNvPr>
          <p:cNvSpPr>
            <a:spLocks xmlns:a="http://schemas.openxmlformats.org/drawingml/2006/main" noGrp="1"/>
          </p:cNvSpPr>
          <p:nvPr/>
        </p:nvSpPr>
        <p:spPr>
          <a:xfrm xmlns:a="http://schemas.openxmlformats.org/drawingml/2006/main">
            <a:off x="552450" y="3286125"/>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2100" b="0" i="0">
                <a:solidFill>
                  <a:srgbClr val="F1E8DA"/>
                </a:solidFill>
              </a:defRPr>
            </a:pPr>
            <a:r>
              <a:rPr sz="2100" b="0" i="0">
                <a:solidFill>
                  <a:srgbClr val="F1E8DA"/>
                </a:solidFill>
              </a:rPr>
              <a:t>AI-assisted preparation for remote photographers</a:t>
            </a:r>
          </a:p>
        </p:txBody>
      </p:sp>
      <p:sp>
        <p:nvSpPr>
          <p:cNvPr id="11" name="">
            <a:extLst xmlns:a="http://schemas.openxmlformats.org/drawingml/2006/main">
              <a:ext uri="{FF2B5EF4-FFF2-40B4-BE49-F238E27FC236}">
                <a16:creationId xmlns:a16="http://schemas.microsoft.com/office/drawing/2014/main" id="{B8B176B7-DE56-4363-B6EE-588D1A1943D3}"/>
              </a:ext>
            </a:extLst>
          </p:cNvPr>
          <p:cNvSpPr>
            <a:spLocks xmlns:a="http://schemas.openxmlformats.org/drawingml/2006/main" noGrp="1"/>
          </p:cNvSpPr>
          <p:nvPr/>
        </p:nvSpPr>
        <p:spPr>
          <a:xfrm xmlns:a="http://schemas.openxmlformats.org/drawingml/2006/main">
            <a:off x="5715000" y="1809750"/>
            <a:ext cx="0" cy="3476625"/>
          </a:xfrm>
          <a:prstGeom xmlns:a="http://schemas.openxmlformats.org/drawingml/2006/main" prst="line">
            <a:avLst/>
          </a:prstGeom>
          <a:noFill xmlns:a="http://schemas.openxmlformats.org/drawingml/2006/main"/>
          <a:ln xmlns:a="http://schemas.openxmlformats.org/drawingml/2006/main" w="19050">
            <a:solidFill>
              <a:srgbClr val="34322E"/>
            </a:solidFill>
            <a:prstDash val="solid"/>
          </a:ln>
        </p:spPr>
      </p:sp>
      <p:sp>
        <p:nvSpPr>
          <p:cNvPr id="12" name="">
            <a:extLst xmlns:a="http://schemas.openxmlformats.org/drawingml/2006/main">
              <a:ext uri="{FF2B5EF4-FFF2-40B4-BE49-F238E27FC236}">
                <a16:creationId xmlns:a16="http://schemas.microsoft.com/office/drawing/2014/main" id="{0B8DD7B1-8CBA-43F0-AF21-DFC97594BCBD}"/>
              </a:ext>
            </a:extLst>
          </p:cNvPr>
          <p:cNvSpPr>
            <a:spLocks xmlns:a="http://schemas.openxmlformats.org/drawingml/2006/main" noGrp="1"/>
          </p:cNvSpPr>
          <p:nvPr/>
        </p:nvSpPr>
        <p:spPr>
          <a:xfrm xmlns:a="http://schemas.openxmlformats.org/drawingml/2006/main">
            <a:off x="6334125" y="19526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01</a:t>
            </a:r>
          </a:p>
        </p:txBody>
      </p:sp>
      <p:sp>
        <p:nvSpPr>
          <p:cNvPr id="13" name="">
            <a:extLst xmlns:a="http://schemas.openxmlformats.org/drawingml/2006/main">
              <a:ext uri="{FF2B5EF4-FFF2-40B4-BE49-F238E27FC236}">
                <a16:creationId xmlns:a16="http://schemas.microsoft.com/office/drawing/2014/main" id="{2E9B8C59-13BA-4968-89F5-480782BCB3A9}"/>
              </a:ext>
            </a:extLst>
          </p:cNvPr>
          <p:cNvSpPr>
            <a:spLocks xmlns:a="http://schemas.openxmlformats.org/drawingml/2006/main" noGrp="1"/>
          </p:cNvSpPr>
          <p:nvPr/>
        </p:nvSpPr>
        <p:spPr>
          <a:xfrm xmlns:a="http://schemas.openxmlformats.org/drawingml/2006/main">
            <a:off x="6772275" y="1924050"/>
            <a:ext cx="422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Round 1</a:t>
            </a:r>
          </a:p>
        </p:txBody>
      </p:sp>
      <p:sp>
        <p:nvSpPr>
          <p:cNvPr id="14" name="">
            <a:extLst xmlns:a="http://schemas.openxmlformats.org/drawingml/2006/main">
              <a:ext uri="{FF2B5EF4-FFF2-40B4-BE49-F238E27FC236}">
                <a16:creationId xmlns:a16="http://schemas.microsoft.com/office/drawing/2014/main" id="{CD8BE722-9850-4C2B-A242-4EAAFFAC9C09}"/>
              </a:ext>
            </a:extLst>
          </p:cNvPr>
          <p:cNvSpPr>
            <a:spLocks xmlns:a="http://schemas.openxmlformats.org/drawingml/2006/main" noGrp="1"/>
          </p:cNvSpPr>
          <p:nvPr/>
        </p:nvSpPr>
        <p:spPr>
          <a:xfrm xmlns:a="http://schemas.openxmlformats.org/drawingml/2006/main">
            <a:off x="6772275" y="2238375"/>
            <a:ext cx="4229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Research, concept, prototype evidence and decision.</a:t>
            </a:r>
          </a:p>
        </p:txBody>
      </p:sp>
      <p:sp>
        <p:nvSpPr>
          <p:cNvPr id="15" name="">
            <a:extLst xmlns:a="http://schemas.openxmlformats.org/drawingml/2006/main">
              <a:ext uri="{FF2B5EF4-FFF2-40B4-BE49-F238E27FC236}">
                <a16:creationId xmlns:a16="http://schemas.microsoft.com/office/drawing/2014/main" id="{01C424F7-6A48-4185-970C-CC2C3D683874}"/>
              </a:ext>
            </a:extLst>
          </p:cNvPr>
          <p:cNvSpPr>
            <a:spLocks xmlns:a="http://schemas.openxmlformats.org/drawingml/2006/main" noGrp="1"/>
          </p:cNvSpPr>
          <p:nvPr/>
        </p:nvSpPr>
        <p:spPr>
          <a:xfrm xmlns:a="http://schemas.openxmlformats.org/drawingml/2006/main">
            <a:off x="6334125" y="30480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02</a:t>
            </a:r>
          </a:p>
        </p:txBody>
      </p:sp>
      <p:sp>
        <p:nvSpPr>
          <p:cNvPr id="16" name="">
            <a:extLst xmlns:a="http://schemas.openxmlformats.org/drawingml/2006/main">
              <a:ext uri="{FF2B5EF4-FFF2-40B4-BE49-F238E27FC236}">
                <a16:creationId xmlns:a16="http://schemas.microsoft.com/office/drawing/2014/main" id="{9A8EA511-AE72-43B6-A277-72AD59A4548F}"/>
              </a:ext>
            </a:extLst>
          </p:cNvPr>
          <p:cNvSpPr>
            <a:spLocks xmlns:a="http://schemas.openxmlformats.org/drawingml/2006/main" noGrp="1"/>
          </p:cNvSpPr>
          <p:nvPr/>
        </p:nvSpPr>
        <p:spPr>
          <a:xfrm xmlns:a="http://schemas.openxmlformats.org/drawingml/2006/main">
            <a:off x="6772275" y="3019425"/>
            <a:ext cx="422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Round 2</a:t>
            </a:r>
          </a:p>
        </p:txBody>
      </p:sp>
      <p:sp>
        <p:nvSpPr>
          <p:cNvPr id="17" name="">
            <a:extLst xmlns:a="http://schemas.openxmlformats.org/drawingml/2006/main">
              <a:ext uri="{FF2B5EF4-FFF2-40B4-BE49-F238E27FC236}">
                <a16:creationId xmlns:a16="http://schemas.microsoft.com/office/drawing/2014/main" id="{E25367B9-52A2-4348-B66C-1BD7EC9EEC2B}"/>
              </a:ext>
            </a:extLst>
          </p:cNvPr>
          <p:cNvSpPr>
            <a:spLocks xmlns:a="http://schemas.openxmlformats.org/drawingml/2006/main" noGrp="1"/>
          </p:cNvSpPr>
          <p:nvPr/>
        </p:nvSpPr>
        <p:spPr>
          <a:xfrm xmlns:a="http://schemas.openxmlformats.org/drawingml/2006/main">
            <a:off x="6772275" y="3333750"/>
            <a:ext cx="4229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Reliable dashboard, client journey, AI synthesis and moodboard.</a:t>
            </a:r>
          </a:p>
        </p:txBody>
      </p:sp>
      <p:sp>
        <p:nvSpPr>
          <p:cNvPr id="18" name="">
            <a:extLst xmlns:a="http://schemas.openxmlformats.org/drawingml/2006/main">
              <a:ext uri="{FF2B5EF4-FFF2-40B4-BE49-F238E27FC236}">
                <a16:creationId xmlns:a16="http://schemas.microsoft.com/office/drawing/2014/main" id="{5FC2BA63-2CF1-4442-B2E1-C74DB0831CF3}"/>
              </a:ext>
            </a:extLst>
          </p:cNvPr>
          <p:cNvSpPr>
            <a:spLocks xmlns:a="http://schemas.openxmlformats.org/drawingml/2006/main" noGrp="1"/>
          </p:cNvSpPr>
          <p:nvPr/>
        </p:nvSpPr>
        <p:spPr>
          <a:xfrm xmlns:a="http://schemas.openxmlformats.org/drawingml/2006/main">
            <a:off x="6334125" y="41433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03</a:t>
            </a:r>
          </a:p>
        </p:txBody>
      </p:sp>
      <p:sp>
        <p:nvSpPr>
          <p:cNvPr id="19" name="">
            <a:extLst xmlns:a="http://schemas.openxmlformats.org/drawingml/2006/main">
              <a:ext uri="{FF2B5EF4-FFF2-40B4-BE49-F238E27FC236}">
                <a16:creationId xmlns:a16="http://schemas.microsoft.com/office/drawing/2014/main" id="{502C1139-04F3-4714-A85F-D3DE90C36A6D}"/>
              </a:ext>
            </a:extLst>
          </p:cNvPr>
          <p:cNvSpPr>
            <a:spLocks xmlns:a="http://schemas.openxmlformats.org/drawingml/2006/main" noGrp="1"/>
          </p:cNvSpPr>
          <p:nvPr/>
        </p:nvSpPr>
        <p:spPr>
          <a:xfrm xmlns:a="http://schemas.openxmlformats.org/drawingml/2006/main">
            <a:off x="6772275" y="4114800"/>
            <a:ext cx="422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500" b="1" i="0">
                <a:solidFill>
                  <a:srgbClr val="F1E8DA"/>
                </a:solidFill>
              </a:defRPr>
            </a:pPr>
            <a:r>
              <a:rPr sz="1500" b="1" i="0">
                <a:solidFill>
                  <a:srgbClr val="F1E8DA"/>
                </a:solidFill>
              </a:rPr>
              <a:t>Commercial proof</a:t>
            </a:r>
          </a:p>
        </p:txBody>
      </p:sp>
      <p:sp>
        <p:nvSpPr>
          <p:cNvPr id="20" name="">
            <a:extLst xmlns:a="http://schemas.openxmlformats.org/drawingml/2006/main">
              <a:ext uri="{FF2B5EF4-FFF2-40B4-BE49-F238E27FC236}">
                <a16:creationId xmlns:a16="http://schemas.microsoft.com/office/drawing/2014/main" id="{9485C14C-C3B9-409F-9DDE-8DD5FCA58659}"/>
              </a:ext>
            </a:extLst>
          </p:cNvPr>
          <p:cNvSpPr>
            <a:spLocks xmlns:a="http://schemas.openxmlformats.org/drawingml/2006/main" noGrp="1"/>
          </p:cNvSpPr>
          <p:nvPr/>
        </p:nvSpPr>
        <p:spPr>
          <a:xfrm xmlns:a="http://schemas.openxmlformats.org/drawingml/2006/main">
            <a:off x="6772275" y="4429125"/>
            <a:ext cx="4229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125" b="0" i="0">
                <a:solidFill>
                  <a:srgbClr val="BDB5AA"/>
                </a:solidFill>
              </a:defRPr>
            </a:pPr>
            <a:r>
              <a:rPr sz="1125" b="0" i="0">
                <a:solidFill>
                  <a:srgbClr val="BDB5AA"/>
                </a:solidFill>
              </a:rPr>
              <a:t>Working Stripe activation, observability and production controls.</a:t>
            </a:r>
          </a:p>
        </p:txBody>
      </p:sp>
    </p:spTree>
    <p:extLst>
      <p:ext uri="{BB962C8B-B14F-4D97-AF65-F5344CB8AC3E}">
        <p14:creationId xmlns:p14="http://schemas.microsoft.com/office/powerpoint/2010/main" val="1288125580"/>
      </p:ext>
    </p:extLst>
  </p:cSld>
</p:sld>
</file>

<file path=ppt/slides/slide22.xml><?xml version="1.0" encoding="utf-8"?>
<p:sld xmlns:p="http://schemas.openxmlformats.org/presentationml/2006/main">
  <p:cSld>
    <p:bg>
      <p:bgPr>
        <a:solidFill xmlns:a="http://schemas.openxmlformats.org/drawingml/2006/main">
          <a:srgbClr val="0D0D0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B650BA-B342-44A1-B827-A3DEFE022668}"/>
              </a:ext>
            </a:extLst>
          </p:cNvPr>
          <p:cNvSpPr>
            <a:spLocks xmlns:a="http://schemas.openxmlformats.org/drawingml/2006/main" noGrp="1"/>
          </p:cNvSpPr>
          <p:nvPr/>
        </p:nvSpPr>
        <p:spPr>
          <a:xfrm xmlns:a="http://schemas.openxmlformats.org/drawingml/2006/main">
            <a:off x="666750" y="523875"/>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800" b="0" i="0">
                <a:solidFill>
                  <a:srgbClr val="F1E8DA"/>
                </a:solidFill>
              </a:defRPr>
            </a:pPr>
            <a:r>
              <a:rPr sz="1800" b="0" i="0">
                <a:solidFill>
                  <a:srgbClr val="F1E8DA"/>
                </a:solidFill>
              </a:rPr>
              <a:t>MIRA</a:t>
            </a:r>
          </a:p>
        </p:txBody>
      </p:sp>
      <p:sp>
        <p:nvSpPr>
          <p:cNvPr id="2" name="">
            <a:extLst xmlns:a="http://schemas.openxmlformats.org/drawingml/2006/main">
              <a:ext uri="{FF2B5EF4-FFF2-40B4-BE49-F238E27FC236}">
                <a16:creationId xmlns:a16="http://schemas.microsoft.com/office/drawing/2014/main" id="{481076A0-3621-447B-912E-0290506722ED}"/>
              </a:ext>
            </a:extLst>
          </p:cNvPr>
          <p:cNvSpPr>
            <a:spLocks xmlns:a="http://schemas.openxmlformats.org/drawingml/2006/main" noGrp="1"/>
          </p:cNvSpPr>
          <p:nvPr/>
        </p:nvSpPr>
        <p:spPr>
          <a:xfrm xmlns:a="http://schemas.openxmlformats.org/drawingml/2006/main">
            <a:off x="666750" y="1000125"/>
            <a:ext cx="10858500" cy="0"/>
          </a:xfrm>
          <a:prstGeom xmlns:a="http://schemas.openxmlformats.org/drawingml/2006/main" prst="line">
            <a:avLst/>
          </a:prstGeom>
          <a:noFill xmlns:a="http://schemas.openxmlformats.org/drawingml/2006/main"/>
          <a:ln xmlns:a="http://schemas.openxmlformats.org/drawingml/2006/main" w="9525">
            <a:solidFill>
              <a:srgbClr val="34322E"/>
            </a:solidFill>
            <a:prstDash val="solid"/>
          </a:ln>
        </p:spPr>
      </p:sp>
      <p:sp>
        <p:nvSpPr>
          <p:cNvPr id="3" name="">
            <a:extLst xmlns:a="http://schemas.openxmlformats.org/drawingml/2006/main">
              <a:ext uri="{FF2B5EF4-FFF2-40B4-BE49-F238E27FC236}">
                <a16:creationId xmlns:a16="http://schemas.microsoft.com/office/drawing/2014/main" id="{DF718BF6-F1E9-4692-94B5-EDABA857263F}"/>
              </a:ext>
            </a:extLst>
          </p:cNvPr>
          <p:cNvSpPr>
            <a:spLocks xmlns:a="http://schemas.openxmlformats.org/drawingml/2006/main" noGrp="1"/>
          </p:cNvSpPr>
          <p:nvPr/>
        </p:nvSpPr>
        <p:spPr>
          <a:xfrm xmlns:a="http://schemas.openxmlformats.org/drawingml/2006/main">
            <a:off x="666750" y="2047875"/>
            <a:ext cx="838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4350" b="0" i="0">
                <a:solidFill>
                  <a:srgbClr val="F1E8DA"/>
                </a:solidFill>
              </a:defRPr>
            </a:pPr>
            <a:r>
              <a:rPr sz="4350" b="0" i="0">
                <a:solidFill>
                  <a:srgbClr val="F1E8DA"/>
                </a:solidFill>
              </a:rPr>
              <a:t>Better shoots begin</a:t>
            </a:r>
          </a:p>
          <a:p xmlns:a="http://schemas.openxmlformats.org/drawingml/2006/main">
            <a:pPr algn="l">
              <a:lnSpc>
                <a:spcPct val="108000"/>
              </a:lnSpc>
              <a:buNone/>
              <a:defRPr sz="4350" b="0" i="0">
                <a:solidFill>
                  <a:srgbClr val="F1E8DA"/>
                </a:solidFill>
              </a:defRPr>
            </a:pPr>
            <a:r>
              <a:rPr sz="4350" b="0" i="0">
                <a:solidFill>
                  <a:srgbClr val="F1E8DA"/>
                </a:solidFill>
              </a:rPr>
              <a:t>before the camera turns on.</a:t>
            </a:r>
          </a:p>
        </p:txBody>
      </p:sp>
      <p:sp>
        <p:nvSpPr>
          <p:cNvPr id="4" name="">
            <a:extLst xmlns:a="http://schemas.openxmlformats.org/drawingml/2006/main">
              <a:ext uri="{FF2B5EF4-FFF2-40B4-BE49-F238E27FC236}">
                <a16:creationId xmlns:a16="http://schemas.microsoft.com/office/drawing/2014/main" id="{6B70D079-CC6A-4FD6-84C6-592928B5B4EA}"/>
              </a:ext>
            </a:extLst>
          </p:cNvPr>
          <p:cNvSpPr>
            <a:spLocks xmlns:a="http://schemas.openxmlformats.org/drawingml/2006/main" noGrp="1"/>
          </p:cNvSpPr>
          <p:nvPr/>
        </p:nvSpPr>
        <p:spPr>
          <a:xfrm xmlns:a="http://schemas.openxmlformats.org/drawingml/2006/main">
            <a:off x="704850" y="4095750"/>
            <a:ext cx="809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1650" b="0" i="0">
                <a:solidFill>
                  <a:srgbClr val="BDB5AA"/>
                </a:solidFill>
              </a:defRPr>
            </a:pPr>
            <a:r>
              <a:rPr sz="1650" b="0" i="0">
                <a:solidFill>
                  <a:srgbClr val="BDB5AA"/>
                </a:solidFill>
              </a:rPr>
              <a:t>Next proof point: one reliable path from photographer account to prepared client brief.</a:t>
            </a:r>
          </a:p>
        </p:txBody>
      </p:sp>
      <p:sp>
        <p:nvSpPr>
          <p:cNvPr id="5" name="">
            <a:extLst xmlns:a="http://schemas.openxmlformats.org/drawingml/2006/main">
              <a:ext uri="{FF2B5EF4-FFF2-40B4-BE49-F238E27FC236}">
                <a16:creationId xmlns:a16="http://schemas.microsoft.com/office/drawing/2014/main" id="{A05C9D4A-9982-4471-9718-BF8C64913711}"/>
              </a:ext>
            </a:extLst>
          </p:cNvPr>
          <p:cNvSpPr>
            <a:spLocks xmlns:a="http://schemas.openxmlformats.org/drawingml/2006/main" noGrp="1"/>
          </p:cNvSpPr>
          <p:nvPr/>
        </p:nvSpPr>
        <p:spPr>
          <a:xfrm xmlns:a="http://schemas.openxmlformats.org/drawingml/2006/main">
            <a:off x="704850" y="56197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8000"/>
              </a:lnSpc>
              <a:buNone/>
              <a:defRPr sz="900" b="1" i="0">
                <a:solidFill>
                  <a:srgbClr val="D7BB86"/>
                </a:solidFill>
              </a:defRPr>
            </a:pPr>
            <a:r>
              <a:rPr sz="900" b="1" i="0">
                <a:solidFill>
                  <a:srgbClr val="D7BB86"/>
                </a:solidFill>
              </a:rPr>
              <a:t>QUESTIONS</a:t>
            </a:r>
          </a:p>
        </p:txBody>
      </p:sp>
    </p:spTree>
    <p:extLst>
      <p:ext uri="{BB962C8B-B14F-4D97-AF65-F5344CB8AC3E}">
        <p14:creationId xmlns:p14="http://schemas.microsoft.com/office/powerpoint/2010/main" val="11318388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2026-09-04T00:41:56.5390000Z</dcterms:created>
  <dcterms:modified xsi:type="dcterms:W3CDTF">2026-09-04T00:41:56.5390000Z</dcterms:modified>
</coreProperties>
</file>